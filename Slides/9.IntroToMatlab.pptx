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6"/>
  </p:notesMasterIdLst>
  <p:handoutMasterIdLst>
    <p:handoutMasterId r:id="rId67"/>
  </p:handoutMasterIdLst>
  <p:sldIdLst>
    <p:sldId id="256" r:id="rId2"/>
    <p:sldId id="283" r:id="rId3"/>
    <p:sldId id="257" r:id="rId4"/>
    <p:sldId id="264" r:id="rId5"/>
    <p:sldId id="258" r:id="rId6"/>
    <p:sldId id="259" r:id="rId7"/>
    <p:sldId id="260" r:id="rId8"/>
    <p:sldId id="261" r:id="rId9"/>
    <p:sldId id="262" r:id="rId10"/>
    <p:sldId id="263" r:id="rId11"/>
    <p:sldId id="269" r:id="rId12"/>
    <p:sldId id="267" r:id="rId13"/>
    <p:sldId id="268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6" r:id="rId23"/>
    <p:sldId id="284" r:id="rId24"/>
    <p:sldId id="285" r:id="rId25"/>
    <p:sldId id="280" r:id="rId26"/>
    <p:sldId id="287" r:id="rId27"/>
    <p:sldId id="288" r:id="rId28"/>
    <p:sldId id="289" r:id="rId29"/>
    <p:sldId id="304" r:id="rId30"/>
    <p:sldId id="305" r:id="rId31"/>
    <p:sldId id="290" r:id="rId32"/>
    <p:sldId id="291" r:id="rId33"/>
    <p:sldId id="292" r:id="rId34"/>
    <p:sldId id="293" r:id="rId35"/>
    <p:sldId id="266" r:id="rId36"/>
    <p:sldId id="265" r:id="rId37"/>
    <p:sldId id="294" r:id="rId38"/>
    <p:sldId id="295" r:id="rId39"/>
    <p:sldId id="296" r:id="rId40"/>
    <p:sldId id="297" r:id="rId41"/>
    <p:sldId id="298" r:id="rId42"/>
    <p:sldId id="299" r:id="rId43"/>
    <p:sldId id="273" r:id="rId44"/>
    <p:sldId id="300" r:id="rId45"/>
    <p:sldId id="301" r:id="rId46"/>
    <p:sldId id="302" r:id="rId47"/>
    <p:sldId id="303" r:id="rId48"/>
    <p:sldId id="270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FEA9EB-8BC2-9E43-8590-FA0233DF9874}" v="20" dt="2025-11-19T16:14:25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49"/>
    <p:restoredTop sz="94752"/>
  </p:normalViewPr>
  <p:slideViewPr>
    <p:cSldViewPr snapToGrid="0" snapToObjects="1">
      <p:cViewPr varScale="1">
        <p:scale>
          <a:sx n="81" d="100"/>
          <a:sy n="81" d="100"/>
        </p:scale>
        <p:origin x="200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A6790-22B3-F34C-AC89-A2A439E5AE82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EC923-071B-A646-8246-0FE3ABFE1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502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AC5AA-653E-C64D-8B3F-6708F9B29F3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5BBAC-A5EF-5945-BEE6-6184ED26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56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A9F26-514F-DF47-A4EF-025551C6B1D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24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F834A-FF57-AC46-91FB-732AA9C571CE}" type="datetime1">
              <a:rPr lang="en-CA" smtClean="0"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0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9C284-41EF-BA44-80BE-CF49D3F08841}" type="datetime1">
              <a:rPr lang="en-CA" smtClean="0"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DDFF-B621-3944-BFFD-3EE83BBEF324}" type="datetime1">
              <a:rPr lang="en-CA" smtClean="0"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5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4CCF-A0C2-7F4B-AB30-D5CD8D9009F0}" type="datetime1">
              <a:rPr lang="en-CA" smtClean="0"/>
              <a:t>2025-11-14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35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9D44-FA5D-2E44-8D4B-D5231AFC5DA5}" type="datetime1">
              <a:rPr lang="en-CA" smtClean="0"/>
              <a:t>2025-11-14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8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D921-9827-F34F-8C5C-F4326CECE4B5}" type="datetime1">
              <a:rPr lang="en-CA" smtClean="0"/>
              <a:t>2025-11-14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52A8-84F3-C64F-A3C8-004AFB859861}" type="datetime1">
              <a:rPr lang="en-CA" smtClean="0"/>
              <a:t>2025-11-14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9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F876-ABEB-244F-9EEE-A4AECBA59DF3}" type="datetime1">
              <a:rPr lang="en-CA" smtClean="0"/>
              <a:t>2025-11-14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35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12D73-925E-544F-AC1B-E611E0B6297F}" type="datetime1">
              <a:rPr lang="en-CA" smtClean="0"/>
              <a:t>2025-11-14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64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C120F-8B81-ED4F-9E1E-ACD81BB7D181}" type="datetime1">
              <a:rPr lang="en-CA" smtClean="0"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8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DCB2-A394-054D-8269-451D91851334}" type="datetime1">
              <a:rPr lang="en-CA" smtClean="0"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05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8B23E-8DA9-9C49-82E6-8F995737433E}" type="datetime1">
              <a:rPr lang="en-CA" smtClean="0"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34830-F904-4643-A0A7-C388CF19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0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9. Introduction to MATLAB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PSYC 5V46</a:t>
            </a:r>
          </a:p>
          <a:p>
            <a:r>
              <a:rPr lang="en-US" dirty="0"/>
              <a:t>Intro to Programming for Experimental Psychology</a:t>
            </a:r>
          </a:p>
          <a:p>
            <a:r>
              <a:rPr lang="en-US" dirty="0"/>
              <a:t>Stephen Emrich</a:t>
            </a:r>
          </a:p>
          <a:p>
            <a:r>
              <a:rPr lang="en-US" dirty="0"/>
              <a:t>Brock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18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8EF3E-E507-F1F1-1647-BF2892D4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57ECC-4AF3-9BC5-8930-A37A3F80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matlab</a:t>
            </a:r>
            <a:r>
              <a:rPr lang="en-US" dirty="0"/>
              <a:t>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9CDF9-40B6-00F5-0E64-431CE2B93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E5798-AE63-3042-031C-B85541CD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EB437-E7FB-F806-85AF-C7E0C6DB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65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Desktop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7581D9-6ECA-D30C-DB52-55E2878E3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64F856-938F-48FB-8F31-02A52D4B1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91304"/>
            <a:ext cx="7772400" cy="494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2D17EB-A40B-339C-11C0-D8CB0A5D1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41013"/>
            <a:ext cx="7772400" cy="49437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Command Window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4502757" y="3104623"/>
            <a:ext cx="2147842" cy="956475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43657" y="4092456"/>
            <a:ext cx="2114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Type command here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282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D12A700-D280-EA30-11A2-C2691897A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781" y="1336284"/>
            <a:ext cx="7772400" cy="49437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working directory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926054" y="2399026"/>
            <a:ext cx="1724544" cy="166207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43658" y="4092456"/>
            <a:ext cx="1904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Working Directory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3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working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current folder you are in right now</a:t>
            </a:r>
          </a:p>
          <a:p>
            <a:r>
              <a:rPr lang="en-US" dirty="0"/>
              <a:t>All files within that folder are accessible (can be “read”) automatically</a:t>
            </a:r>
          </a:p>
          <a:p>
            <a:r>
              <a:rPr lang="en-US" dirty="0"/>
              <a:t>Can click path link or folders to modify, or use the tools: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Specified as, </a:t>
            </a:r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dirty="0">
                <a:latin typeface="Courier New"/>
                <a:cs typeface="Courier New"/>
              </a:rPr>
              <a:t>/Users/</a:t>
            </a:r>
            <a:r>
              <a:rPr lang="en-US" dirty="0" err="1">
                <a:latin typeface="Courier New"/>
                <a:cs typeface="Courier New"/>
              </a:rPr>
              <a:t>stephenemrich</a:t>
            </a:r>
            <a:r>
              <a:rPr lang="en-US" dirty="0">
                <a:latin typeface="Courier New"/>
                <a:cs typeface="Courier New"/>
              </a:rPr>
              <a:t>/Documents/MATLAB</a:t>
            </a:r>
          </a:p>
          <a:p>
            <a:endParaRPr lang="en-US" dirty="0"/>
          </a:p>
          <a:p>
            <a:r>
              <a:rPr lang="en-US" b="1" dirty="0" err="1"/>
              <a:t>Emrich’s</a:t>
            </a:r>
            <a:r>
              <a:rPr lang="en-US" b="1" dirty="0"/>
              <a:t> Tip: </a:t>
            </a:r>
            <a:r>
              <a:rPr lang="en-US" dirty="0"/>
              <a:t>Do not include spaces or special characters in folder or file names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59" y="3148039"/>
            <a:ext cx="1384300" cy="4064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4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Files outside of the current working directory (e.g., the contents of toolboxes like </a:t>
            </a:r>
            <a:r>
              <a:rPr lang="en-US" b="1" dirty="0" err="1"/>
              <a:t>EEGlab</a:t>
            </a:r>
            <a:r>
              <a:rPr lang="en-US" dirty="0"/>
              <a:t> or </a:t>
            </a:r>
            <a:r>
              <a:rPr lang="en-US" b="1" dirty="0" err="1"/>
              <a:t>PsycToolBox</a:t>
            </a:r>
            <a:r>
              <a:rPr lang="en-US" dirty="0"/>
              <a:t> can be read by adding them to your </a:t>
            </a:r>
            <a:r>
              <a:rPr lang="en-US" b="1" dirty="0"/>
              <a:t>path directories</a:t>
            </a:r>
          </a:p>
          <a:p>
            <a:endParaRPr lang="en-US" b="1" dirty="0"/>
          </a:p>
          <a:p>
            <a:r>
              <a:rPr lang="en-US" dirty="0"/>
              <a:t>Can be specified 3 ways: </a:t>
            </a:r>
          </a:p>
          <a:p>
            <a:pPr marL="0" indent="0">
              <a:buNone/>
            </a:pPr>
            <a:endParaRPr lang="en-US" sz="2800" dirty="0">
              <a:latin typeface="+mj-lt"/>
              <a:cs typeface="Courier New"/>
            </a:endParaRPr>
          </a:p>
          <a:p>
            <a:pPr marL="0" indent="0"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Set Path (GUI)</a:t>
            </a:r>
          </a:p>
        </p:txBody>
      </p:sp>
      <p:pic>
        <p:nvPicPr>
          <p:cNvPr id="4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rcRect t="6357" b="6357"/>
          <a:stretch>
            <a:fillRect/>
          </a:stretch>
        </p:blipFill>
        <p:spPr/>
      </p:pic>
      <p:cxnSp>
        <p:nvCxnSpPr>
          <p:cNvPr id="5" name="Straight Arrow Connector 4"/>
          <p:cNvCxnSpPr/>
          <p:nvPr/>
        </p:nvCxnSpPr>
        <p:spPr>
          <a:xfrm flipH="1" flipV="1">
            <a:off x="6368399" y="2163827"/>
            <a:ext cx="282200" cy="189727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43657" y="4092456"/>
            <a:ext cx="963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Set Path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42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7495" b="7495"/>
          <a:stretch>
            <a:fillRect/>
          </a:stretch>
        </p:blipFill>
        <p:spPr>
          <a:xfrm>
            <a:off x="3047283" y="330129"/>
            <a:ext cx="6096065" cy="3352601"/>
          </a:xfrm>
        </p:spPr>
      </p:pic>
      <p:sp>
        <p:nvSpPr>
          <p:cNvPr id="5" name="TextBox 4"/>
          <p:cNvSpPr txBox="1"/>
          <p:nvPr/>
        </p:nvSpPr>
        <p:spPr>
          <a:xfrm>
            <a:off x="1965522" y="3967017"/>
            <a:ext cx="822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‘Add folder…’ will add single folders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‘Add with Subfolders…’  will add a folder and all its subdirectories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You can save the path for future sessions</a:t>
            </a:r>
          </a:p>
          <a:p>
            <a:pPr marL="285750" indent="-285750">
              <a:buFont typeface="Arial"/>
              <a:buChar char="•"/>
            </a:pPr>
            <a:r>
              <a:rPr lang="en-US" sz="2400" b="1" dirty="0"/>
              <a:t>WARNING!: Be very careful with this function. Always want to know which files are being accessed on every session. Better to do through </a:t>
            </a:r>
            <a:r>
              <a:rPr lang="en-US" sz="2400" b="1" dirty="0" err="1"/>
              <a:t>startup.m</a:t>
            </a:r>
            <a:r>
              <a:rPr lang="en-US" sz="2400" b="1" dirty="0"/>
              <a:t> or some other function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4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Set Path (command)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25214" y="1600201"/>
            <a:ext cx="10972800" cy="440520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 the </a:t>
            </a:r>
            <a:r>
              <a:rPr lang="en-US" dirty="0" err="1">
                <a:latin typeface="Courier New"/>
                <a:cs typeface="Courier New"/>
              </a:rPr>
              <a:t>addpath</a:t>
            </a:r>
            <a:r>
              <a:rPr lang="en-US" dirty="0"/>
              <a:t> + </a:t>
            </a:r>
            <a:r>
              <a:rPr lang="en-US" dirty="0" err="1">
                <a:latin typeface="Courier New"/>
                <a:cs typeface="Courier New"/>
              </a:rPr>
              <a:t>genpath</a:t>
            </a:r>
            <a:r>
              <a:rPr lang="en-US" dirty="0"/>
              <a:t> commands</a:t>
            </a:r>
          </a:p>
          <a:p>
            <a:pPr lvl="1"/>
            <a:r>
              <a:rPr lang="en-US" dirty="0" err="1"/>
              <a:t>Addpath</a:t>
            </a:r>
            <a:r>
              <a:rPr lang="en-US" dirty="0"/>
              <a:t> will work on its own but will not contain the subfolders of the path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addpath</a:t>
            </a:r>
            <a:r>
              <a:rPr lang="en-US" dirty="0">
                <a:latin typeface="Courier New"/>
                <a:cs typeface="Courier New"/>
              </a:rPr>
              <a:t>(</a:t>
            </a:r>
            <a:r>
              <a:rPr lang="en-US" dirty="0" err="1">
                <a:latin typeface="Courier New"/>
                <a:cs typeface="Courier New"/>
              </a:rPr>
              <a:t>genpath</a:t>
            </a:r>
            <a:r>
              <a:rPr lang="en-US" dirty="0">
                <a:latin typeface="Courier New"/>
                <a:cs typeface="Courier New"/>
              </a:rPr>
              <a:t>(‘/location/of/my/directory/’))</a:t>
            </a:r>
          </a:p>
          <a:p>
            <a:pPr lvl="1"/>
            <a:endParaRPr lang="en-US" b="1" dirty="0">
              <a:cs typeface="Courier New"/>
            </a:endParaRPr>
          </a:p>
          <a:p>
            <a:pPr lvl="1"/>
            <a:r>
              <a:rPr lang="en-US" b="1" dirty="0">
                <a:cs typeface="Courier New"/>
              </a:rPr>
              <a:t>NOTE: </a:t>
            </a:r>
            <a:r>
              <a:rPr lang="en-US" dirty="0">
                <a:cs typeface="Courier New"/>
              </a:rPr>
              <a:t>single quotations must be included around the text</a:t>
            </a:r>
            <a:r>
              <a:rPr lang="en-US" b="1" dirty="0">
                <a:cs typeface="Courier New"/>
              </a:rPr>
              <a:t> </a:t>
            </a:r>
          </a:p>
          <a:p>
            <a:endParaRPr lang="en-US" dirty="0"/>
          </a:p>
          <a:p>
            <a:r>
              <a:rPr lang="en-US" dirty="0"/>
              <a:t>Use the </a:t>
            </a:r>
            <a:r>
              <a:rPr lang="en-US" dirty="0">
                <a:latin typeface="Courier New"/>
                <a:cs typeface="Courier New"/>
              </a:rPr>
              <a:t>path</a:t>
            </a:r>
            <a:r>
              <a:rPr lang="en-US" dirty="0"/>
              <a:t> command to view folders currently in your path </a:t>
            </a:r>
          </a:p>
          <a:p>
            <a:r>
              <a:rPr lang="en-US" dirty="0"/>
              <a:t>Can also call the </a:t>
            </a:r>
            <a:r>
              <a:rPr lang="en-US" dirty="0" err="1">
                <a:latin typeface="Courier New"/>
                <a:cs typeface="Courier New"/>
              </a:rPr>
              <a:t>pathtool</a:t>
            </a:r>
            <a:r>
              <a:rPr lang="en-US" dirty="0"/>
              <a:t> function to open the Path dialogue tool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34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Set Path (</a:t>
            </a:r>
            <a:r>
              <a:rPr lang="en-US" dirty="0" err="1"/>
              <a:t>startup.m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Click ‘New Script’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Specify a path to include using </a:t>
            </a:r>
            <a:r>
              <a:rPr lang="en-US" dirty="0" err="1"/>
              <a:t>addpath</a:t>
            </a:r>
            <a:r>
              <a:rPr lang="en-US" dirty="0"/>
              <a:t> and </a:t>
            </a:r>
            <a:r>
              <a:rPr lang="en-US" dirty="0" err="1"/>
              <a:t>genpath</a:t>
            </a:r>
            <a:r>
              <a:rPr lang="en-US" dirty="0"/>
              <a:t>: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addpath</a:t>
            </a:r>
            <a:r>
              <a:rPr lang="en-US" dirty="0">
                <a:latin typeface="Courier New"/>
                <a:cs typeface="Courier New"/>
              </a:rPr>
              <a:t>(</a:t>
            </a:r>
            <a:r>
              <a:rPr lang="en-US" dirty="0" err="1">
                <a:latin typeface="Courier New"/>
                <a:cs typeface="Courier New"/>
              </a:rPr>
              <a:t>genpath</a:t>
            </a:r>
            <a:r>
              <a:rPr lang="en-US" dirty="0">
                <a:latin typeface="Courier New"/>
                <a:cs typeface="Courier New"/>
              </a:rPr>
              <a:t>(‘~/’))</a:t>
            </a:r>
          </a:p>
          <a:p>
            <a:r>
              <a:rPr lang="en-US" dirty="0"/>
              <a:t>Save the file as </a:t>
            </a:r>
            <a:r>
              <a:rPr lang="en-US" dirty="0" err="1"/>
              <a:t>startup.m</a:t>
            </a:r>
            <a:r>
              <a:rPr lang="en-US" dirty="0"/>
              <a:t> in a folder that is in your current path</a:t>
            </a:r>
          </a:p>
          <a:p>
            <a:r>
              <a:rPr lang="en-US" dirty="0"/>
              <a:t>Close and re-open MATLAB</a:t>
            </a:r>
          </a:p>
          <a:p>
            <a:r>
              <a:rPr lang="en-US" dirty="0"/>
              <a:t>Check your path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421" y="1868104"/>
            <a:ext cx="1600200" cy="1397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70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startup.m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NOTE</a:t>
            </a:r>
            <a:r>
              <a:rPr lang="en-US" dirty="0"/>
              <a:t>: if your </a:t>
            </a:r>
            <a:r>
              <a:rPr lang="en-US" dirty="0" err="1"/>
              <a:t>statup.m</a:t>
            </a:r>
            <a:r>
              <a:rPr lang="en-US" dirty="0"/>
              <a:t> file is in your default start-up directory, and if you start MATLAB from the command line (Linux, MAC) your </a:t>
            </a:r>
            <a:r>
              <a:rPr lang="en-US" dirty="0" err="1"/>
              <a:t>startup.m</a:t>
            </a:r>
            <a:r>
              <a:rPr lang="en-US" dirty="0"/>
              <a:t> file might not be read (if the start-up directory is not automatically in the path)</a:t>
            </a:r>
          </a:p>
          <a:p>
            <a:endParaRPr lang="en-US" dirty="0"/>
          </a:p>
          <a:p>
            <a:r>
              <a:rPr lang="en-US" dirty="0"/>
              <a:t>Best to include </a:t>
            </a:r>
            <a:r>
              <a:rPr lang="en-US" dirty="0" err="1"/>
              <a:t>startup.m</a:t>
            </a:r>
            <a:r>
              <a:rPr lang="en-US" dirty="0"/>
              <a:t> file in a folder that’s read by default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96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Emrich’s</a:t>
            </a:r>
            <a:r>
              <a:rPr lang="en-US" dirty="0"/>
              <a:t>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you get used to the syntax I’d estimate that 50% of runtime errors can be attributed to </a:t>
            </a:r>
            <a:r>
              <a:rPr lang="en-US" b="1" dirty="0"/>
              <a:t>Path Errors</a:t>
            </a:r>
            <a:r>
              <a:rPr lang="en-US" dirty="0"/>
              <a:t> (i.e., the file or function you are calling is not in your working directory or in your path)</a:t>
            </a:r>
          </a:p>
          <a:p>
            <a:endParaRPr lang="en-US" dirty="0"/>
          </a:p>
          <a:p>
            <a:r>
              <a:rPr lang="en-US" dirty="0"/>
              <a:t>Making path definitions within a function/script and adding common toolboxes to your </a:t>
            </a:r>
            <a:r>
              <a:rPr lang="en-US" dirty="0" err="1"/>
              <a:t>startup.m</a:t>
            </a:r>
            <a:r>
              <a:rPr lang="en-US" dirty="0"/>
              <a:t> file can help avoid this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71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45B9B-7318-4B06-83A3-7A11E2E86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379" y="1385381"/>
            <a:ext cx="7772400" cy="49437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Folder Window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3483709" y="3653420"/>
            <a:ext cx="3166890" cy="407679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43657" y="4092456"/>
            <a:ext cx="2392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Current Folder Window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68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Folder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Current Folder Window contains all of the contents of your current (working) directory</a:t>
            </a:r>
          </a:p>
          <a:p>
            <a:endParaRPr lang="en-US" dirty="0"/>
          </a:p>
          <a:p>
            <a:r>
              <a:rPr lang="en-US" dirty="0"/>
              <a:t>Useful for viewing and identifying files, scripts, directories you may be working with (or wanting to work with – </a:t>
            </a:r>
            <a:r>
              <a:rPr lang="en-US" dirty="0" err="1"/>
              <a:t>ie</a:t>
            </a:r>
            <a:r>
              <a:rPr lang="en-US" dirty="0"/>
              <a:t>., finding a path error)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04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68BE8B-9623-4A83-E820-3F482B784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676" y="1241012"/>
            <a:ext cx="7772400" cy="49437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650599" y="3308461"/>
            <a:ext cx="2006740" cy="752638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08931" y="4092456"/>
            <a:ext cx="1231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Workspace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57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Workspace contains all </a:t>
            </a:r>
            <a:r>
              <a:rPr lang="en-US" b="1" dirty="0"/>
              <a:t>user-defined variables</a:t>
            </a:r>
            <a:r>
              <a:rPr lang="en-US" dirty="0"/>
              <a:t> that have be loaded into MATLAB</a:t>
            </a:r>
          </a:p>
          <a:p>
            <a:endParaRPr lang="en-US" dirty="0"/>
          </a:p>
          <a:p>
            <a:r>
              <a:rPr lang="en-US" dirty="0"/>
              <a:t>Variables that haven’t been read or defined cannot be operated on</a:t>
            </a:r>
          </a:p>
          <a:p>
            <a:endParaRPr lang="en-US" dirty="0"/>
          </a:p>
          <a:p>
            <a:r>
              <a:rPr lang="en-US" dirty="0"/>
              <a:t>Tells you some info about the variables (more on that later…)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31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B032915-BD48-3093-2F4A-0A1C8AE31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275" y="1272935"/>
            <a:ext cx="7772400" cy="49437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History &amp; Layout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986368" y="4296296"/>
            <a:ext cx="1796392" cy="501757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08932" y="4092456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Command History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V="1">
            <a:off x="5736918" y="2089097"/>
            <a:ext cx="695413" cy="123505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08931" y="3375481"/>
            <a:ext cx="81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Layout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58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history of the commands you have executed is stored in a history file</a:t>
            </a:r>
          </a:p>
          <a:p>
            <a:endParaRPr lang="en-US" dirty="0"/>
          </a:p>
          <a:p>
            <a:r>
              <a:rPr lang="en-US" dirty="0"/>
              <a:t>This can be viewed in the Command Window by pressing the </a:t>
            </a:r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</a:t>
            </a:r>
            <a:r>
              <a:rPr lang="en-US" dirty="0"/>
              <a:t> key or by viewing it in the History Window</a:t>
            </a:r>
          </a:p>
          <a:p>
            <a:endParaRPr lang="en-US" dirty="0"/>
          </a:p>
          <a:p>
            <a:r>
              <a:rPr lang="en-US" dirty="0"/>
              <a:t>Whether your history is present in the Desktop depends on your </a:t>
            </a:r>
            <a:r>
              <a:rPr lang="en-US" b="1" dirty="0"/>
              <a:t>Layout</a:t>
            </a:r>
            <a:r>
              <a:rPr lang="en-US" dirty="0"/>
              <a:t> which you can customize for your own needs or preferences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96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Desktop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Preferences </a:t>
            </a:r>
            <a:r>
              <a:rPr lang="en-US" dirty="0">
                <a:sym typeface="Wingdings"/>
              </a:rPr>
              <a:t> Just as it sounds, can be useful for defining certain aspects of how MATLAB behaves by default</a:t>
            </a:r>
          </a:p>
          <a:p>
            <a:endParaRPr lang="en-US" dirty="0">
              <a:sym typeface="Wingdings"/>
            </a:endParaRPr>
          </a:p>
          <a:p>
            <a:r>
              <a:rPr lang="en-US" dirty="0"/>
              <a:t>Dialogues for opening files, importing data, opening variables, etc.</a:t>
            </a:r>
          </a:p>
          <a:p>
            <a:endParaRPr lang="en-US" dirty="0"/>
          </a:p>
          <a:p>
            <a:r>
              <a:rPr lang="en-US" b="1" dirty="0"/>
              <a:t>Note:</a:t>
            </a:r>
            <a:r>
              <a:rPr lang="en-US" dirty="0"/>
              <a:t> We’re going to try to use these things minimally. Almost all of these things can be done via commands and relying on point-and-click interfaces doesn’t help improve your efficiency or reduce errors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85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File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*.m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 </a:t>
            </a:r>
            <a:r>
              <a:rPr lang="en-US" b="1" dirty="0"/>
              <a:t>MATLAB code files</a:t>
            </a:r>
          </a:p>
          <a:p>
            <a:pPr lvl="1"/>
            <a:r>
              <a:rPr lang="en-US" dirty="0"/>
              <a:t>Contain bits of code or functions that you will want to execute and run</a:t>
            </a:r>
          </a:p>
          <a:p>
            <a:r>
              <a:rPr lang="en-US" dirty="0"/>
              <a:t>*.fig </a:t>
            </a:r>
            <a:r>
              <a:rPr lang="en-US" dirty="0">
                <a:sym typeface="Wingdings"/>
              </a:rPr>
              <a:t> </a:t>
            </a:r>
            <a:r>
              <a:rPr lang="en-US" b="1" dirty="0">
                <a:sym typeface="Wingdings"/>
              </a:rPr>
              <a:t>MATLAB figure files</a:t>
            </a:r>
          </a:p>
          <a:p>
            <a:pPr lvl="1"/>
            <a:r>
              <a:rPr lang="en-US" dirty="0">
                <a:sym typeface="Wingdings"/>
              </a:rPr>
              <a:t>Self-explanatory </a:t>
            </a:r>
          </a:p>
          <a:p>
            <a:r>
              <a:rPr lang="en-US" dirty="0">
                <a:sym typeface="Wingdings"/>
              </a:rPr>
              <a:t>*.mat  </a:t>
            </a:r>
            <a:r>
              <a:rPr lang="en-US" b="1" dirty="0">
                <a:sym typeface="Wingdings"/>
              </a:rPr>
              <a:t>MATLAB MAT-file</a:t>
            </a:r>
          </a:p>
          <a:p>
            <a:pPr lvl="1"/>
            <a:r>
              <a:rPr lang="en-US" dirty="0">
                <a:sym typeface="Wingdings"/>
              </a:rPr>
              <a:t>Contains variables, arrays, </a:t>
            </a:r>
            <a:r>
              <a:rPr lang="en-US" dirty="0" err="1">
                <a:sym typeface="Wingdings"/>
              </a:rPr>
              <a:t>matricies</a:t>
            </a:r>
            <a:r>
              <a:rPr lang="en-US" dirty="0">
                <a:sym typeface="Wingdings"/>
              </a:rPr>
              <a:t>, structures, etc. </a:t>
            </a:r>
          </a:p>
          <a:p>
            <a:pPr lvl="2"/>
            <a:r>
              <a:rPr lang="en-US" dirty="0">
                <a:sym typeface="Wingdings"/>
              </a:rPr>
              <a:t>i.e., the “stuff” from your workspace, as opposed to the code you run on it (which is stored in m-files)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82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m-files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280605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m-files are used to save and run pieces of code</a:t>
            </a:r>
          </a:p>
          <a:p>
            <a:pPr lvl="1"/>
            <a:r>
              <a:rPr lang="en-US" dirty="0"/>
              <a:t>Can be </a:t>
            </a:r>
            <a:r>
              <a:rPr lang="en-US" b="1" dirty="0"/>
              <a:t>functions</a:t>
            </a:r>
            <a:r>
              <a:rPr lang="en-US" dirty="0"/>
              <a:t> or just pieces of code</a:t>
            </a:r>
          </a:p>
          <a:p>
            <a:pPr lvl="1"/>
            <a:endParaRPr lang="en-US" dirty="0"/>
          </a:p>
          <a:p>
            <a:r>
              <a:rPr lang="en-US" dirty="0"/>
              <a:t>Can be run two ways: </a:t>
            </a:r>
          </a:p>
          <a:p>
            <a:pPr lvl="1"/>
            <a:r>
              <a:rPr lang="en-US" dirty="0"/>
              <a:t>Via the ‘Run’ button in the Editor window</a:t>
            </a:r>
          </a:p>
          <a:p>
            <a:pPr lvl="1"/>
            <a:r>
              <a:rPr lang="en-US" dirty="0"/>
              <a:t>By typing the name of the m-file into the command window</a:t>
            </a:r>
          </a:p>
          <a:p>
            <a:pPr lvl="2"/>
            <a:r>
              <a:rPr lang="en-US" dirty="0"/>
              <a:t>Requires the file be in the current folder or a path folder</a:t>
            </a:r>
          </a:p>
          <a:p>
            <a:endParaRPr lang="en-US" dirty="0"/>
          </a:p>
          <a:p>
            <a:r>
              <a:rPr lang="en-US" dirty="0"/>
              <a:t>Can also select text in file and right click + ‘run selection </a:t>
            </a:r>
            <a:r>
              <a:rPr lang="en-US" b="1" dirty="0"/>
              <a:t>OR</a:t>
            </a:r>
            <a:r>
              <a:rPr lang="en-US" dirty="0"/>
              <a:t> shift + F7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86609"/>
            <a:ext cx="9144000" cy="198934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368817" y="4926439"/>
            <a:ext cx="902671" cy="902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61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4AF64-8EDD-42AA-018D-93EFD676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DC6A5-56D6-8A52-812C-1C829EBD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 between </a:t>
            </a:r>
            <a:r>
              <a:rPr lang="en-US" dirty="0" err="1"/>
              <a:t>matlab</a:t>
            </a:r>
            <a:r>
              <a:rPr lang="en-US" dirty="0"/>
              <a:t> and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7DDAC-83AC-4006-F8F3-19B5DD25A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46F2D-557B-1788-F9CD-1A3487109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22B5A-903B-7DCE-69F0-97BE221F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18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4BFB0D-8370-CE17-6B90-90CC6CBC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38D2A4-9B83-8D83-D0D4-94BB67DF7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9EAFE74-FE67-A34E-2468-0BCEFDDEAE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Treats everything as an object</a:t>
            </a:r>
          </a:p>
          <a:p>
            <a:r>
              <a:rPr lang="en-US" dirty="0"/>
              <a:t>Uses 0-based indexing</a:t>
            </a:r>
          </a:p>
          <a:p>
            <a:r>
              <a:rPr lang="en-US" dirty="0"/>
              <a:t>Uses indentation to define code blocks</a:t>
            </a:r>
          </a:p>
          <a:p>
            <a:r>
              <a:rPr lang="en-US" dirty="0"/>
              <a:t>Uses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dirty="0"/>
              <a:t> symbol for single-line comments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“””…”””</a:t>
            </a:r>
            <a:r>
              <a:rPr lang="en-US" dirty="0"/>
              <a:t> for multi line strings used as docstrings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8337A7-0F42-8B17-984F-EE749CB0C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1C96617-70F8-461A-1F35-513AD844026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Treats everything as an array (intuitive for matrix manipulations and linear algebra)</a:t>
            </a:r>
          </a:p>
          <a:p>
            <a:r>
              <a:rPr lang="en-US" dirty="0"/>
              <a:t>Uses 1-based indexing</a:t>
            </a:r>
          </a:p>
          <a:p>
            <a:r>
              <a:rPr lang="en-US" dirty="0"/>
              <a:t>Uses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dirty="0"/>
              <a:t> keyword to terminate blocks of code (e.g.,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if…end</a:t>
            </a:r>
            <a:r>
              <a:rPr lang="en-US" dirty="0"/>
              <a:t>)</a:t>
            </a:r>
          </a:p>
          <a:p>
            <a:r>
              <a:rPr lang="en-US" dirty="0"/>
              <a:t>Uses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/>
              <a:t> symbol for single-line comments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%{…%} </a:t>
            </a:r>
            <a:r>
              <a:rPr lang="en-US" dirty="0"/>
              <a:t>for multi-line comments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0AAF4-AC15-B296-CB46-74D8CF47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Stephen M. Emrich - PSYC 5V46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E98CF-3237-6E12-2893-2031658F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15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D139-9BC7-BF4C-65E9-792490625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450A7-BF92-A468-E0BE-C85698CFA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288DF-546F-31F1-A5ED-812C49265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D48C7-416D-2A02-0039-100DE905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36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 and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One of the reasons MATLAB is so popular in scientific computing is that it is specifically designed to deal with </a:t>
            </a:r>
            <a:r>
              <a:rPr lang="en-US" b="1" dirty="0"/>
              <a:t>vectors</a:t>
            </a:r>
            <a:r>
              <a:rPr lang="en-US" dirty="0"/>
              <a:t> and </a:t>
            </a:r>
            <a:r>
              <a:rPr lang="en-US" b="1" dirty="0"/>
              <a:t>matrices</a:t>
            </a:r>
          </a:p>
          <a:p>
            <a:pPr lvl="1"/>
            <a:r>
              <a:rPr lang="en-US" b="1" dirty="0"/>
              <a:t>Vector: </a:t>
            </a:r>
            <a:r>
              <a:rPr lang="en-US" dirty="0"/>
              <a:t>contains multiple values/elements within 1-dimension</a:t>
            </a:r>
            <a:endParaRPr lang="en-US" b="1" dirty="0"/>
          </a:p>
          <a:p>
            <a:pPr lvl="1"/>
            <a:r>
              <a:rPr lang="en-US" b="1" dirty="0"/>
              <a:t>Matrix: </a:t>
            </a:r>
            <a:r>
              <a:rPr lang="en-US" dirty="0"/>
              <a:t>contains multiple values/elements within </a:t>
            </a:r>
            <a:r>
              <a:rPr lang="en-US" i="1" dirty="0"/>
              <a:t>n</a:t>
            </a:r>
            <a:r>
              <a:rPr lang="en-US" dirty="0"/>
              <a:t>-dimensions</a:t>
            </a:r>
          </a:p>
          <a:p>
            <a:endParaRPr lang="en-US" dirty="0"/>
          </a:p>
          <a:p>
            <a:r>
              <a:rPr lang="en-US" dirty="0"/>
              <a:t>This is particularly useful in Psychology as vectors can contain: </a:t>
            </a:r>
          </a:p>
          <a:p>
            <a:pPr lvl="1"/>
            <a:r>
              <a:rPr lang="en-US" dirty="0"/>
              <a:t>Subjects</a:t>
            </a:r>
          </a:p>
          <a:p>
            <a:pPr lvl="1"/>
            <a:r>
              <a:rPr lang="en-US" dirty="0"/>
              <a:t>Trials</a:t>
            </a:r>
          </a:p>
          <a:p>
            <a:pPr lvl="1"/>
            <a:r>
              <a:rPr lang="en-US" dirty="0"/>
              <a:t>Time points</a:t>
            </a:r>
          </a:p>
          <a:p>
            <a:pPr lvl="1"/>
            <a:r>
              <a:rPr lang="en-US" dirty="0"/>
              <a:t>Image values</a:t>
            </a:r>
          </a:p>
          <a:p>
            <a:pPr lvl="1"/>
            <a:r>
              <a:rPr lang="en-US" dirty="0"/>
              <a:t>Etc.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34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Vectors and matrices (arrays) are contained within square-brackets: []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A = [1  2  3  4  5]</a:t>
            </a:r>
          </a:p>
          <a:p>
            <a:pPr lvl="1">
              <a:buFont typeface="Lucida Grande"/>
              <a:buChar char="&gt;"/>
            </a:pPr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Although you don’t need them, it can be useful to separate the elements with </a:t>
            </a:r>
            <a:r>
              <a:rPr lang="en-US" i="1" dirty="0"/>
              <a:t>,</a:t>
            </a:r>
            <a:r>
              <a:rPr lang="en-US" dirty="0"/>
              <a:t> . So the above is the same as: 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A = [1, 2, 3, 4, 5]</a:t>
            </a:r>
          </a:p>
          <a:p>
            <a:pPr lvl="1">
              <a:buFont typeface="Lucida Grande"/>
              <a:buChar char="&gt;"/>
            </a:pPr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Type </a:t>
            </a:r>
            <a:r>
              <a:rPr lang="en-US" dirty="0" err="1"/>
              <a:t>whos</a:t>
            </a:r>
            <a:r>
              <a:rPr lang="en-US" dirty="0"/>
              <a:t> to note the size of this vector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96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that the array is 1 x 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366" y="2450958"/>
            <a:ext cx="7522733" cy="4162956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60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Now that you have made a variable it should appear in your workspace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that the workspace tells you information about the variable (e.g., value, class, etc.)</a:t>
            </a:r>
          </a:p>
          <a:p>
            <a:endParaRPr lang="en-US" dirty="0"/>
          </a:p>
          <a:p>
            <a:r>
              <a:rPr lang="en-US" b="1" dirty="0"/>
              <a:t>Tip: </a:t>
            </a:r>
            <a:r>
              <a:rPr lang="en-US" dirty="0"/>
              <a:t>You can change the information shown about variables in the workspace by right-clicking the menu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867" y="2516943"/>
            <a:ext cx="3278135" cy="111222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FBB8-4BA2-0549-AF8D-783B5BAF910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51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Making/removing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Another way to see all the variables in your workspace is through the </a:t>
            </a:r>
            <a:r>
              <a:rPr lang="en-US" dirty="0">
                <a:latin typeface="Courier New"/>
                <a:cs typeface="Courier New"/>
              </a:rPr>
              <a:t>who</a:t>
            </a:r>
            <a:r>
              <a:rPr lang="en-US" dirty="0"/>
              <a:t> command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who</a:t>
            </a:r>
            <a:r>
              <a:rPr lang="en-US" dirty="0"/>
              <a:t> will list all the variables</a:t>
            </a:r>
          </a:p>
          <a:p>
            <a:pPr lvl="1"/>
            <a:r>
              <a:rPr lang="en-US" dirty="0" err="1">
                <a:latin typeface="Courier New"/>
                <a:cs typeface="Courier New"/>
              </a:rPr>
              <a:t>whos</a:t>
            </a:r>
            <a:r>
              <a:rPr lang="en-US" dirty="0"/>
              <a:t> will also include class information, size, etc.</a:t>
            </a:r>
          </a:p>
          <a:p>
            <a:endParaRPr lang="en-US" dirty="0"/>
          </a:p>
          <a:p>
            <a:r>
              <a:rPr lang="en-US" dirty="0">
                <a:latin typeface="Courier New"/>
                <a:cs typeface="Courier New"/>
              </a:rPr>
              <a:t>clear</a:t>
            </a:r>
            <a:r>
              <a:rPr lang="en-US" dirty="0"/>
              <a:t> will remove all variables from the workspace</a:t>
            </a:r>
          </a:p>
          <a:p>
            <a:endParaRPr lang="en-US" dirty="0"/>
          </a:p>
          <a:p>
            <a:r>
              <a:rPr lang="en-US" dirty="0">
                <a:latin typeface="Courier New"/>
                <a:cs typeface="Courier New"/>
              </a:rPr>
              <a:t>clear varname1 varname2 </a:t>
            </a:r>
            <a:r>
              <a:rPr lang="en-US" dirty="0"/>
              <a:t>will remove the variables </a:t>
            </a:r>
            <a:r>
              <a:rPr lang="en-US" i="1" dirty="0"/>
              <a:t>varname1</a:t>
            </a:r>
            <a:r>
              <a:rPr lang="en-US" dirty="0"/>
              <a:t> and </a:t>
            </a:r>
            <a:r>
              <a:rPr lang="en-US" i="1" dirty="0"/>
              <a:t>varname2</a:t>
            </a:r>
            <a:r>
              <a:rPr lang="en-US" dirty="0"/>
              <a:t> only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FBB8-4BA2-0549-AF8D-783B5BAF910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5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Can create a vector along the row dimension using semicolon (;) in place of the commas (,)</a:t>
            </a:r>
          </a:p>
          <a:p>
            <a:endParaRPr lang="en-US" dirty="0"/>
          </a:p>
          <a:p>
            <a:r>
              <a:rPr lang="en-US" dirty="0"/>
              <a:t>Using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B = [1; 2; 3; 4; 5]</a:t>
            </a:r>
          </a:p>
          <a:p>
            <a:pPr marL="0" indent="0">
              <a:buNone/>
            </a:pPr>
            <a:r>
              <a:rPr lang="en-US" dirty="0"/>
              <a:t>     …produces a 5 x 1 vector instead of a 1 x 5 vector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other words, MATLAB uses a </a:t>
            </a:r>
            <a:r>
              <a:rPr lang="en-US" b="1" dirty="0"/>
              <a:t>ROW x COLUMN</a:t>
            </a:r>
            <a:r>
              <a:rPr lang="en-US" dirty="0"/>
              <a:t> structure (</a:t>
            </a:r>
            <a:r>
              <a:rPr lang="en-US" i="1" dirty="0"/>
              <a:t>r * c</a:t>
            </a:r>
            <a:r>
              <a:rPr lang="en-US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07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Combining these two dimensions means we can create a </a:t>
            </a:r>
            <a:r>
              <a:rPr lang="en-US" b="1" dirty="0"/>
              <a:t>matrix </a:t>
            </a:r>
            <a:r>
              <a:rPr lang="en-US" dirty="0"/>
              <a:t>of size </a:t>
            </a:r>
            <a:r>
              <a:rPr lang="en-US" i="1" dirty="0"/>
              <a:t>m * n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C = [1 2; 3 4; 5 6] </a:t>
            </a:r>
            <a:r>
              <a:rPr lang="en-US" dirty="0"/>
              <a:t>produces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C =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     1     2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     3     4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     5     6  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&gt; C = [1 2; 3 4; 5 6] </a:t>
            </a:r>
          </a:p>
        </p:txBody>
      </p:sp>
      <p:sp>
        <p:nvSpPr>
          <p:cNvPr id="4" name="Left Brace 3"/>
          <p:cNvSpPr/>
          <p:nvPr/>
        </p:nvSpPr>
        <p:spPr>
          <a:xfrm rot="16200000">
            <a:off x="4063783" y="5644798"/>
            <a:ext cx="438975" cy="56447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84463" y="630681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Columns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4789866" y="5739813"/>
            <a:ext cx="1306135" cy="4186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6000" y="6158429"/>
            <a:ext cx="6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65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Matrices </a:t>
            </a:r>
            <a:r>
              <a:rPr lang="en-US" b="1" dirty="0"/>
              <a:t>MUST</a:t>
            </a:r>
            <a:r>
              <a:rPr lang="en-US" dirty="0"/>
              <a:t> be rectangular</a:t>
            </a:r>
          </a:p>
          <a:p>
            <a:pPr lvl="1"/>
            <a:r>
              <a:rPr lang="en-US" dirty="0"/>
              <a:t>i.e., they must contain the same number of elements in each row/column</a:t>
            </a:r>
          </a:p>
          <a:p>
            <a:endParaRPr lang="en-US" dirty="0"/>
          </a:p>
          <a:p>
            <a:r>
              <a:rPr lang="en-US" b="1" dirty="0"/>
              <a:t>BUT…</a:t>
            </a:r>
            <a:r>
              <a:rPr lang="en-US" dirty="0"/>
              <a:t>what about missing data, different trial numbers, etc. </a:t>
            </a:r>
          </a:p>
          <a:p>
            <a:pPr lvl="1"/>
            <a:r>
              <a:rPr lang="en-US" dirty="0"/>
              <a:t>Different data types: structures &amp; cells</a:t>
            </a:r>
          </a:p>
          <a:p>
            <a:pPr lvl="1"/>
            <a:r>
              <a:rPr lang="en-US" dirty="0"/>
              <a:t>Not-a-number: </a:t>
            </a:r>
            <a:r>
              <a:rPr lang="en-US" i="1" dirty="0" err="1"/>
              <a:t>NaN</a:t>
            </a:r>
            <a:endParaRPr lang="en-US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84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Vectors and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You can easily find the value of specific items in vectors and matrices by specifying (indexing) it’s position.</a:t>
            </a:r>
          </a:p>
          <a:p>
            <a:endParaRPr lang="en-US" dirty="0"/>
          </a:p>
          <a:p>
            <a:r>
              <a:rPr lang="en-US" dirty="0"/>
              <a:t>The round brackets () are used after the variable name, are organized in </a:t>
            </a:r>
            <a:r>
              <a:rPr lang="en-US" i="1" dirty="0"/>
              <a:t>r * c</a:t>
            </a:r>
            <a:r>
              <a:rPr lang="en-US" dirty="0"/>
              <a:t>, separated by commas. So if: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A = [1 2 3 4 5] </a:t>
            </a:r>
            <a:r>
              <a:rPr lang="en-US" dirty="0"/>
              <a:t>and 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C = [1 2; 3 4; 5 6]</a:t>
            </a:r>
          </a:p>
          <a:p>
            <a:pPr lvl="1"/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Then: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A(5) </a:t>
            </a:r>
            <a:r>
              <a:rPr lang="en-US" dirty="0"/>
              <a:t>returns </a:t>
            </a:r>
            <a:r>
              <a:rPr lang="en-US" dirty="0">
                <a:latin typeface="Courier New"/>
                <a:cs typeface="Courier New"/>
              </a:rPr>
              <a:t>5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C(2,1) </a:t>
            </a:r>
            <a:r>
              <a:rPr lang="en-US" dirty="0"/>
              <a:t>returns </a:t>
            </a:r>
            <a:r>
              <a:rPr lang="en-US" dirty="0">
                <a:latin typeface="Courier New"/>
                <a:cs typeface="Courier New"/>
              </a:rPr>
              <a:t>3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3265334" y="5750777"/>
            <a:ext cx="66508" cy="5784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88332" y="6329273"/>
            <a:ext cx="596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672711" y="5750777"/>
            <a:ext cx="109901" cy="5817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39102" y="6332557"/>
            <a:ext cx="909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Column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645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 and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specify multiple values by providing a vector: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C([1 3],1)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ans</a:t>
            </a:r>
            <a:r>
              <a:rPr lang="en-US" dirty="0">
                <a:latin typeface="Courier New"/>
                <a:cs typeface="Courier New"/>
              </a:rPr>
              <a:t> =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     1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     5</a:t>
            </a:r>
          </a:p>
          <a:p>
            <a:pPr marL="457200" lvl="1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cs typeface="Courier New"/>
              </a:rPr>
              <a:t>The vector (or single value) can be its own variable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D = [2 3];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C(D,2)</a:t>
            </a:r>
          </a:p>
          <a:p>
            <a:pPr lvl="1"/>
            <a:endParaRPr lang="en-US" dirty="0">
              <a:latin typeface="Courier New"/>
              <a:cs typeface="Courier New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10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Colon (:)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9601200" cy="489128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colon is extremely useful for both setting and looking up the values of a matrix</a:t>
            </a:r>
          </a:p>
          <a:p>
            <a:endParaRPr lang="en-US" dirty="0"/>
          </a:p>
          <a:p>
            <a:r>
              <a:rPr lang="en-US" dirty="0"/>
              <a:t>Can use it three ways:</a:t>
            </a:r>
          </a:p>
          <a:p>
            <a:pPr lvl="1"/>
            <a:r>
              <a:rPr lang="en-US" dirty="0"/>
              <a:t>By itself: specify all the elements of a vector or matrix</a:t>
            </a:r>
          </a:p>
          <a:p>
            <a:pPr lvl="2"/>
            <a:r>
              <a:rPr lang="en-US" dirty="0">
                <a:latin typeface="Courier New"/>
                <a:cs typeface="Courier New"/>
              </a:rPr>
              <a:t>C(1,</a:t>
            </a:r>
            <a:r>
              <a:rPr lang="en-US" dirty="0">
                <a:latin typeface="Courier New"/>
                <a:cs typeface="Courier New"/>
                <a:sym typeface="Wingdings"/>
              </a:rPr>
              <a:t>:) = </a:t>
            </a:r>
          </a:p>
          <a:p>
            <a:pPr marL="1828800" lvl="3" indent="-457200">
              <a:buAutoNum type="arabicPlain"/>
            </a:pPr>
            <a:r>
              <a:rPr lang="en-US" dirty="0">
                <a:latin typeface="Courier New"/>
                <a:cs typeface="Courier New"/>
                <a:sym typeface="Wingdings"/>
              </a:rPr>
              <a:t>2</a:t>
            </a:r>
          </a:p>
          <a:p>
            <a:pPr marL="1828800" lvl="3" indent="-457200">
              <a:buAutoNum type="arabicPlain"/>
            </a:pPr>
            <a:endParaRPr lang="en-US" dirty="0">
              <a:latin typeface="Courier New"/>
              <a:cs typeface="Courier New"/>
              <a:sym typeface="Wingdings"/>
            </a:endParaRPr>
          </a:p>
          <a:p>
            <a:pPr lvl="1"/>
            <a:r>
              <a:rPr lang="en-US" dirty="0">
                <a:sym typeface="Wingdings"/>
              </a:rPr>
              <a:t>Between two numbers: specify every number from first to last</a:t>
            </a:r>
          </a:p>
          <a:p>
            <a:pPr lvl="2"/>
            <a:r>
              <a:rPr lang="en-US" dirty="0">
                <a:latin typeface="Courier New"/>
                <a:cs typeface="Courier New"/>
                <a:sym typeface="Wingdings"/>
              </a:rPr>
              <a:t>D = 1:10</a:t>
            </a:r>
          </a:p>
          <a:p>
            <a:pPr marL="1371600" lvl="3" indent="0">
              <a:buNone/>
            </a:pPr>
            <a:r>
              <a:rPr lang="en-US" dirty="0">
                <a:latin typeface="Courier New"/>
                <a:cs typeface="Courier New"/>
                <a:sym typeface="Wingdings"/>
              </a:rPr>
              <a:t>D = 1 2 3 4 5 6 7 8 9 10</a:t>
            </a:r>
          </a:p>
          <a:p>
            <a:pPr lvl="1"/>
            <a:endParaRPr lang="en-US" dirty="0">
              <a:sym typeface="Wingdings"/>
            </a:endParaRP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66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Colon (</a:t>
            </a:r>
            <a:r>
              <a:rPr lang="en-US" dirty="0">
                <a:sym typeface="Wingdings"/>
              </a:rPr>
              <a:t>:)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>
                <a:sym typeface="Wingdings"/>
              </a:rPr>
              <a:t>Between three numbers: middle number specifies the step size between the first and last numbers</a:t>
            </a:r>
          </a:p>
          <a:p>
            <a:pPr lvl="2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  <a:sym typeface="Wingdings"/>
              </a:rPr>
              <a:t>E = 1:2:10</a:t>
            </a:r>
          </a:p>
          <a:p>
            <a:pPr marL="1371600" lvl="3" indent="0">
              <a:buNone/>
            </a:pPr>
            <a:r>
              <a:rPr lang="en-US" dirty="0">
                <a:latin typeface="Courier New"/>
                <a:cs typeface="Courier New"/>
                <a:sym typeface="Wingdings"/>
              </a:rPr>
              <a:t>E = 1 3 5 7 9 </a:t>
            </a:r>
          </a:p>
          <a:p>
            <a:pPr marL="1371600" lvl="3" indent="0">
              <a:buNone/>
            </a:pPr>
            <a:endParaRPr lang="en-US" dirty="0">
              <a:latin typeface="Courier New"/>
              <a:cs typeface="Courier New"/>
              <a:sym typeface="Wingding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602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useful stuff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Courier New"/>
                <a:cs typeface="Courier New"/>
              </a:rPr>
              <a:t>end</a:t>
            </a:r>
            <a:r>
              <a:rPr lang="en-US" dirty="0"/>
              <a:t> can specify the last element of a vector</a:t>
            </a:r>
          </a:p>
          <a:p>
            <a:pPr lvl="1"/>
            <a:r>
              <a:rPr lang="en-US" dirty="0"/>
              <a:t>Useful when you take everything from one point in time (or trial) onwards but don’t know the number of points</a:t>
            </a:r>
          </a:p>
          <a:p>
            <a:pPr lvl="1"/>
            <a:endParaRPr lang="en-US" dirty="0"/>
          </a:p>
          <a:p>
            <a:r>
              <a:rPr lang="en-US" dirty="0"/>
              <a:t>Of course, can figure this out using </a:t>
            </a:r>
            <a:r>
              <a:rPr lang="en-US" dirty="0" err="1">
                <a:latin typeface="Courier New"/>
                <a:cs typeface="Courier New"/>
              </a:rPr>
              <a:t>whos</a:t>
            </a:r>
            <a:endParaRPr lang="en-US" dirty="0">
              <a:latin typeface="Courier New"/>
              <a:cs typeface="Courier New"/>
            </a:endParaRP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A more effective strategy: can use </a:t>
            </a:r>
            <a:r>
              <a:rPr lang="en-US" dirty="0">
                <a:latin typeface="Courier New"/>
                <a:cs typeface="Courier New"/>
              </a:rPr>
              <a:t>size()</a:t>
            </a:r>
            <a:r>
              <a:rPr lang="en-US" dirty="0"/>
              <a:t> to return the length or size of a variable </a:t>
            </a:r>
          </a:p>
          <a:p>
            <a:endParaRPr lang="en-US" dirty="0"/>
          </a:p>
          <a:p>
            <a:r>
              <a:rPr lang="en-US" dirty="0">
                <a:latin typeface="Courier New"/>
                <a:cs typeface="Courier New"/>
              </a:rPr>
              <a:t>Size</a:t>
            </a:r>
            <a:r>
              <a:rPr lang="en-US" dirty="0"/>
              <a:t> on a r * c matrix will produce two values, length of r and length of 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59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Transpose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One of the most useful (and dangerous) characters in MATLAB is the single quotation: ‘</a:t>
            </a:r>
          </a:p>
          <a:p>
            <a:endParaRPr lang="en-US" dirty="0"/>
          </a:p>
          <a:p>
            <a:r>
              <a:rPr lang="en-US" dirty="0"/>
              <a:t>The ‘ will transpose or ‘flip’ your matrix along the r * c dimensions: </a:t>
            </a:r>
          </a:p>
          <a:p>
            <a:endParaRPr lang="en-US" dirty="0"/>
          </a:p>
          <a:p>
            <a:pPr marL="1257300" lvl="3" indent="0">
              <a:buNone/>
            </a:pPr>
            <a:r>
              <a:rPr lang="fr-FR" dirty="0">
                <a:latin typeface="Courier New"/>
                <a:cs typeface="Courier New"/>
              </a:rPr>
              <a:t>&gt;&gt; A = 1:5</a:t>
            </a:r>
          </a:p>
          <a:p>
            <a:pPr marL="1257300" lvl="3" indent="0">
              <a:buNone/>
            </a:pPr>
            <a:endParaRPr lang="fr-FR" dirty="0">
              <a:latin typeface="Courier New"/>
              <a:cs typeface="Courier New"/>
            </a:endParaRPr>
          </a:p>
          <a:p>
            <a:pPr marL="1257300" lvl="3" indent="0">
              <a:buNone/>
            </a:pPr>
            <a:r>
              <a:rPr lang="fr-FR" dirty="0">
                <a:latin typeface="Courier New"/>
                <a:cs typeface="Courier New"/>
              </a:rPr>
              <a:t>A =</a:t>
            </a:r>
          </a:p>
          <a:p>
            <a:pPr marL="1257300" lvl="3" indent="0">
              <a:buNone/>
            </a:pPr>
            <a:endParaRPr lang="fr-FR" dirty="0">
              <a:latin typeface="Courier New"/>
              <a:cs typeface="Courier New"/>
            </a:endParaRPr>
          </a:p>
          <a:p>
            <a:pPr marL="1257300" lvl="3" indent="0">
              <a:buNone/>
            </a:pPr>
            <a:r>
              <a:rPr lang="fr-FR" dirty="0">
                <a:latin typeface="Courier New"/>
                <a:cs typeface="Courier New"/>
              </a:rPr>
              <a:t>     1     2     3     4     5</a:t>
            </a:r>
          </a:p>
          <a:p>
            <a:pPr marL="1257300" lvl="3" indent="0">
              <a:buNone/>
            </a:pPr>
            <a:endParaRPr lang="fr-FR" dirty="0">
              <a:latin typeface="Courier New"/>
              <a:cs typeface="Courier New"/>
            </a:endParaRPr>
          </a:p>
          <a:p>
            <a:pPr marL="1257300" lvl="3" indent="0">
              <a:buNone/>
            </a:pPr>
            <a:r>
              <a:rPr lang="fr-FR" dirty="0">
                <a:latin typeface="Courier New"/>
                <a:cs typeface="Courier New"/>
              </a:rPr>
              <a:t>&gt;&gt; B = A'</a:t>
            </a:r>
          </a:p>
          <a:p>
            <a:pPr marL="1257300" lvl="3" indent="0">
              <a:buNone/>
            </a:pPr>
            <a:endParaRPr lang="fr-FR" dirty="0">
              <a:latin typeface="Courier New"/>
              <a:cs typeface="Courier New"/>
            </a:endParaRPr>
          </a:p>
          <a:p>
            <a:pPr marL="1257300" lvl="3" indent="0">
              <a:buNone/>
            </a:pPr>
            <a:r>
              <a:rPr lang="fr-FR" dirty="0">
                <a:latin typeface="Courier New"/>
                <a:cs typeface="Courier New"/>
              </a:rPr>
              <a:t>B =</a:t>
            </a:r>
          </a:p>
          <a:p>
            <a:pPr marL="1257300" lvl="3" indent="0">
              <a:buNone/>
            </a:pPr>
            <a:endParaRPr lang="fr-FR" dirty="0">
              <a:latin typeface="Courier New"/>
              <a:cs typeface="Courier New"/>
            </a:endParaRPr>
          </a:p>
          <a:p>
            <a:pPr marL="1257300" lvl="3" indent="0">
              <a:buNone/>
            </a:pPr>
            <a:r>
              <a:rPr lang="fr-FR" dirty="0">
                <a:latin typeface="Courier New"/>
                <a:cs typeface="Courier New"/>
              </a:rPr>
              <a:t>     1</a:t>
            </a:r>
          </a:p>
          <a:p>
            <a:pPr marL="1257300" lvl="3" indent="0">
              <a:buNone/>
            </a:pPr>
            <a:r>
              <a:rPr lang="fr-FR" dirty="0">
                <a:latin typeface="Courier New"/>
                <a:cs typeface="Courier New"/>
              </a:rPr>
              <a:t>     2</a:t>
            </a:r>
          </a:p>
          <a:p>
            <a:pPr marL="1257300" lvl="3" indent="0">
              <a:buNone/>
            </a:pPr>
            <a:r>
              <a:rPr lang="fr-FR" dirty="0">
                <a:latin typeface="Courier New"/>
                <a:cs typeface="Courier New"/>
              </a:rPr>
              <a:t>     3</a:t>
            </a:r>
          </a:p>
          <a:p>
            <a:pPr marL="1257300" lvl="3" indent="0">
              <a:buNone/>
            </a:pPr>
            <a:r>
              <a:rPr lang="fr-FR" dirty="0">
                <a:latin typeface="Courier New"/>
                <a:cs typeface="Courier New"/>
              </a:rPr>
              <a:t>     4</a:t>
            </a:r>
          </a:p>
          <a:p>
            <a:pPr marL="1257300" lvl="3" indent="0">
              <a:buNone/>
            </a:pPr>
            <a:r>
              <a:rPr lang="fr-FR" dirty="0">
                <a:latin typeface="Courier New"/>
                <a:cs typeface="Courier New"/>
              </a:rPr>
              <a:t>     5</a:t>
            </a:r>
          </a:p>
          <a:p>
            <a:pPr marL="1257300" lvl="3" indent="0">
              <a:buNone/>
            </a:pPr>
            <a:endParaRPr lang="fr-FR" dirty="0">
              <a:latin typeface="Courier New"/>
              <a:cs typeface="Courier New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783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Transpose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matrix transpose is useful because of how certain matrix operations are performed</a:t>
            </a:r>
          </a:p>
          <a:p>
            <a:endParaRPr lang="en-US" dirty="0"/>
          </a:p>
          <a:p>
            <a:r>
              <a:rPr lang="en-US" dirty="0"/>
              <a:t>Particularly useful when some variables are imported or defined along wrong dimension</a:t>
            </a:r>
          </a:p>
          <a:p>
            <a:endParaRPr lang="en-US" dirty="0"/>
          </a:p>
          <a:p>
            <a:r>
              <a:rPr lang="en-US" b="1" dirty="0" err="1"/>
              <a:t>Emrich’s</a:t>
            </a:r>
            <a:r>
              <a:rPr lang="en-US" b="1" dirty="0"/>
              <a:t> tip: </a:t>
            </a:r>
            <a:r>
              <a:rPr lang="en-US" dirty="0"/>
              <a:t>Be very careful with matrix transpose.  And if possible, try to avoid creating perfectly square matrices (e.g., 10 * 10) in order to avoid confusion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71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combine variables into larger matrices (or vectors) by </a:t>
            </a:r>
            <a:r>
              <a:rPr lang="en-US" b="1" dirty="0"/>
              <a:t>concatenating </a:t>
            </a:r>
            <a:r>
              <a:rPr lang="en-US" dirty="0"/>
              <a:t>them</a:t>
            </a:r>
          </a:p>
          <a:p>
            <a:endParaRPr lang="en-US" dirty="0"/>
          </a:p>
          <a:p>
            <a:r>
              <a:rPr lang="en-US" dirty="0"/>
              <a:t>Simple to do: just treat them like numbers and put them inside a matrix: </a:t>
            </a:r>
          </a:p>
          <a:p>
            <a:pPr marL="1314450" lvl="3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pPr marL="1314450" lvl="3" indent="0">
              <a:buNone/>
            </a:pPr>
            <a:r>
              <a:rPr lang="en-US" dirty="0">
                <a:latin typeface="Courier New"/>
                <a:cs typeface="Courier New"/>
              </a:rPr>
              <a:t>&gt;&gt; A = 1:5</a:t>
            </a:r>
          </a:p>
          <a:p>
            <a:pPr marL="1314450" lvl="3" indent="0">
              <a:buNone/>
            </a:pPr>
            <a:r>
              <a:rPr lang="en-US" dirty="0">
                <a:latin typeface="Courier New"/>
                <a:cs typeface="Courier New"/>
              </a:rPr>
              <a:t>&gt;&gt; B = 6: 10</a:t>
            </a:r>
          </a:p>
          <a:p>
            <a:pPr marL="1314450" lvl="3" indent="0">
              <a:buNone/>
            </a:pPr>
            <a:r>
              <a:rPr lang="en-US" dirty="0">
                <a:latin typeface="Courier New"/>
                <a:cs typeface="Courier New"/>
              </a:rPr>
              <a:t>&gt;&gt; C = [A B]</a:t>
            </a:r>
          </a:p>
          <a:p>
            <a:pPr marL="1314450" lvl="3" indent="0">
              <a:buNone/>
            </a:pPr>
            <a:r>
              <a:rPr lang="en-US" dirty="0">
                <a:latin typeface="Courier New"/>
                <a:cs typeface="Courier New"/>
              </a:rPr>
              <a:t>&gt;&gt; D = [A; B]</a:t>
            </a:r>
          </a:p>
          <a:p>
            <a:pPr marL="1314450" lvl="3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570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Concatenating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Remember</a:t>
            </a:r>
            <a:r>
              <a:rPr lang="en-US" dirty="0"/>
              <a:t>: the resulting matrix must be ‘square’ </a:t>
            </a:r>
          </a:p>
          <a:p>
            <a:pPr lvl="1"/>
            <a:r>
              <a:rPr lang="en-US" dirty="0"/>
              <a:t>i.e., it must have the same number of elements in each row and column:</a:t>
            </a:r>
          </a:p>
          <a:p>
            <a:pPr lvl="1"/>
            <a:endParaRPr lang="en-US" dirty="0"/>
          </a:p>
          <a:p>
            <a:pPr marL="857250" lvl="2" indent="0">
              <a:buNone/>
            </a:pPr>
            <a:r>
              <a:rPr lang="en-US" dirty="0">
                <a:latin typeface="Courier New"/>
                <a:cs typeface="Courier New"/>
              </a:rPr>
              <a:t>&gt;&gt; [A;D']</a:t>
            </a:r>
          </a:p>
          <a:p>
            <a:pPr marL="857250" lvl="2" indent="0">
              <a:buNone/>
            </a:pPr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Error using </a:t>
            </a:r>
            <a:r>
              <a:rPr lang="en-US" dirty="0" err="1">
                <a:solidFill>
                  <a:srgbClr val="FF0000"/>
                </a:solidFill>
                <a:latin typeface="Courier New"/>
                <a:cs typeface="Courier New"/>
              </a:rPr>
              <a:t>vertcat</a:t>
            </a:r>
            <a:endParaRPr lang="en-US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857250" lvl="2" indent="0">
              <a:buNone/>
            </a:pPr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Dimensions of matrices being concatenated are not consistent.</a:t>
            </a:r>
          </a:p>
          <a:p>
            <a:pPr marL="857250" lvl="2" indent="0">
              <a:buNone/>
            </a:pPr>
            <a:endParaRPr lang="en-US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400050"/>
            <a:r>
              <a:rPr lang="en-US" dirty="0">
                <a:cs typeface="Courier New"/>
              </a:rPr>
              <a:t>These are special cases of the </a:t>
            </a:r>
            <a:r>
              <a:rPr lang="en-US" dirty="0">
                <a:latin typeface="Courier New"/>
                <a:cs typeface="Courier New"/>
              </a:rPr>
              <a:t>cat, </a:t>
            </a:r>
            <a:r>
              <a:rPr lang="en-US" dirty="0" err="1">
                <a:latin typeface="Courier New"/>
                <a:cs typeface="Courier New"/>
              </a:rPr>
              <a:t>horzcat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>
                <a:cs typeface="Courier New"/>
              </a:rPr>
              <a:t>and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vertcat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>
                <a:cs typeface="Courier New"/>
              </a:rPr>
              <a:t>commands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314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Reshaping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Can add elements to the end of a matrix: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A = 1:5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A(6) = 6;</a:t>
            </a:r>
          </a:p>
          <a:p>
            <a:pPr lvl="1"/>
            <a:endParaRPr lang="en-US" dirty="0"/>
          </a:p>
          <a:p>
            <a:r>
              <a:rPr lang="en-US" b="1" dirty="0" err="1"/>
              <a:t>Emrich’s</a:t>
            </a:r>
            <a:r>
              <a:rPr lang="en-US" b="1" dirty="0"/>
              <a:t> tip #1: </a:t>
            </a:r>
            <a:r>
              <a:rPr lang="en-US" dirty="0"/>
              <a:t>Only use for adding at the end of the matrix. Doing so within an existing matrix will replace the current value</a:t>
            </a:r>
          </a:p>
          <a:p>
            <a:endParaRPr lang="en-US" dirty="0"/>
          </a:p>
          <a:p>
            <a:r>
              <a:rPr lang="en-US" b="1" dirty="0" err="1"/>
              <a:t>Emrich’s</a:t>
            </a:r>
            <a:r>
              <a:rPr lang="en-US" b="1" dirty="0"/>
              <a:t> tip #2</a:t>
            </a:r>
            <a:r>
              <a:rPr lang="en-US" dirty="0"/>
              <a:t>: Avoid doing this in big jobs as it is memory demanding and slows things down</a:t>
            </a:r>
          </a:p>
          <a:p>
            <a:pPr lvl="1"/>
            <a:r>
              <a:rPr lang="en-US" b="1" dirty="0"/>
              <a:t>Pre-allocate instead</a:t>
            </a:r>
            <a:r>
              <a:rPr lang="en-US" dirty="0"/>
              <a:t> (I’ll show you how in a minute)</a:t>
            </a:r>
          </a:p>
          <a:p>
            <a:endParaRPr lang="en-US" b="1" dirty="0"/>
          </a:p>
          <a:p>
            <a:r>
              <a:rPr lang="en-US" dirty="0"/>
              <a:t>Can also do: 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A = 1:5;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A = [A 6];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383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Reshaping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Can do so manually: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A = 1:9;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B(1,1:3) = A(1:3);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B(2,1:3) = A(4:6);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B(3,1:3) = A(7:9);</a:t>
            </a:r>
          </a:p>
          <a:p>
            <a:pPr lvl="1">
              <a:buFont typeface="Lucida Grande"/>
              <a:buChar char="&gt;"/>
            </a:pPr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But that’s inefficient! Why do with 3 lines what you can do with 1? 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B = reshape(A,3,3);</a:t>
            </a:r>
          </a:p>
          <a:p>
            <a:pPr lvl="1">
              <a:buFont typeface="Lucida Grande"/>
              <a:buChar char="&gt;"/>
            </a:pPr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First element is the input matrix, then r * c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reshape(X,[M,N])</a:t>
            </a:r>
          </a:p>
          <a:p>
            <a:pPr lvl="1"/>
            <a:endParaRPr lang="en-US" dirty="0">
              <a:latin typeface="Courier New"/>
              <a:cs typeface="Courier New"/>
            </a:endParaRPr>
          </a:p>
          <a:p>
            <a:r>
              <a:rPr lang="en-US" b="1" dirty="0">
                <a:cs typeface="Courier New"/>
              </a:rPr>
              <a:t>Fills in matrix moving down rows first!</a:t>
            </a:r>
          </a:p>
          <a:p>
            <a:pPr lvl="1"/>
            <a:r>
              <a:rPr lang="en-US" b="1" dirty="0">
                <a:cs typeface="Courier New"/>
              </a:rPr>
              <a:t>Transpose!</a:t>
            </a:r>
          </a:p>
          <a:p>
            <a:endParaRPr lang="en-US" b="1" dirty="0">
              <a:cs typeface="Courier New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655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also delete items from an array to make it smaller</a:t>
            </a:r>
          </a:p>
          <a:p>
            <a:endParaRPr lang="en-US" dirty="0"/>
          </a:p>
          <a:p>
            <a:pPr lvl="1"/>
            <a:r>
              <a:rPr lang="en-US" dirty="0">
                <a:latin typeface="Courier New"/>
                <a:cs typeface="Courier New"/>
              </a:rPr>
              <a:t>A = 1:10;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A(5) = []</a:t>
            </a:r>
            <a:r>
              <a:rPr lang="en-US" dirty="0"/>
              <a:t>;</a:t>
            </a:r>
          </a:p>
          <a:p>
            <a:pPr lvl="1"/>
            <a:endParaRPr lang="en-US" dirty="0"/>
          </a:p>
          <a:p>
            <a:r>
              <a:rPr lang="en-US" dirty="0"/>
              <a:t>If you do so to a matrix must make sure you do so for all dimensions to keep </a:t>
            </a:r>
            <a:r>
              <a:rPr lang="en-US"/>
              <a:t>it square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297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Pre-Allocating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It is good coding practice to </a:t>
            </a:r>
            <a:r>
              <a:rPr lang="en-US" b="1" dirty="0"/>
              <a:t>pre-allocate</a:t>
            </a:r>
            <a:r>
              <a:rPr lang="en-US" dirty="0"/>
              <a:t> your matrix</a:t>
            </a:r>
          </a:p>
          <a:p>
            <a:pPr lvl="1"/>
            <a:r>
              <a:rPr lang="en-US" dirty="0"/>
              <a:t>Faster, fewer demands on memory</a:t>
            </a:r>
          </a:p>
          <a:p>
            <a:pPr lvl="1"/>
            <a:r>
              <a:rPr lang="en-US" dirty="0"/>
              <a:t>Prevents the need to flip and reshape</a:t>
            </a:r>
          </a:p>
          <a:p>
            <a:pPr lvl="1"/>
            <a:r>
              <a:rPr lang="en-US" dirty="0"/>
              <a:t>Prevents errors if matrices are all in the proper dimensions</a:t>
            </a:r>
          </a:p>
          <a:p>
            <a:endParaRPr lang="en-US" dirty="0"/>
          </a:p>
          <a:p>
            <a:r>
              <a:rPr lang="en-US" dirty="0"/>
              <a:t> Can fill it with zeros or ones: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A = zeros(3,2);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B = ones(2,3);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C = </a:t>
            </a:r>
            <a:r>
              <a:rPr lang="en-US" dirty="0" err="1">
                <a:latin typeface="Courier New"/>
                <a:cs typeface="Courier New"/>
              </a:rPr>
              <a:t>NaN</a:t>
            </a:r>
            <a:r>
              <a:rPr lang="en-US" dirty="0">
                <a:latin typeface="Courier New"/>
                <a:cs typeface="Courier New"/>
              </a:rPr>
              <a:t>(3,4);</a:t>
            </a:r>
          </a:p>
          <a:p>
            <a:pPr lvl="1">
              <a:buFont typeface="Lucida Grande"/>
              <a:buChar char="&gt;"/>
            </a:pP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cs typeface="Courier New"/>
              </a:rPr>
              <a:t>Empty with ‘</a:t>
            </a:r>
            <a:r>
              <a:rPr lang="en-US" dirty="0">
                <a:latin typeface="Courier New"/>
                <a:cs typeface="Courier New"/>
              </a:rPr>
              <a:t>[]’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085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“fun” tricks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Courier New"/>
                <a:cs typeface="Courier New"/>
              </a:rPr>
              <a:t>linspace</a:t>
            </a:r>
            <a:r>
              <a:rPr lang="en-US" dirty="0">
                <a:latin typeface="Courier New"/>
                <a:cs typeface="Courier New"/>
              </a:rPr>
              <a:t>(x1, x2, N)</a:t>
            </a:r>
            <a:r>
              <a:rPr lang="en-US" dirty="0"/>
              <a:t>: creates N evenly spaced values between x1 and x2</a:t>
            </a:r>
          </a:p>
          <a:p>
            <a:endParaRPr lang="en-US" dirty="0"/>
          </a:p>
          <a:p>
            <a:r>
              <a:rPr lang="en-US" dirty="0" err="1">
                <a:latin typeface="Courier New"/>
                <a:cs typeface="Courier New"/>
              </a:rPr>
              <a:t>logspace</a:t>
            </a:r>
            <a:r>
              <a:rPr lang="en-US" dirty="0">
                <a:latin typeface="Courier New"/>
                <a:cs typeface="Courier New"/>
              </a:rPr>
              <a:t>(x1, x2, N)</a:t>
            </a:r>
            <a:r>
              <a:rPr lang="en-US" dirty="0"/>
              <a:t>: same thing, but log-linear</a:t>
            </a:r>
          </a:p>
          <a:p>
            <a:endParaRPr lang="en-US" dirty="0"/>
          </a:p>
          <a:p>
            <a:r>
              <a:rPr lang="en-US" dirty="0">
                <a:latin typeface="Courier New"/>
                <a:cs typeface="Courier New"/>
              </a:rPr>
              <a:t>flip(x)</a:t>
            </a:r>
            <a:r>
              <a:rPr lang="en-US" dirty="0"/>
              <a:t>: Flips a matrix keeping order intact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1:10 </a:t>
            </a:r>
            <a:r>
              <a:rPr lang="en-US" dirty="0">
                <a:latin typeface="Courier New"/>
                <a:cs typeface="Courier New"/>
                <a:sym typeface="Wingdings"/>
              </a:rPr>
              <a:t> 10:1</a:t>
            </a:r>
          </a:p>
          <a:p>
            <a:pPr lvl="1"/>
            <a:r>
              <a:rPr lang="en-US" dirty="0" err="1">
                <a:latin typeface="Courier New"/>
                <a:cs typeface="Courier New"/>
                <a:sym typeface="Wingdings"/>
              </a:rPr>
              <a:t>fliplr</a:t>
            </a:r>
            <a:endParaRPr lang="en-US" dirty="0">
              <a:latin typeface="Courier New"/>
              <a:cs typeface="Courier New"/>
              <a:sym typeface="Wingdings"/>
            </a:endParaRPr>
          </a:p>
          <a:p>
            <a:pPr lvl="1"/>
            <a:r>
              <a:rPr lang="en-US" dirty="0" err="1">
                <a:latin typeface="Courier New"/>
                <a:cs typeface="Courier New"/>
                <a:sym typeface="Wingdings"/>
              </a:rPr>
              <a:t>flipud</a:t>
            </a:r>
            <a:endParaRPr lang="en-US" dirty="0">
              <a:latin typeface="Courier New"/>
              <a:cs typeface="Courier New"/>
              <a:sym typeface="Wingdings"/>
            </a:endParaRPr>
          </a:p>
          <a:p>
            <a:endParaRPr lang="en-US" dirty="0">
              <a:sym typeface="Wingdings"/>
            </a:endParaRPr>
          </a:p>
          <a:p>
            <a:r>
              <a:rPr lang="en-US" dirty="0">
                <a:latin typeface="Courier New"/>
                <a:cs typeface="Courier New"/>
                <a:sym typeface="Wingdings"/>
              </a:rPr>
              <a:t>rot90(x)</a:t>
            </a:r>
            <a:r>
              <a:rPr lang="en-US" dirty="0">
                <a:sym typeface="Wingdings"/>
              </a:rPr>
              <a:t>: rotates a matrix by 90 degrees counter-clockwise </a:t>
            </a:r>
          </a:p>
          <a:p>
            <a:pPr lvl="1"/>
            <a:r>
              <a:rPr lang="en-US" dirty="0">
                <a:latin typeface="Courier New"/>
                <a:cs typeface="Courier New"/>
                <a:sym typeface="Wingdings"/>
              </a:rPr>
              <a:t>rot90(</a:t>
            </a:r>
            <a:r>
              <a:rPr lang="en-US" dirty="0" err="1">
                <a:latin typeface="Courier New"/>
                <a:cs typeface="Courier New"/>
                <a:sym typeface="Wingdings"/>
              </a:rPr>
              <a:t>x,k</a:t>
            </a:r>
            <a:r>
              <a:rPr lang="en-US" dirty="0">
                <a:latin typeface="Courier New"/>
                <a:cs typeface="Courier New"/>
                <a:sym typeface="Wingdings"/>
              </a:rPr>
              <a:t>)</a:t>
            </a:r>
            <a:r>
              <a:rPr lang="en-US" dirty="0">
                <a:sym typeface="Wingdings"/>
              </a:rPr>
              <a:t>: rotates by k * 90 degrees</a:t>
            </a:r>
          </a:p>
          <a:p>
            <a:endParaRPr lang="en-US" b="1" dirty="0">
              <a:sym typeface="Wingdings"/>
            </a:endParaRP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A70CD-7D0F-004B-9D66-090A8EEC4AF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746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&amp; Loading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can save variables into the MAT-file type using the </a:t>
            </a:r>
            <a:r>
              <a:rPr lang="en-US" dirty="0">
                <a:latin typeface="Courier New"/>
                <a:cs typeface="Courier New"/>
              </a:rPr>
              <a:t>save</a:t>
            </a:r>
            <a:r>
              <a:rPr lang="en-US" dirty="0"/>
              <a:t> command</a:t>
            </a:r>
          </a:p>
          <a:p>
            <a:endParaRPr lang="en-US" dirty="0"/>
          </a:p>
          <a:p>
            <a:r>
              <a:rPr lang="en-US" dirty="0"/>
              <a:t>You can load the MAT-files that contain variables (as well as other things) using the </a:t>
            </a:r>
            <a:r>
              <a:rPr lang="en-US" dirty="0">
                <a:latin typeface="Courier New"/>
                <a:cs typeface="Courier New"/>
              </a:rPr>
              <a:t>load</a:t>
            </a:r>
            <a:r>
              <a:rPr lang="en-US" dirty="0"/>
              <a:t> command</a:t>
            </a:r>
          </a:p>
          <a:p>
            <a:endParaRPr lang="en-US" dirty="0"/>
          </a:p>
          <a:p>
            <a:r>
              <a:rPr lang="en-US" dirty="0"/>
              <a:t>You should have two variables in your Workspace,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 err="1"/>
              <a:t>myString</a:t>
            </a:r>
            <a:r>
              <a:rPr lang="en-US" dirty="0"/>
              <a:t>. Now type: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save(‘</a:t>
            </a:r>
            <a:r>
              <a:rPr lang="en-US" dirty="0" err="1">
                <a:latin typeface="Courier New"/>
                <a:cs typeface="Courier New"/>
              </a:rPr>
              <a:t>firstMatFile</a:t>
            </a:r>
            <a:r>
              <a:rPr lang="en-US" dirty="0">
                <a:latin typeface="Courier New"/>
                <a:cs typeface="Courier New"/>
              </a:rPr>
              <a:t>’);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clear;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FBB8-4BA2-0549-AF8D-783B5BAF910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158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&amp; Loading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You should now have a file in your Current Folder window called ‘</a:t>
            </a:r>
            <a:r>
              <a:rPr lang="en-US" dirty="0" err="1"/>
              <a:t>firstMatFile.mat</a:t>
            </a:r>
            <a:r>
              <a:rPr lang="en-US" dirty="0"/>
              <a:t>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Confirm you have nothing in your workspace by typing </a:t>
            </a:r>
            <a:r>
              <a:rPr lang="en-US" dirty="0">
                <a:latin typeface="Courier New"/>
                <a:cs typeface="Courier New"/>
              </a:rPr>
              <a:t>who</a:t>
            </a:r>
          </a:p>
          <a:p>
            <a:endParaRPr lang="en-US" dirty="0"/>
          </a:p>
          <a:p>
            <a:r>
              <a:rPr lang="en-US" dirty="0"/>
              <a:t>Now load the variables back into the workspace: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load(‘</a:t>
            </a:r>
            <a:r>
              <a:rPr lang="en-US" dirty="0" err="1">
                <a:latin typeface="Courier New"/>
                <a:cs typeface="Courier New"/>
              </a:rPr>
              <a:t>firstMatFile</a:t>
            </a:r>
            <a:r>
              <a:rPr lang="en-US" dirty="0">
                <a:latin typeface="Courier New"/>
                <a:cs typeface="Courier New"/>
              </a:rPr>
              <a:t>’);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who;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577" y="2581859"/>
            <a:ext cx="2501285" cy="1149488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FBB8-4BA2-0549-AF8D-783B5BAF9104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628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and Loading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also save and load specific variables: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save(‘</a:t>
            </a:r>
            <a:r>
              <a:rPr lang="en-US" dirty="0" err="1">
                <a:latin typeface="Courier New"/>
                <a:cs typeface="Courier New"/>
              </a:rPr>
              <a:t>varA</a:t>
            </a:r>
            <a:r>
              <a:rPr lang="en-US" dirty="0">
                <a:latin typeface="Courier New"/>
                <a:cs typeface="Courier New"/>
              </a:rPr>
              <a:t>’,‘A’);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clear;</a:t>
            </a:r>
          </a:p>
          <a:p>
            <a:pPr lvl="1"/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Now you should have a variable with only the </a:t>
            </a:r>
            <a:r>
              <a:rPr lang="en-US" i="1" dirty="0"/>
              <a:t>A</a:t>
            </a:r>
            <a:r>
              <a:rPr lang="en-US" dirty="0"/>
              <a:t> variable. Now lets load in the </a:t>
            </a:r>
            <a:r>
              <a:rPr lang="en-US" i="1" dirty="0" err="1"/>
              <a:t>myString</a:t>
            </a:r>
            <a:r>
              <a:rPr lang="en-US" dirty="0"/>
              <a:t> variable from </a:t>
            </a:r>
            <a:r>
              <a:rPr lang="en-US" i="1" dirty="0" err="1"/>
              <a:t>firstMatFile.mat</a:t>
            </a:r>
            <a:endParaRPr lang="en-US" i="1" dirty="0"/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load(‘</a:t>
            </a:r>
            <a:r>
              <a:rPr lang="en-US" dirty="0" err="1">
                <a:latin typeface="Courier New"/>
                <a:cs typeface="Courier New"/>
              </a:rPr>
              <a:t>firstMatFile</a:t>
            </a:r>
            <a:r>
              <a:rPr lang="en-US" dirty="0">
                <a:latin typeface="Courier New"/>
                <a:cs typeface="Courier New"/>
              </a:rPr>
              <a:t>’,‘</a:t>
            </a:r>
            <a:r>
              <a:rPr lang="en-US" dirty="0" err="1">
                <a:latin typeface="Courier New"/>
                <a:cs typeface="Courier New"/>
              </a:rPr>
              <a:t>myString</a:t>
            </a:r>
            <a:r>
              <a:rPr lang="en-US" dirty="0">
                <a:latin typeface="Courier New"/>
                <a:cs typeface="Courier New"/>
              </a:rPr>
              <a:t>’);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load(‘</a:t>
            </a:r>
            <a:r>
              <a:rPr lang="en-US" dirty="0" err="1">
                <a:latin typeface="Courier New"/>
                <a:cs typeface="Courier New"/>
              </a:rPr>
              <a:t>varA</a:t>
            </a:r>
            <a:r>
              <a:rPr lang="en-US" dirty="0">
                <a:latin typeface="Courier New"/>
                <a:cs typeface="Courier New"/>
              </a:rPr>
              <a:t>’);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FBB8-4BA2-0549-AF8D-783B5BAF9104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464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NaN</a:t>
            </a:r>
            <a:r>
              <a:rPr lang="en-US" dirty="0"/>
              <a:t> </a:t>
            </a:r>
            <a:r>
              <a:rPr lang="en-US" dirty="0" err="1"/>
              <a:t>vs</a:t>
            </a:r>
            <a:r>
              <a:rPr lang="en-US" dirty="0"/>
              <a:t> Empty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Can create an empty variable using: </a:t>
            </a:r>
            <a:r>
              <a:rPr lang="en-US" i="1" dirty="0"/>
              <a:t>[ ]</a:t>
            </a:r>
          </a:p>
          <a:p>
            <a:pPr lvl="1">
              <a:buFont typeface="Lucida Grande"/>
              <a:buChar char="&gt;"/>
            </a:pPr>
            <a:r>
              <a:rPr lang="en-US" dirty="0" err="1">
                <a:latin typeface="Courier New"/>
                <a:cs typeface="Courier New"/>
              </a:rPr>
              <a:t>emptyVar</a:t>
            </a:r>
            <a:r>
              <a:rPr lang="en-US" dirty="0">
                <a:latin typeface="Courier New"/>
                <a:cs typeface="Courier New"/>
              </a:rPr>
              <a:t> = [];</a:t>
            </a:r>
          </a:p>
          <a:p>
            <a:pPr lvl="1">
              <a:buFont typeface="Lucida Grande"/>
              <a:buChar char="&gt;"/>
            </a:pPr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Type </a:t>
            </a:r>
            <a:r>
              <a:rPr lang="en-US" i="1" dirty="0" err="1"/>
              <a:t>whos</a:t>
            </a:r>
            <a:r>
              <a:rPr lang="en-US" dirty="0"/>
              <a:t> to check its size</a:t>
            </a:r>
          </a:p>
          <a:p>
            <a:endParaRPr lang="en-US" dirty="0"/>
          </a:p>
          <a:p>
            <a:r>
              <a:rPr lang="en-US" i="1" dirty="0" err="1"/>
              <a:t>NaN</a:t>
            </a:r>
            <a:r>
              <a:rPr lang="en-US" i="1" dirty="0"/>
              <a:t> </a:t>
            </a:r>
            <a:r>
              <a:rPr lang="en-US" dirty="0"/>
              <a:t>in contrast actually has a size. It stands for “Not a Number” and is particularly useful for missing values in data sets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B = </a:t>
            </a:r>
            <a:r>
              <a:rPr lang="en-US" dirty="0" err="1">
                <a:latin typeface="Courier New"/>
                <a:cs typeface="Courier New"/>
              </a:rPr>
              <a:t>NaN</a:t>
            </a:r>
            <a:r>
              <a:rPr lang="en-US" dirty="0">
                <a:latin typeface="Courier New"/>
                <a:cs typeface="Courier New"/>
              </a:rPr>
              <a:t>;</a:t>
            </a:r>
          </a:p>
          <a:p>
            <a:pPr lvl="1">
              <a:buFont typeface="Lucida Grande"/>
              <a:buChar char="&gt;"/>
            </a:pPr>
            <a:r>
              <a:rPr lang="en-US" dirty="0" err="1">
                <a:latin typeface="Courier New"/>
                <a:cs typeface="Courier New"/>
              </a:rPr>
              <a:t>whos</a:t>
            </a:r>
            <a:endParaRPr lang="en-US" dirty="0">
              <a:latin typeface="Courier New"/>
              <a:cs typeface="Courier New"/>
            </a:endParaRPr>
          </a:p>
          <a:p>
            <a:pPr lvl="1">
              <a:buFont typeface="Lucida Grande"/>
              <a:buChar char="&gt;"/>
            </a:pP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cs typeface="Courier New"/>
              </a:rPr>
              <a:t>Note that this takes up the same size and memory as the variable </a:t>
            </a:r>
            <a:r>
              <a:rPr lang="en-US" i="1" dirty="0">
                <a:cs typeface="Courier New"/>
              </a:rPr>
              <a:t>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FBB8-4BA2-0549-AF8D-783B5BAF9104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083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C2B7E8-307F-5772-948C-E7725F78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CBA157-E362-E32A-D927-0326C6F15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B21A0-91EE-BE86-B21A-8A6E5137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Stephen M. Emrich - PSYC 5V46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E4230-2DFA-3DC6-E293-B00A6976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4830-F904-4643-A0A7-C388CF1999A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27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Many operations you can perform on single values you can perform on entire arrays/matrices: 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&gt;&gt;a = 2:2:10;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&gt;&gt;b = a – 5;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&gt;&gt;c = a / 2;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&gt;&gt;d = abs(b);</a:t>
            </a:r>
          </a:p>
          <a:p>
            <a:pPr marL="457200" lvl="1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endParaRPr lang="en-US" dirty="0">
              <a:cs typeface="Courier New"/>
            </a:endParaRPr>
          </a:p>
          <a:p>
            <a:r>
              <a:rPr lang="en-US" dirty="0">
                <a:cs typeface="Courier New"/>
              </a:rPr>
              <a:t>Can also do things like adding together two matrices of the same size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&gt; e = a + b;</a:t>
            </a:r>
          </a:p>
          <a:p>
            <a:endParaRPr lang="en-US" dirty="0">
              <a:cs typeface="Courier New"/>
            </a:endParaRPr>
          </a:p>
          <a:p>
            <a:r>
              <a:rPr lang="en-US" dirty="0">
                <a:cs typeface="Courier New"/>
              </a:rPr>
              <a:t>These things are done element-by-element</a:t>
            </a:r>
          </a:p>
        </p:txBody>
      </p:sp>
    </p:spTree>
    <p:extLst>
      <p:ext uri="{BB962C8B-B14F-4D97-AF65-F5344CB8AC3E}">
        <p14:creationId xmlns:p14="http://schemas.microsoft.com/office/powerpoint/2010/main" val="18335222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Things start getting tricky for multiplication, division, and exponents</a:t>
            </a:r>
          </a:p>
          <a:p>
            <a:endParaRPr lang="en-US" dirty="0"/>
          </a:p>
          <a:p>
            <a:r>
              <a:rPr lang="en-US" dirty="0"/>
              <a:t>They work according to </a:t>
            </a:r>
            <a:r>
              <a:rPr lang="en-US" b="1" dirty="0"/>
              <a:t>matrix algebra</a:t>
            </a:r>
          </a:p>
          <a:p>
            <a:endParaRPr lang="en-US" b="1" dirty="0"/>
          </a:p>
          <a:p>
            <a:r>
              <a:rPr lang="en-US" dirty="0"/>
              <a:t>e.g., the dot product: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281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89417C-6743-3744-8436-CCEBE9D49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C989E-B6B1-E24F-AB16-F8FDD02C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176236"/>
            <a:ext cx="5961267" cy="202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786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simple operations you unlikely want to do matrix algebra </a:t>
            </a:r>
          </a:p>
          <a:p>
            <a:endParaRPr lang="en-US" dirty="0"/>
          </a:p>
          <a:p>
            <a:r>
              <a:rPr lang="en-US" dirty="0"/>
              <a:t>Luckily, can do non-matrix (elemental) multiplication </a:t>
            </a:r>
            <a:r>
              <a:rPr lang="en-US" dirty="0" err="1"/>
              <a:t>etc</a:t>
            </a:r>
            <a:r>
              <a:rPr lang="en-US" dirty="0"/>
              <a:t> simply by adding ‘.’ in front of the operation: </a:t>
            </a:r>
          </a:p>
          <a:p>
            <a:pPr lvl="1"/>
            <a:r>
              <a:rPr lang="en-US" dirty="0"/>
              <a:t>* becomes .*</a:t>
            </a:r>
          </a:p>
          <a:p>
            <a:pPr lvl="1"/>
            <a:r>
              <a:rPr lang="en-US" dirty="0"/>
              <a:t>/ becomes ./</a:t>
            </a:r>
          </a:p>
          <a:p>
            <a:pPr lvl="1"/>
            <a:r>
              <a:rPr lang="en-US" dirty="0"/>
              <a:t>^ becomes .^</a:t>
            </a:r>
          </a:p>
        </p:txBody>
      </p:sp>
    </p:spTree>
    <p:extLst>
      <p:ext uri="{BB962C8B-B14F-4D97-AF65-F5344CB8AC3E}">
        <p14:creationId xmlns:p14="http://schemas.microsoft.com/office/powerpoint/2010/main" val="32703474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a = [1:5; 6:10]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b = [2:2:10; 1:2:9]</a:t>
            </a:r>
          </a:p>
          <a:p>
            <a:pPr lvl="1">
              <a:buFont typeface="Lucida Grande"/>
              <a:buChar char="&gt;"/>
            </a:pPr>
            <a:r>
              <a:rPr lang="en-US" dirty="0" err="1">
                <a:latin typeface="Courier New"/>
                <a:cs typeface="Courier New"/>
              </a:rPr>
              <a:t>ab</a:t>
            </a:r>
            <a:r>
              <a:rPr lang="en-US" dirty="0">
                <a:latin typeface="Courier New"/>
                <a:cs typeface="Courier New"/>
              </a:rPr>
              <a:t> = a .* b</a:t>
            </a:r>
          </a:p>
          <a:p>
            <a:pPr lvl="1">
              <a:buFont typeface="Lucida Grande"/>
              <a:buChar char="&gt;"/>
            </a:pPr>
            <a:r>
              <a:rPr lang="en-US" dirty="0" err="1">
                <a:latin typeface="Courier New"/>
                <a:cs typeface="Courier New"/>
              </a:rPr>
              <a:t>bDiva</a:t>
            </a:r>
            <a:r>
              <a:rPr lang="en-US" dirty="0">
                <a:latin typeface="Courier New"/>
                <a:cs typeface="Courier New"/>
              </a:rPr>
              <a:t> = b ./a</a:t>
            </a:r>
          </a:p>
          <a:p>
            <a:pPr lvl="1">
              <a:buFont typeface="Lucida Grande"/>
              <a:buChar char="&gt;"/>
            </a:pPr>
            <a:r>
              <a:rPr lang="en-US" dirty="0" err="1">
                <a:latin typeface="Courier New"/>
                <a:cs typeface="Courier New"/>
              </a:rPr>
              <a:t>aSquare</a:t>
            </a:r>
            <a:r>
              <a:rPr lang="en-US" dirty="0">
                <a:latin typeface="Courier New"/>
                <a:cs typeface="Courier New"/>
              </a:rPr>
              <a:t> = a .^2</a:t>
            </a:r>
          </a:p>
          <a:p>
            <a:pPr lvl="1">
              <a:buFont typeface="Lucida Grande"/>
              <a:buChar char="&gt;"/>
            </a:pPr>
            <a:r>
              <a:rPr lang="en-US" dirty="0" err="1">
                <a:latin typeface="Courier New"/>
                <a:cs typeface="Courier New"/>
              </a:rPr>
              <a:t>aSqrt</a:t>
            </a:r>
            <a:r>
              <a:rPr lang="en-US" dirty="0">
                <a:latin typeface="Courier New"/>
                <a:cs typeface="Courier New"/>
              </a:rPr>
              <a:t> = </a:t>
            </a:r>
            <a:r>
              <a:rPr lang="en-US" dirty="0" err="1">
                <a:latin typeface="Courier New"/>
                <a:cs typeface="Courier New"/>
              </a:rPr>
              <a:t>sqrt</a:t>
            </a:r>
            <a:r>
              <a:rPr lang="en-US" dirty="0">
                <a:latin typeface="Courier New"/>
                <a:cs typeface="Courier New"/>
              </a:rPr>
              <a:t>(a)</a:t>
            </a:r>
          </a:p>
          <a:p>
            <a:pPr lvl="1">
              <a:buFont typeface="Lucida Grande"/>
              <a:buChar char="&gt;"/>
            </a:pPr>
            <a:r>
              <a:rPr lang="en-US" dirty="0" err="1">
                <a:latin typeface="Courier New"/>
                <a:cs typeface="Courier New"/>
              </a:rPr>
              <a:t>aRounded</a:t>
            </a:r>
            <a:r>
              <a:rPr lang="en-US" dirty="0">
                <a:latin typeface="Courier New"/>
                <a:cs typeface="Courier New"/>
              </a:rPr>
              <a:t> = round(a)</a:t>
            </a:r>
          </a:p>
          <a:p>
            <a:endParaRPr lang="en-US" dirty="0"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177087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Matrix calculations: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Since we’re doing calculations </a:t>
            </a:r>
            <a:r>
              <a:rPr lang="en-US" i="1" dirty="0"/>
              <a:t>between</a:t>
            </a:r>
            <a:r>
              <a:rPr lang="en-US" dirty="0"/>
              <a:t> matrices, it probably wouldn’t surprise you to find out that we can do calculations </a:t>
            </a:r>
            <a:r>
              <a:rPr lang="en-US" i="1" dirty="0"/>
              <a:t>within</a:t>
            </a:r>
            <a:r>
              <a:rPr lang="en-US" dirty="0"/>
              <a:t> matrices as well</a:t>
            </a:r>
          </a:p>
          <a:p>
            <a:endParaRPr lang="en-US" dirty="0"/>
          </a:p>
          <a:p>
            <a:r>
              <a:rPr lang="en-US" dirty="0"/>
              <a:t>These include: 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sum(x)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mean(x)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median(x)</a:t>
            </a:r>
          </a:p>
          <a:p>
            <a:pPr lvl="1"/>
            <a:r>
              <a:rPr lang="en-US" dirty="0" err="1">
                <a:latin typeface="Courier New"/>
                <a:cs typeface="Courier New"/>
              </a:rPr>
              <a:t>std</a:t>
            </a:r>
            <a:r>
              <a:rPr lang="en-US" dirty="0">
                <a:latin typeface="Courier New"/>
                <a:cs typeface="Courier New"/>
              </a:rPr>
              <a:t>(x)</a:t>
            </a:r>
          </a:p>
          <a:p>
            <a:pPr lvl="1"/>
            <a:r>
              <a:rPr lang="en-US" dirty="0" err="1">
                <a:latin typeface="Courier New"/>
                <a:cs typeface="Courier New"/>
              </a:rPr>
              <a:t>var</a:t>
            </a:r>
            <a:r>
              <a:rPr lang="en-US" dirty="0">
                <a:latin typeface="Courier New"/>
                <a:cs typeface="Courier New"/>
              </a:rPr>
              <a:t>(x)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min(x)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max(x)</a:t>
            </a:r>
          </a:p>
          <a:p>
            <a:endParaRPr lang="en-US" dirty="0"/>
          </a:p>
          <a:p>
            <a:r>
              <a:rPr lang="en-US" dirty="0"/>
              <a:t>When given a 1 * x array, performs over the array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5861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given an </a:t>
            </a:r>
            <a:r>
              <a:rPr lang="en-US" i="1" dirty="0"/>
              <a:t>r * c </a:t>
            </a:r>
            <a:r>
              <a:rPr lang="en-US" dirty="0"/>
              <a:t>matrix, performs it row by row </a:t>
            </a:r>
          </a:p>
          <a:p>
            <a:endParaRPr lang="en-US" dirty="0"/>
          </a:p>
          <a:p>
            <a:r>
              <a:rPr lang="en-US" dirty="0"/>
              <a:t>Can also specify the dimension (c = 1, 4 = 2) via: </a:t>
            </a:r>
          </a:p>
          <a:p>
            <a:pPr lvl="1"/>
            <a:r>
              <a:rPr lang="en-US" i="1" dirty="0"/>
              <a:t>mean(X,1) or mean(x,2) or mean(</a:t>
            </a:r>
            <a:r>
              <a:rPr lang="en-US" i="1" dirty="0" err="1"/>
              <a:t>x,dim</a:t>
            </a:r>
            <a:r>
              <a:rPr lang="en-US" i="1" dirty="0"/>
              <a:t>)</a:t>
            </a:r>
          </a:p>
          <a:p>
            <a:pPr lvl="1"/>
            <a:endParaRPr lang="en-US" i="1" dirty="0"/>
          </a:p>
          <a:p>
            <a:r>
              <a:rPr lang="en-US" dirty="0"/>
              <a:t>#exercise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4017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useful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need to use other math functions:</a:t>
            </a:r>
          </a:p>
          <a:p>
            <a:endParaRPr lang="en-US" dirty="0"/>
          </a:p>
          <a:p>
            <a:pPr lvl="1"/>
            <a:r>
              <a:rPr lang="en-US" b="1" dirty="0">
                <a:latin typeface="Courier New"/>
                <a:cs typeface="Courier New"/>
              </a:rPr>
              <a:t>rem(</a:t>
            </a:r>
            <a:r>
              <a:rPr lang="en-US" b="1" dirty="0" err="1">
                <a:latin typeface="Courier New"/>
                <a:cs typeface="Courier New"/>
              </a:rPr>
              <a:t>x,y</a:t>
            </a:r>
            <a:r>
              <a:rPr lang="en-US" b="1" dirty="0">
                <a:latin typeface="Courier New"/>
                <a:cs typeface="Courier New"/>
              </a:rPr>
              <a:t>): </a:t>
            </a:r>
            <a:r>
              <a:rPr lang="en-US" dirty="0"/>
              <a:t>gives the remainder of x./y</a:t>
            </a:r>
          </a:p>
          <a:p>
            <a:pPr lvl="1"/>
            <a:endParaRPr lang="en-US" b="1" dirty="0"/>
          </a:p>
          <a:p>
            <a:pPr lvl="1"/>
            <a:r>
              <a:rPr lang="en-US" b="1" dirty="0">
                <a:latin typeface="Courier New"/>
                <a:cs typeface="Courier New"/>
              </a:rPr>
              <a:t>mod(</a:t>
            </a:r>
            <a:r>
              <a:rPr lang="en-US" b="1" dirty="0" err="1">
                <a:latin typeface="Courier New"/>
                <a:cs typeface="Courier New"/>
              </a:rPr>
              <a:t>x,y</a:t>
            </a:r>
            <a:r>
              <a:rPr lang="en-US" b="1" dirty="0">
                <a:latin typeface="Courier New"/>
                <a:cs typeface="Courier New"/>
              </a:rPr>
              <a:t>): </a:t>
            </a:r>
            <a:r>
              <a:rPr lang="en-US" dirty="0"/>
              <a:t>similar to rem (but different)</a:t>
            </a:r>
          </a:p>
          <a:p>
            <a:endParaRPr lang="en-US" b="1" dirty="0"/>
          </a:p>
          <a:p>
            <a:r>
              <a:rPr lang="en-US" dirty="0"/>
              <a:t>#exercise</a:t>
            </a:r>
          </a:p>
        </p:txBody>
      </p:sp>
    </p:spTree>
    <p:extLst>
      <p:ext uri="{BB962C8B-B14F-4D97-AF65-F5344CB8AC3E}">
        <p14:creationId xmlns:p14="http://schemas.microsoft.com/office/powerpoint/2010/main" val="16495151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useful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Often in research you need to randomize numbers:</a:t>
            </a:r>
          </a:p>
          <a:p>
            <a:pPr lvl="1"/>
            <a:r>
              <a:rPr lang="en-US" dirty="0"/>
              <a:t>Trials, stimuli, etc. </a:t>
            </a:r>
          </a:p>
          <a:p>
            <a:pPr lvl="1"/>
            <a:r>
              <a:rPr lang="en-US" dirty="0"/>
              <a:t>Generating data to test analysis </a:t>
            </a:r>
          </a:p>
          <a:p>
            <a:endParaRPr lang="en-US" dirty="0"/>
          </a:p>
          <a:p>
            <a:r>
              <a:rPr lang="en-US" dirty="0"/>
              <a:t>Numerous ways to obtain random numbers in MATLAB</a:t>
            </a:r>
          </a:p>
          <a:p>
            <a:endParaRPr lang="en-US" dirty="0"/>
          </a:p>
          <a:p>
            <a:pPr lvl="1"/>
            <a:r>
              <a:rPr lang="en-US" dirty="0"/>
              <a:t>rand(x): produce x * x uniform random values between 0:1</a:t>
            </a:r>
          </a:p>
          <a:p>
            <a:pPr lvl="1"/>
            <a:r>
              <a:rPr lang="en-US" dirty="0"/>
              <a:t>rand(</a:t>
            </a:r>
            <a:r>
              <a:rPr lang="en-US" dirty="0" err="1"/>
              <a:t>m,n</a:t>
            </a:r>
            <a:r>
              <a:rPr lang="en-US" dirty="0"/>
              <a:t>): produce m * n random values</a:t>
            </a:r>
          </a:p>
          <a:p>
            <a:pPr lvl="1"/>
            <a:r>
              <a:rPr lang="en-US" dirty="0" err="1"/>
              <a:t>randi</a:t>
            </a:r>
            <a:r>
              <a:rPr lang="en-US" dirty="0"/>
              <a:t>(</a:t>
            </a:r>
            <a:r>
              <a:rPr lang="en-US" dirty="0" err="1"/>
              <a:t>nmax,m,n</a:t>
            </a:r>
            <a:r>
              <a:rPr lang="en-US" dirty="0"/>
              <a:t>): produce m * n random integers between 1 and </a:t>
            </a:r>
            <a:r>
              <a:rPr lang="en-US" dirty="0" err="1"/>
              <a:t>nmax</a:t>
            </a:r>
            <a:endParaRPr lang="en-US" dirty="0"/>
          </a:p>
          <a:p>
            <a:pPr lvl="1"/>
            <a:r>
              <a:rPr lang="en-US" dirty="0" err="1"/>
              <a:t>randn</a:t>
            </a:r>
            <a:r>
              <a:rPr lang="en-US" dirty="0"/>
              <a:t>(</a:t>
            </a:r>
            <a:r>
              <a:rPr lang="en-US" dirty="0" err="1"/>
              <a:t>m,n</a:t>
            </a:r>
            <a:r>
              <a:rPr lang="en-US" dirty="0"/>
              <a:t>): produce m * n </a:t>
            </a:r>
            <a:r>
              <a:rPr lang="en-US" b="1" dirty="0"/>
              <a:t>normally distributed</a:t>
            </a:r>
            <a:r>
              <a:rPr lang="en-US" dirty="0"/>
              <a:t> random values</a:t>
            </a:r>
          </a:p>
          <a:p>
            <a:endParaRPr lang="en-US" dirty="0"/>
          </a:p>
          <a:p>
            <a:r>
              <a:rPr lang="en-US" dirty="0"/>
              <a:t>#exercise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0046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useful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Many times you don’t just want random numbers, you want specific numbers in a random order</a:t>
            </a:r>
          </a:p>
          <a:p>
            <a:pPr lvl="1"/>
            <a:r>
              <a:rPr lang="en-US" dirty="0"/>
              <a:t>e.g., use all of 10 stimuli in a random order</a:t>
            </a:r>
          </a:p>
          <a:p>
            <a:endParaRPr lang="en-US" dirty="0"/>
          </a:p>
          <a:p>
            <a:r>
              <a:rPr lang="en-US" dirty="0"/>
              <a:t>Two ways:</a:t>
            </a:r>
          </a:p>
          <a:p>
            <a:pPr lvl="1"/>
            <a:r>
              <a:rPr lang="en-US" dirty="0" err="1">
                <a:latin typeface="Courier New"/>
                <a:cs typeface="Courier New"/>
              </a:rPr>
              <a:t>randperm</a:t>
            </a:r>
            <a:r>
              <a:rPr lang="en-US" dirty="0">
                <a:latin typeface="Courier New"/>
                <a:cs typeface="Courier New"/>
              </a:rPr>
              <a:t>(x)</a:t>
            </a:r>
            <a:r>
              <a:rPr lang="en-US" dirty="0"/>
              <a:t>: produces a matrix of 1:x numbers in a random order</a:t>
            </a:r>
          </a:p>
          <a:p>
            <a:pPr lvl="2"/>
            <a:r>
              <a:rPr lang="en-US" dirty="0" err="1"/>
              <a:t>Randperm</a:t>
            </a:r>
            <a:r>
              <a:rPr lang="en-US" dirty="0"/>
              <a:t>(</a:t>
            </a:r>
            <a:r>
              <a:rPr lang="en-US" dirty="0" err="1"/>
              <a:t>x,K</a:t>
            </a:r>
            <a:r>
              <a:rPr lang="en-US" dirty="0"/>
              <a:t>) produces k values. 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perms([])</a:t>
            </a:r>
            <a:r>
              <a:rPr lang="en-US" dirty="0"/>
              <a:t>: produce </a:t>
            </a:r>
            <a:r>
              <a:rPr lang="en-US" b="1" dirty="0"/>
              <a:t>every </a:t>
            </a:r>
            <a:r>
              <a:rPr lang="en-US" dirty="0"/>
              <a:t>possible combination of the values contained in the matrix</a:t>
            </a:r>
          </a:p>
          <a:p>
            <a:endParaRPr lang="en-US" dirty="0"/>
          </a:p>
          <a:p>
            <a:r>
              <a:rPr lang="en-US" dirty="0"/>
              <a:t>#exercise</a:t>
            </a:r>
          </a:p>
        </p:txBody>
      </p:sp>
    </p:spTree>
    <p:extLst>
      <p:ext uri="{BB962C8B-B14F-4D97-AF65-F5344CB8AC3E}">
        <p14:creationId xmlns:p14="http://schemas.microsoft.com/office/powerpoint/2010/main" val="29393254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note about random numbers (seeding)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all programs, random numbers aren’t truly random. </a:t>
            </a:r>
          </a:p>
          <a:p>
            <a:r>
              <a:rPr lang="en-US" dirty="0"/>
              <a:t>Generally not a problem, except that MATLAB loads a default pseudo-random sequence upon startup</a:t>
            </a:r>
          </a:p>
          <a:p>
            <a:pPr lvl="1"/>
            <a:r>
              <a:rPr lang="en-US" dirty="0"/>
              <a:t>Can do the same with the command </a:t>
            </a:r>
            <a:r>
              <a:rPr lang="en-US" dirty="0" err="1">
                <a:latin typeface="Courier New"/>
                <a:cs typeface="Courier New"/>
              </a:rPr>
              <a:t>rng</a:t>
            </a:r>
            <a:r>
              <a:rPr lang="en-US" dirty="0">
                <a:latin typeface="Courier New"/>
                <a:cs typeface="Courier New"/>
              </a:rPr>
              <a:t>(‘default’)</a:t>
            </a:r>
          </a:p>
          <a:p>
            <a:r>
              <a:rPr lang="en-US" dirty="0">
                <a:cs typeface="Courier New"/>
              </a:rPr>
              <a:t>To avoid this problem, can reset the random number generator using </a:t>
            </a:r>
            <a:r>
              <a:rPr lang="en-US" dirty="0" err="1">
                <a:latin typeface="Courier New"/>
                <a:cs typeface="Courier New"/>
              </a:rPr>
              <a:t>rng</a:t>
            </a:r>
            <a:r>
              <a:rPr lang="en-US" dirty="0">
                <a:latin typeface="Courier New"/>
                <a:cs typeface="Courier New"/>
              </a:rPr>
              <a:t>(‘shuffle’)</a:t>
            </a:r>
          </a:p>
          <a:p>
            <a:r>
              <a:rPr lang="en-US" dirty="0">
                <a:cs typeface="Courier New"/>
              </a:rPr>
              <a:t>Also, can SEED random numbers to a particular value. e.g.: </a:t>
            </a:r>
            <a:r>
              <a:rPr lang="en-US" dirty="0" err="1">
                <a:latin typeface="Courier New"/>
                <a:cs typeface="Courier New"/>
              </a:rPr>
              <a:t>rng</a:t>
            </a:r>
            <a:r>
              <a:rPr lang="en-US" dirty="0">
                <a:latin typeface="Courier New"/>
                <a:cs typeface="Courier New"/>
              </a:rPr>
              <a:t>(10);</a:t>
            </a:r>
          </a:p>
          <a:p>
            <a:pPr lvl="1"/>
            <a:r>
              <a:rPr lang="en-US" dirty="0">
                <a:cs typeface="Courier New"/>
              </a:rPr>
              <a:t>This can  be useful if you want to tie it to a particular subject (for reproducing errors)</a:t>
            </a:r>
          </a:p>
        </p:txBody>
      </p:sp>
    </p:spTree>
    <p:extLst>
      <p:ext uri="{BB962C8B-B14F-4D97-AF65-F5344CB8AC3E}">
        <p14:creationId xmlns:p14="http://schemas.microsoft.com/office/powerpoint/2010/main" val="26566779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Imaginary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One other thing that may come up in matrix calculations are imaginary numbers</a:t>
            </a:r>
          </a:p>
          <a:p>
            <a:pPr lvl="1">
              <a:buFont typeface="Lucida Grande"/>
              <a:buChar char="&gt;"/>
            </a:pPr>
            <a:r>
              <a:rPr lang="fr-FR" dirty="0">
                <a:latin typeface="Courier New"/>
                <a:cs typeface="Courier New"/>
              </a:rPr>
              <a:t>a = </a:t>
            </a:r>
            <a:r>
              <a:rPr lang="fr-FR" dirty="0" err="1">
                <a:latin typeface="Courier New"/>
                <a:cs typeface="Courier New"/>
              </a:rPr>
              <a:t>sqrt</a:t>
            </a:r>
            <a:r>
              <a:rPr lang="fr-FR" dirty="0">
                <a:latin typeface="Courier New"/>
                <a:cs typeface="Courier New"/>
              </a:rPr>
              <a:t>(-1)</a:t>
            </a:r>
          </a:p>
          <a:p>
            <a:pPr lvl="1">
              <a:buFont typeface="Lucida Grande"/>
              <a:buChar char="&gt;"/>
            </a:pPr>
            <a:r>
              <a:rPr lang="fr-FR" dirty="0">
                <a:latin typeface="Courier New"/>
                <a:cs typeface="Courier New"/>
              </a:rPr>
              <a:t>a =</a:t>
            </a:r>
          </a:p>
          <a:p>
            <a:pPr lvl="1">
              <a:buFont typeface="Lucida Grande"/>
              <a:buChar char="&gt;"/>
            </a:pPr>
            <a:r>
              <a:rPr lang="fr-FR" dirty="0">
                <a:latin typeface="Courier New"/>
                <a:cs typeface="Courier New"/>
              </a:rPr>
              <a:t>   0.0000 + 1.0000i</a:t>
            </a:r>
          </a:p>
          <a:p>
            <a:endParaRPr lang="fr-FR" dirty="0">
              <a:latin typeface="Courier New"/>
              <a:cs typeface="Courier New"/>
            </a:endParaRPr>
          </a:p>
          <a:p>
            <a:r>
              <a:rPr lang="fr-FR" dirty="0" err="1">
                <a:cs typeface="Courier New"/>
              </a:rPr>
              <a:t>Complex</a:t>
            </a:r>
            <a:r>
              <a:rPr lang="fr-FR" dirty="0">
                <a:cs typeface="Courier New"/>
              </a:rPr>
              <a:t> double </a:t>
            </a:r>
            <a:r>
              <a:rPr lang="fr-FR" dirty="0" err="1">
                <a:cs typeface="Courier New"/>
              </a:rPr>
              <a:t>that</a:t>
            </a:r>
            <a:r>
              <a:rPr lang="fr-FR" dirty="0">
                <a:cs typeface="Courier New"/>
              </a:rPr>
              <a:t> </a:t>
            </a:r>
            <a:r>
              <a:rPr lang="fr-FR" dirty="0" err="1">
                <a:cs typeface="Courier New"/>
              </a:rPr>
              <a:t>contains</a:t>
            </a:r>
            <a:r>
              <a:rPr lang="fr-FR" dirty="0">
                <a:cs typeface="Courier New"/>
              </a:rPr>
              <a:t> </a:t>
            </a:r>
            <a:r>
              <a:rPr lang="fr-FR" dirty="0" err="1">
                <a:cs typeface="Courier New"/>
              </a:rPr>
              <a:t>two</a:t>
            </a:r>
            <a:r>
              <a:rPr lang="fr-FR" dirty="0">
                <a:cs typeface="Courier New"/>
              </a:rPr>
              <a:t> values</a:t>
            </a:r>
          </a:p>
          <a:p>
            <a:r>
              <a:rPr lang="en-US" dirty="0">
                <a:cs typeface="Courier New"/>
              </a:rPr>
              <a:t>Can think of it as a special notation</a:t>
            </a:r>
          </a:p>
          <a:p>
            <a:pPr lvl="1"/>
            <a:r>
              <a:rPr lang="en-US" dirty="0">
                <a:cs typeface="Courier New"/>
              </a:rPr>
              <a:t>Can represent a point in a plane with one complex number (one real, one imaginary)</a:t>
            </a:r>
          </a:p>
        </p:txBody>
      </p:sp>
    </p:spTree>
    <p:extLst>
      <p:ext uri="{BB962C8B-B14F-4D97-AF65-F5344CB8AC3E}">
        <p14:creationId xmlns:p14="http://schemas.microsoft.com/office/powerpoint/2010/main" val="370869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14669</TotalTime>
  <Words>3578</Words>
  <Application>Microsoft Macintosh PowerPoint</Application>
  <PresentationFormat>Widescreen</PresentationFormat>
  <Paragraphs>572</Paragraphs>
  <Slides>64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Arial</vt:lpstr>
      <vt:lpstr>Calibri</vt:lpstr>
      <vt:lpstr>Courier New</vt:lpstr>
      <vt:lpstr>Lucida Grande</vt:lpstr>
      <vt:lpstr>Wingdings</vt:lpstr>
      <vt:lpstr>Office Theme</vt:lpstr>
      <vt:lpstr>9. Introduction to MATLAB</vt:lpstr>
      <vt:lpstr>The matlab environment</vt:lpstr>
      <vt:lpstr>The Desktop</vt:lpstr>
      <vt:lpstr>The Command Window</vt:lpstr>
      <vt:lpstr>The working directory</vt:lpstr>
      <vt:lpstr>The working directory</vt:lpstr>
      <vt:lpstr>The Path</vt:lpstr>
      <vt:lpstr>1. Set Path (GUI)</vt:lpstr>
      <vt:lpstr>PowerPoint Presentation</vt:lpstr>
      <vt:lpstr>2. Set Path (command)</vt:lpstr>
      <vt:lpstr>3. Set Path (startup.m)</vt:lpstr>
      <vt:lpstr>startup.m</vt:lpstr>
      <vt:lpstr>Emrich’s Tips</vt:lpstr>
      <vt:lpstr>Current Folder Window</vt:lpstr>
      <vt:lpstr>Current Folder Window</vt:lpstr>
      <vt:lpstr>Workspace</vt:lpstr>
      <vt:lpstr>The Workspace</vt:lpstr>
      <vt:lpstr>Command History &amp; Layout</vt:lpstr>
      <vt:lpstr>Command History</vt:lpstr>
      <vt:lpstr>Other Desktop Things</vt:lpstr>
      <vt:lpstr>MATLAB File Types</vt:lpstr>
      <vt:lpstr>m-files</vt:lpstr>
      <vt:lpstr>Key differences between matlab and python</vt:lpstr>
      <vt:lpstr>Key Differences</vt:lpstr>
      <vt:lpstr>Variables</vt:lpstr>
      <vt:lpstr>Vectors and Matrices</vt:lpstr>
      <vt:lpstr>Defining Vectors</vt:lpstr>
      <vt:lpstr>Vectors</vt:lpstr>
      <vt:lpstr>Making variables</vt:lpstr>
      <vt:lpstr>Making/removing variables</vt:lpstr>
      <vt:lpstr>Vectors</vt:lpstr>
      <vt:lpstr>Matrix</vt:lpstr>
      <vt:lpstr>Matrix</vt:lpstr>
      <vt:lpstr>Indexing Vectors and Matrices</vt:lpstr>
      <vt:lpstr>Vectors and Matrices</vt:lpstr>
      <vt:lpstr>The Colon (:)</vt:lpstr>
      <vt:lpstr>The Colon (:)</vt:lpstr>
      <vt:lpstr>Other useful stuff</vt:lpstr>
      <vt:lpstr>Matrix Transpose</vt:lpstr>
      <vt:lpstr>Matrix Transpose</vt:lpstr>
      <vt:lpstr>Combining variables</vt:lpstr>
      <vt:lpstr>Concatenating Matrices</vt:lpstr>
      <vt:lpstr>Reshaping Matrices</vt:lpstr>
      <vt:lpstr>Reshaping Matrices</vt:lpstr>
      <vt:lpstr>Deleting items</vt:lpstr>
      <vt:lpstr>Pre-Allocating Matrices</vt:lpstr>
      <vt:lpstr>Other “fun” tricks</vt:lpstr>
      <vt:lpstr>Saving &amp; Loading Variables</vt:lpstr>
      <vt:lpstr>Saving &amp; Loading Variables</vt:lpstr>
      <vt:lpstr>Saving and Loading Variables</vt:lpstr>
      <vt:lpstr>NaN vs Empty Values</vt:lpstr>
      <vt:lpstr>Matrix operations</vt:lpstr>
      <vt:lpstr>Matrix operations</vt:lpstr>
      <vt:lpstr>Matrix operations</vt:lpstr>
      <vt:lpstr>PowerPoint Presentation</vt:lpstr>
      <vt:lpstr>Matrix operations</vt:lpstr>
      <vt:lpstr>Matrix operations</vt:lpstr>
      <vt:lpstr>Matrix calculations: </vt:lpstr>
      <vt:lpstr>Matrix calculations</vt:lpstr>
      <vt:lpstr>Other useful functions</vt:lpstr>
      <vt:lpstr>Other useful functions</vt:lpstr>
      <vt:lpstr>Other useful functions</vt:lpstr>
      <vt:lpstr>A note about random numbers (seeding)</vt:lpstr>
      <vt:lpstr>Imaginary numbers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</dc:creator>
  <cp:lastModifiedBy>Stephen Emrich</cp:lastModifiedBy>
  <cp:revision>34</cp:revision>
  <dcterms:created xsi:type="dcterms:W3CDTF">2015-12-30T18:28:15Z</dcterms:created>
  <dcterms:modified xsi:type="dcterms:W3CDTF">2025-11-19T16:55:52Z</dcterms:modified>
</cp:coreProperties>
</file>