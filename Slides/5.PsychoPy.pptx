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57" r:id="rId4"/>
    <p:sldId id="259" r:id="rId5"/>
    <p:sldId id="283" r:id="rId6"/>
    <p:sldId id="260" r:id="rId7"/>
    <p:sldId id="261" r:id="rId8"/>
    <p:sldId id="282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66" r:id="rId18"/>
    <p:sldId id="271" r:id="rId19"/>
    <p:sldId id="272" r:id="rId20"/>
    <p:sldId id="273" r:id="rId21"/>
    <p:sldId id="274" r:id="rId22"/>
    <p:sldId id="284" r:id="rId23"/>
    <p:sldId id="275" r:id="rId24"/>
    <p:sldId id="276" r:id="rId25"/>
    <p:sldId id="277" r:id="rId26"/>
    <p:sldId id="285" r:id="rId27"/>
    <p:sldId id="278" r:id="rId28"/>
    <p:sldId id="279" r:id="rId29"/>
    <p:sldId id="280" r:id="rId30"/>
    <p:sldId id="28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6"/>
    <p:restoredTop sz="96028"/>
  </p:normalViewPr>
  <p:slideViewPr>
    <p:cSldViewPr snapToGrid="0" snapToObjects="1">
      <p:cViewPr varScale="1">
        <p:scale>
          <a:sx n="106" d="100"/>
          <a:sy n="106" d="100"/>
        </p:scale>
        <p:origin x="208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Emrich" userId="e6abd74e-3da0-4635-b6e2-0dc330156f74" providerId="ADAL" clId="{B0EC0631-10BB-354B-81DE-013B8A6F5A3F}"/>
    <pc:docChg chg="modSld">
      <pc:chgData name="Stephen Emrich" userId="e6abd74e-3da0-4635-b6e2-0dc330156f74" providerId="ADAL" clId="{B0EC0631-10BB-354B-81DE-013B8A6F5A3F}" dt="2023-11-13T15:13:20.244" v="0" actId="1076"/>
      <pc:docMkLst>
        <pc:docMk/>
      </pc:docMkLst>
      <pc:sldChg chg="modSp mod">
        <pc:chgData name="Stephen Emrich" userId="e6abd74e-3da0-4635-b6e2-0dc330156f74" providerId="ADAL" clId="{B0EC0631-10BB-354B-81DE-013B8A6F5A3F}" dt="2023-11-13T15:13:20.244" v="0" actId="1076"/>
        <pc:sldMkLst>
          <pc:docMk/>
          <pc:sldMk cId="1261620370" sldId="276"/>
        </pc:sldMkLst>
      </pc:sldChg>
    </pc:docChg>
  </pc:docChgLst>
  <pc:docChgLst>
    <pc:chgData name="Stephen Emrich" userId="e6abd74e-3da0-4635-b6e2-0dc330156f74" providerId="ADAL" clId="{04485D0D-3B29-064D-A81E-BFA44F44B3BA}"/>
    <pc:docChg chg="undo custSel addSld modSld">
      <pc:chgData name="Stephen Emrich" userId="e6abd74e-3da0-4635-b6e2-0dc330156f74" providerId="ADAL" clId="{04485D0D-3B29-064D-A81E-BFA44F44B3BA}" dt="2025-08-12T20:01:47.791" v="925" actId="20577"/>
      <pc:docMkLst>
        <pc:docMk/>
      </pc:docMkLst>
      <pc:sldChg chg="modSp mod">
        <pc:chgData name="Stephen Emrich" userId="e6abd74e-3da0-4635-b6e2-0dc330156f74" providerId="ADAL" clId="{04485D0D-3B29-064D-A81E-BFA44F44B3BA}" dt="2025-08-12T20:00:17.069" v="918" actId="27636"/>
        <pc:sldMkLst>
          <pc:docMk/>
          <pc:sldMk cId="2190088464" sldId="256"/>
        </pc:sldMkLst>
      </pc:sldChg>
      <pc:sldChg chg="modSp mod">
        <pc:chgData name="Stephen Emrich" userId="e6abd74e-3da0-4635-b6e2-0dc330156f74" providerId="ADAL" clId="{04485D0D-3B29-064D-A81E-BFA44F44B3BA}" dt="2025-08-12T20:01:47.791" v="925" actId="20577"/>
        <pc:sldMkLst>
          <pc:docMk/>
          <pc:sldMk cId="943649288" sldId="258"/>
        </pc:sldMkLst>
      </pc:sldChg>
      <pc:sldChg chg="modSp mod">
        <pc:chgData name="Stephen Emrich" userId="e6abd74e-3da0-4635-b6e2-0dc330156f74" providerId="ADAL" clId="{04485D0D-3B29-064D-A81E-BFA44F44B3BA}" dt="2025-08-12T16:17:57.347" v="476" actId="20577"/>
        <pc:sldMkLst>
          <pc:docMk/>
          <pc:sldMk cId="1589964017" sldId="262"/>
        </pc:sldMkLst>
      </pc:sldChg>
      <pc:sldChg chg="modSp mod">
        <pc:chgData name="Stephen Emrich" userId="e6abd74e-3da0-4635-b6e2-0dc330156f74" providerId="ADAL" clId="{04485D0D-3B29-064D-A81E-BFA44F44B3BA}" dt="2025-08-12T19:23:30.796" v="555" actId="20577"/>
        <pc:sldMkLst>
          <pc:docMk/>
          <pc:sldMk cId="1004073773" sldId="265"/>
        </pc:sldMkLst>
      </pc:sldChg>
      <pc:sldChg chg="mod modShow">
        <pc:chgData name="Stephen Emrich" userId="e6abd74e-3da0-4635-b6e2-0dc330156f74" providerId="ADAL" clId="{04485D0D-3B29-064D-A81E-BFA44F44B3BA}" dt="2025-08-12T19:28:28.789" v="556" actId="729"/>
        <pc:sldMkLst>
          <pc:docMk/>
          <pc:sldMk cId="444635218" sldId="275"/>
        </pc:sldMkLst>
      </pc:sldChg>
      <pc:sldChg chg="delSp modSp mod">
        <pc:chgData name="Stephen Emrich" userId="e6abd74e-3da0-4635-b6e2-0dc330156f74" providerId="ADAL" clId="{04485D0D-3B29-064D-A81E-BFA44F44B3BA}" dt="2025-08-12T19:59:11.172" v="902" actId="20577"/>
        <pc:sldMkLst>
          <pc:docMk/>
          <pc:sldMk cId="905475057" sldId="277"/>
        </pc:sldMkLst>
      </pc:sldChg>
      <pc:sldChg chg="modSp new mod modNotesTx">
        <pc:chgData name="Stephen Emrich" userId="e6abd74e-3da0-4635-b6e2-0dc330156f74" providerId="ADAL" clId="{04485D0D-3B29-064D-A81E-BFA44F44B3BA}" dt="2025-08-12T19:11:03.735" v="481" actId="20577"/>
        <pc:sldMkLst>
          <pc:docMk/>
          <pc:sldMk cId="2406472479" sldId="282"/>
        </pc:sldMkLst>
      </pc:sldChg>
      <pc:sldChg chg="addSp modSp new mod">
        <pc:chgData name="Stephen Emrich" userId="e6abd74e-3da0-4635-b6e2-0dc330156f74" providerId="ADAL" clId="{04485D0D-3B29-064D-A81E-BFA44F44B3BA}" dt="2025-08-12T19:16:53.771" v="536" actId="14100"/>
        <pc:sldMkLst>
          <pc:docMk/>
          <pc:sldMk cId="837897173" sldId="283"/>
        </pc:sldMkLst>
      </pc:sldChg>
      <pc:sldChg chg="modSp new mod">
        <pc:chgData name="Stephen Emrich" userId="e6abd74e-3da0-4635-b6e2-0dc330156f74" providerId="ADAL" clId="{04485D0D-3B29-064D-A81E-BFA44F44B3BA}" dt="2025-08-12T19:41:37.746" v="873" actId="20577"/>
        <pc:sldMkLst>
          <pc:docMk/>
          <pc:sldMk cId="2990144507" sldId="284"/>
        </pc:sldMkLst>
      </pc:sldChg>
    </pc:docChg>
  </pc:docChgLst>
  <pc:docChgLst>
    <pc:chgData name="Stephen Emrich" userId="e6abd74e-3da0-4635-b6e2-0dc330156f74" providerId="ADAL" clId="{E6D15754-9A9E-5308-9947-0AAFEAAF9F3D}"/>
    <pc:docChg chg="custSel addSld modSld sldOrd">
      <pc:chgData name="Stephen Emrich" userId="e6abd74e-3da0-4635-b6e2-0dc330156f74" providerId="ADAL" clId="{E6D15754-9A9E-5308-9947-0AAFEAAF9F3D}" dt="2025-10-02T16:57:03.440" v="410" actId="2711"/>
      <pc:docMkLst>
        <pc:docMk/>
      </pc:docMkLst>
      <pc:sldChg chg="mod modShow">
        <pc:chgData name="Stephen Emrich" userId="e6abd74e-3da0-4635-b6e2-0dc330156f74" providerId="ADAL" clId="{E6D15754-9A9E-5308-9947-0AAFEAAF9F3D}" dt="2025-10-02T16:42:48.641" v="8" actId="729"/>
        <pc:sldMkLst>
          <pc:docMk/>
          <pc:sldMk cId="444635218" sldId="275"/>
        </pc:sldMkLst>
      </pc:sldChg>
      <pc:sldChg chg="modSp mod">
        <pc:chgData name="Stephen Emrich" userId="e6abd74e-3da0-4635-b6e2-0dc330156f74" providerId="ADAL" clId="{E6D15754-9A9E-5308-9947-0AAFEAAF9F3D}" dt="2025-10-02T15:59:22.281" v="2" actId="20577"/>
        <pc:sldMkLst>
          <pc:docMk/>
          <pc:sldMk cId="1261620370" sldId="276"/>
        </pc:sldMkLst>
        <pc:spChg chg="mod">
          <ac:chgData name="Stephen Emrich" userId="e6abd74e-3da0-4635-b6e2-0dc330156f74" providerId="ADAL" clId="{E6D15754-9A9E-5308-9947-0AAFEAAF9F3D}" dt="2025-10-02T15:59:22.281" v="2" actId="20577"/>
          <ac:spMkLst>
            <pc:docMk/>
            <pc:sldMk cId="1261620370" sldId="276"/>
            <ac:spMk id="3" creationId="{9D4C942B-82AE-9C42-8ADD-A041C3E1C966}"/>
          </ac:spMkLst>
        </pc:spChg>
      </pc:sldChg>
      <pc:sldChg chg="modSp mod">
        <pc:chgData name="Stephen Emrich" userId="e6abd74e-3da0-4635-b6e2-0dc330156f74" providerId="ADAL" clId="{E6D15754-9A9E-5308-9947-0AAFEAAF9F3D}" dt="2025-10-02T15:59:28.782" v="6" actId="20577"/>
        <pc:sldMkLst>
          <pc:docMk/>
          <pc:sldMk cId="905475057" sldId="277"/>
        </pc:sldMkLst>
        <pc:spChg chg="mod">
          <ac:chgData name="Stephen Emrich" userId="e6abd74e-3da0-4635-b6e2-0dc330156f74" providerId="ADAL" clId="{E6D15754-9A9E-5308-9947-0AAFEAAF9F3D}" dt="2025-10-02T15:59:28.782" v="6" actId="20577"/>
          <ac:spMkLst>
            <pc:docMk/>
            <pc:sldMk cId="905475057" sldId="277"/>
            <ac:spMk id="3" creationId="{CE978541-BF20-9646-B68B-1B5762158069}"/>
          </ac:spMkLst>
        </pc:spChg>
      </pc:sldChg>
      <pc:sldChg chg="modSp mod">
        <pc:chgData name="Stephen Emrich" userId="e6abd74e-3da0-4635-b6e2-0dc330156f74" providerId="ADAL" clId="{E6D15754-9A9E-5308-9947-0AAFEAAF9F3D}" dt="2025-10-02T16:43:04.736" v="9" actId="20577"/>
        <pc:sldMkLst>
          <pc:docMk/>
          <pc:sldMk cId="2467046250" sldId="278"/>
        </pc:sldMkLst>
        <pc:spChg chg="mod">
          <ac:chgData name="Stephen Emrich" userId="e6abd74e-3da0-4635-b6e2-0dc330156f74" providerId="ADAL" clId="{E6D15754-9A9E-5308-9947-0AAFEAAF9F3D}" dt="2025-10-02T16:43:04.736" v="9" actId="20577"/>
          <ac:spMkLst>
            <pc:docMk/>
            <pc:sldMk cId="2467046250" sldId="278"/>
            <ac:spMk id="3" creationId="{7A3521A2-672C-4B40-B4AC-3CAA659BE88F}"/>
          </ac:spMkLst>
        </pc:spChg>
      </pc:sldChg>
      <pc:sldChg chg="modSp mod">
        <pc:chgData name="Stephen Emrich" userId="e6abd74e-3da0-4635-b6e2-0dc330156f74" providerId="ADAL" clId="{E6D15754-9A9E-5308-9947-0AAFEAAF9F3D}" dt="2025-10-02T16:43:09.564" v="10" actId="20577"/>
        <pc:sldMkLst>
          <pc:docMk/>
          <pc:sldMk cId="1533734875" sldId="279"/>
        </pc:sldMkLst>
        <pc:spChg chg="mod">
          <ac:chgData name="Stephen Emrich" userId="e6abd74e-3da0-4635-b6e2-0dc330156f74" providerId="ADAL" clId="{E6D15754-9A9E-5308-9947-0AAFEAAF9F3D}" dt="2025-10-02T16:43:09.564" v="10" actId="20577"/>
          <ac:spMkLst>
            <pc:docMk/>
            <pc:sldMk cId="1533734875" sldId="279"/>
            <ac:spMk id="3" creationId="{7A3521A2-672C-4B40-B4AC-3CAA659BE88F}"/>
          </ac:spMkLst>
        </pc:spChg>
      </pc:sldChg>
      <pc:sldChg chg="modSp new mod ord">
        <pc:chgData name="Stephen Emrich" userId="e6abd74e-3da0-4635-b6e2-0dc330156f74" providerId="ADAL" clId="{E6D15754-9A9E-5308-9947-0AAFEAAF9F3D}" dt="2025-10-02T16:57:03.440" v="410" actId="2711"/>
        <pc:sldMkLst>
          <pc:docMk/>
          <pc:sldMk cId="669036916" sldId="285"/>
        </pc:sldMkLst>
        <pc:spChg chg="mod">
          <ac:chgData name="Stephen Emrich" userId="e6abd74e-3da0-4635-b6e2-0dc330156f74" providerId="ADAL" clId="{E6D15754-9A9E-5308-9947-0AAFEAAF9F3D}" dt="2025-10-02T16:50:29.079" v="24" actId="20577"/>
          <ac:spMkLst>
            <pc:docMk/>
            <pc:sldMk cId="669036916" sldId="285"/>
            <ac:spMk id="2" creationId="{2435FCDF-632B-3F88-D237-670648802F55}"/>
          </ac:spMkLst>
        </pc:spChg>
        <pc:spChg chg="mod">
          <ac:chgData name="Stephen Emrich" userId="e6abd74e-3da0-4635-b6e2-0dc330156f74" providerId="ADAL" clId="{E6D15754-9A9E-5308-9947-0AAFEAAF9F3D}" dt="2025-10-02T16:57:03.440" v="410" actId="2711"/>
          <ac:spMkLst>
            <pc:docMk/>
            <pc:sldMk cId="669036916" sldId="285"/>
            <ac:spMk id="3" creationId="{79C8599C-98AA-D6F6-8F7A-637756B851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85AA7-4F78-E64E-BC6A-7FE9D1E7D216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6E3F8-09AF-4E45-B9F2-C0AF4B523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69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		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6E3F8-09AF-4E45-B9F2-C0AF4B5230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7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BF98-3692-AC40-BD46-D569A8B636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B7A96-41FA-4641-9B4D-FF6EDB7DB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1AEC2-AE3F-7647-AEAF-215072D75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90D6-EB44-4646-933D-F41014260A06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2893D-DEBF-034C-8CF7-E11BCC309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1B8D1-AE1B-5F4B-94A2-630836212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6935-D9E2-9345-AE9F-0CDEBD40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87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26780-CC27-4E41-BC72-95BBA3982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BD7BF-313D-F54A-945B-A1BE5B491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1338B-6284-414F-BE5A-EA95D84EC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90D6-EB44-4646-933D-F41014260A06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2B7FF-7B38-D343-BCD8-54FE071FB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4459F-36F0-0640-9737-CF0898A2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6935-D9E2-9345-AE9F-0CDEBD40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9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2F0F1-8502-E24F-A877-4048FC2DF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37CA2-83A1-6F47-B20A-496D0DA03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D0A03-70E3-C543-96B8-91BE8DDD9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90D6-EB44-4646-933D-F41014260A06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E0CC0-43EB-FE42-A81B-D5A102367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D34E3-3184-EE41-B83A-7808D6733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6935-D9E2-9345-AE9F-0CDEBD40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08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24577-9E1D-7C4D-AB9E-F8C33A7F9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0462B-7B7A-E249-9829-B9369DCD9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8945CC-C3B3-2D45-B75C-5CA7C451C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9288D-0EA2-4442-B546-B23B4FA38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90D6-EB44-4646-933D-F41014260A06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204A1-FA14-1D47-A5F2-1BB8291CC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31375-5160-624E-B778-B29AF0A4F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6935-D9E2-9345-AE9F-0CDEBD40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452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30073-355F-7C42-8988-DE35E87B4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04F7B-B842-2046-9385-1CFE9682C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195FB-F166-C141-8DB2-71E44F1DD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BD0294-6AF9-8F4D-B3F6-602B41957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4C712E-A192-8D43-9B1D-58918DEA4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FF2C58-3A7D-2448-B32D-F70A9CE54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90D6-EB44-4646-933D-F41014260A06}" type="datetimeFigureOut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0BDFD5-31CD-1844-AF13-EC2CDB0A4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F9073A-361A-9D4D-87A1-C8242250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6935-D9E2-9345-AE9F-0CDEBD40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96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2C7E-417A-7341-B91A-0432CF9A4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E69645-BA62-4249-A106-C9E283AF6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90D6-EB44-4646-933D-F41014260A06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6151C4-B193-2846-ADAB-AB4CB8F71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8186E-6010-FC48-8975-4883D30E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6935-D9E2-9345-AE9F-0CDEBD40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60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3602C-9504-824C-81A4-97FEC97F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90D6-EB44-4646-933D-F41014260A06}" type="datetimeFigureOut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54383-27F2-4445-A89A-500D0CD5D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DCC98-15E6-AF48-B326-D149283A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6935-D9E2-9345-AE9F-0CDEBD40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9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AEF6F-DAFF-864E-89E1-11FE17E6C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23531-DB12-5B4B-AAB2-B4F0087F4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10087-0672-1548-B845-4CD056F10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E0365-AA28-B842-9338-8457EC5E1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90D6-EB44-4646-933D-F41014260A06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EB31C-A606-F246-A1F9-273078F2A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EC4D-47FC-4C43-A7B5-4BC1EE409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6935-D9E2-9345-AE9F-0CDEBD40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69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CE9FE-1F4F-E841-953B-CD1FE83C8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2A1A3-39FE-7F44-AFD4-39EBAAAB5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27AEA-2E81-A843-A853-3329F3A90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86EE4-45B2-F748-8C3E-E7BF49923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90D6-EB44-4646-933D-F41014260A06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960C1-A7DD-9D4C-AE98-4E9E036C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AEC0B-7335-4045-952F-211B6B20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6935-D9E2-9345-AE9F-0CDEBD40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0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9703-C1C8-CA41-ADE1-45A8D8645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DDAE0F-92A1-F143-B897-3E36D4A7F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261B5-0D01-AD4B-A0CC-F27EA0356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90D6-EB44-4646-933D-F41014260A06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C2C97-6755-434B-8881-B91EFDBC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86D6D-9BA4-6947-8468-911781CB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6935-D9E2-9345-AE9F-0CDEBD40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27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FE554B-4996-8246-A3EE-B809B5CCD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CD27D-98B0-F045-84BF-67DB384BD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24733-816C-4C46-88A5-06DFA5CA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E90D6-EB44-4646-933D-F41014260A06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52D37-78F5-D14F-9918-79A638BDC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04D57-315D-0B4C-BA4E-59BAAF02F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6935-D9E2-9345-AE9F-0CDEBD40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62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D4F445-9013-524F-81C3-3DF537B6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A4241-16A5-724B-A0C5-638D78CAF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637C6-79A8-7F47-971B-A18353E196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E90D6-EB44-4646-933D-F41014260A06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9869A-9AD5-0742-B930-546F646AF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4E2EE-91B9-9F4F-911C-B6D2D0C80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86935-D9E2-9345-AE9F-0CDEBD40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86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Building-Experiments-PsychoPy-Jonathan-Peirce/dp/1473991390" TargetMode="External"/><Relationship Id="rId2" Type="http://schemas.openxmlformats.org/officeDocument/2006/relationships/hyperlink" Target="https://dx.doi.org/10.3758/s13428-018-01193-y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j.jneumeth.2006.11.017" TargetMode="External"/><Relationship Id="rId4" Type="http://schemas.openxmlformats.org/officeDocument/2006/relationships/hyperlink" Target="https://doi.org/10.3389/neuro.11.010.2008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sychopy.org/py-modindex.html#cap-p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33023-F7E6-EE4C-836D-726878BFE4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 Programming Laboratory Experiments in </a:t>
            </a:r>
            <a:r>
              <a:rPr lang="en-US" dirty="0" err="1"/>
              <a:t>PsychoPy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7242F-2F67-394A-836D-4224249F92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PSYC 5P02</a:t>
            </a:r>
          </a:p>
          <a:p>
            <a:r>
              <a:rPr lang="en-US" dirty="0"/>
              <a:t>Computer Programming for Experimental Psychology</a:t>
            </a:r>
          </a:p>
          <a:p>
            <a:r>
              <a:rPr lang="en-US" dirty="0"/>
              <a:t>Stephen </a:t>
            </a:r>
            <a:r>
              <a:rPr lang="en-US" dirty="0" err="1"/>
              <a:t>Emrich</a:t>
            </a:r>
            <a:endParaRPr lang="en-US" dirty="0"/>
          </a:p>
          <a:p>
            <a:r>
              <a:rPr lang="en-US" dirty="0"/>
              <a:t>Brock University</a:t>
            </a:r>
          </a:p>
        </p:txBody>
      </p:sp>
    </p:spTree>
    <p:extLst>
      <p:ext uri="{BB962C8B-B14F-4D97-AF65-F5344CB8AC3E}">
        <p14:creationId xmlns:p14="http://schemas.microsoft.com/office/powerpoint/2010/main" val="219008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0444D-9B13-5547-A647-DD9EC9A2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PsychoPy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620BE-013C-7242-AC40-C5341BF0C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Python + OpenGL (graphics language) based tool for programming experiments and visual stimuli</a:t>
            </a:r>
          </a:p>
          <a:p>
            <a:pPr lvl="1"/>
            <a:r>
              <a:rPr lang="en-US" dirty="0"/>
              <a:t>Open = large userbase and contributions</a:t>
            </a:r>
          </a:p>
          <a:p>
            <a:pPr lvl="1"/>
            <a:endParaRPr lang="en-US" dirty="0"/>
          </a:p>
          <a:p>
            <a:r>
              <a:rPr lang="en-US" dirty="0"/>
              <a:t>Contains builder (GUI) and coder modes</a:t>
            </a:r>
          </a:p>
          <a:p>
            <a:pPr lvl="1"/>
            <a:r>
              <a:rPr lang="en-US" dirty="0"/>
              <a:t>Builder mode creates experiments suitable for converting to online-experiments using </a:t>
            </a:r>
            <a:r>
              <a:rPr lang="en-US" dirty="0" err="1"/>
              <a:t>PsychoJS</a:t>
            </a:r>
            <a:r>
              <a:rPr lang="en-US" dirty="0"/>
              <a:t> (Java Script)</a:t>
            </a:r>
          </a:p>
          <a:p>
            <a:endParaRPr lang="en-US" dirty="0"/>
          </a:p>
          <a:p>
            <a:r>
              <a:rPr lang="en-US" dirty="0"/>
              <a:t>Compatible with a range of hardware (EEG, fMRI, eye-tracking) </a:t>
            </a:r>
          </a:p>
          <a:p>
            <a:endParaRPr lang="en-US" dirty="0"/>
          </a:p>
          <a:p>
            <a:r>
              <a:rPr lang="en-US" dirty="0"/>
              <a:t>Excellent timing control</a:t>
            </a:r>
          </a:p>
          <a:p>
            <a:endParaRPr lang="en-US" dirty="0"/>
          </a:p>
          <a:p>
            <a:r>
              <a:rPr lang="en-US" dirty="0"/>
              <a:t>Based (loosely) on the MATLAB </a:t>
            </a:r>
            <a:r>
              <a:rPr lang="en-US" dirty="0" err="1"/>
              <a:t>PsychToolBox</a:t>
            </a:r>
            <a:r>
              <a:rPr lang="en-US" dirty="0"/>
              <a:t> (PTB) - but in Python!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649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9BC3A-B16C-8145-B1CE-D48CD563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PsychoPy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6E666-1510-EF44-BE17-45C739493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Peirce, J. W., Gray, J. R., Simpson, S., MacAskill, M. R., </a:t>
            </a:r>
            <a:r>
              <a:rPr lang="en-CA" dirty="0" err="1"/>
              <a:t>Höchenberger</a:t>
            </a:r>
            <a:r>
              <a:rPr lang="en-CA" dirty="0"/>
              <a:t>, R., Sogo, H., </a:t>
            </a:r>
            <a:r>
              <a:rPr lang="en-CA" dirty="0" err="1"/>
              <a:t>Kastman</a:t>
            </a:r>
            <a:r>
              <a:rPr lang="en-CA" dirty="0"/>
              <a:t>, E., </a:t>
            </a:r>
            <a:r>
              <a:rPr lang="en-CA" dirty="0" err="1"/>
              <a:t>Lindeløv</a:t>
            </a:r>
            <a:r>
              <a:rPr lang="en-CA" dirty="0"/>
              <a:t>, J. (2019). </a:t>
            </a:r>
            <a:r>
              <a:rPr lang="en-CA" dirty="0">
                <a:hlinkClick r:id="rId2"/>
              </a:rPr>
              <a:t>PsychoPy2: experiments in behavior made easy.</a:t>
            </a:r>
            <a:r>
              <a:rPr lang="en-CA" dirty="0"/>
              <a:t> </a:t>
            </a:r>
            <a:r>
              <a:rPr lang="en-CA" i="1" dirty="0"/>
              <a:t>Behavior Research Methods.</a:t>
            </a:r>
            <a:r>
              <a:rPr lang="en-CA" dirty="0"/>
              <a:t> 10.3758/s13428-018-01193-y</a:t>
            </a:r>
          </a:p>
          <a:p>
            <a:r>
              <a:rPr lang="en-CA" dirty="0"/>
              <a:t>Peirce, J. W., &amp; MacAskill, M. R. (2018). </a:t>
            </a:r>
            <a:r>
              <a:rPr lang="en-CA" dirty="0">
                <a:hlinkClick r:id="rId3"/>
              </a:rPr>
              <a:t>Building Experiments in PsychoPy.</a:t>
            </a:r>
            <a:r>
              <a:rPr lang="en-CA" dirty="0"/>
              <a:t> London: Sage.</a:t>
            </a:r>
          </a:p>
          <a:p>
            <a:r>
              <a:rPr lang="en-CA" dirty="0"/>
              <a:t>Peirce J. W. (2009). Generating stimuli for neuroscience using </a:t>
            </a:r>
            <a:r>
              <a:rPr lang="en-CA" dirty="0" err="1"/>
              <a:t>PsychoPy</a:t>
            </a:r>
            <a:r>
              <a:rPr lang="en-CA" dirty="0"/>
              <a:t>. </a:t>
            </a:r>
            <a:r>
              <a:rPr lang="en-CA" i="1" dirty="0"/>
              <a:t>Frontiers in </a:t>
            </a:r>
            <a:r>
              <a:rPr lang="en-CA" i="1" dirty="0" err="1"/>
              <a:t>Neuroinformatics</a:t>
            </a:r>
            <a:r>
              <a:rPr lang="en-CA" i="1" dirty="0"/>
              <a:t>,</a:t>
            </a:r>
            <a:r>
              <a:rPr lang="en-CA" dirty="0"/>
              <a:t> </a:t>
            </a:r>
            <a:r>
              <a:rPr lang="en-CA" b="1" dirty="0"/>
              <a:t>2</a:t>
            </a:r>
            <a:r>
              <a:rPr lang="en-CA" dirty="0"/>
              <a:t> (10), 1-8. </a:t>
            </a:r>
            <a:r>
              <a:rPr lang="en-CA" dirty="0">
                <a:hlinkClick r:id="rId4"/>
              </a:rPr>
              <a:t>doi:10.3389/neuro.11.010.2008</a:t>
            </a:r>
            <a:endParaRPr lang="en-CA" dirty="0"/>
          </a:p>
          <a:p>
            <a:r>
              <a:rPr lang="en-CA" dirty="0"/>
              <a:t>Peirce, J. W. (2007). </a:t>
            </a:r>
            <a:r>
              <a:rPr lang="en-CA" dirty="0" err="1"/>
              <a:t>PsychoPy</a:t>
            </a:r>
            <a:r>
              <a:rPr lang="en-CA" dirty="0"/>
              <a:t> - Psychophysics software in Python. </a:t>
            </a:r>
            <a:r>
              <a:rPr lang="en-CA" i="1" dirty="0"/>
              <a:t>Journal of Neuroscience Methods,</a:t>
            </a:r>
            <a:r>
              <a:rPr lang="en-CA" dirty="0"/>
              <a:t> </a:t>
            </a:r>
            <a:r>
              <a:rPr lang="en-CA" b="1" dirty="0"/>
              <a:t>162</a:t>
            </a:r>
            <a:r>
              <a:rPr lang="en-CA" dirty="0"/>
              <a:t> (1-2):8-13 </a:t>
            </a:r>
            <a:r>
              <a:rPr lang="en-CA" dirty="0">
                <a:hlinkClick r:id="rId5"/>
              </a:rPr>
              <a:t>doi:10.1016/j.jneumeth.2006.11.017</a:t>
            </a:r>
            <a:endParaRPr lang="en-C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676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C8197-DAD9-3940-B49E-C86F456BF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PsychoPy</a:t>
            </a:r>
            <a:r>
              <a:rPr lang="en-US" dirty="0"/>
              <a:t> Basics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DF071-6EEC-ED49-BD4B-8C059DA24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90503" cy="4351338"/>
          </a:xfrm>
        </p:spPr>
        <p:txBody>
          <a:bodyPr>
            <a:normAutofit/>
          </a:bodyPr>
          <a:lstStyle/>
          <a:p>
            <a:r>
              <a:rPr lang="en-US" dirty="0" err="1"/>
              <a:t>PsychoPy</a:t>
            </a:r>
            <a:r>
              <a:rPr lang="en-US" dirty="0"/>
              <a:t> works on a few basic principles: </a:t>
            </a:r>
          </a:p>
          <a:p>
            <a:pPr lvl="1"/>
            <a:r>
              <a:rPr lang="en-US" dirty="0"/>
              <a:t>A “window” is opened or created, on which things are presented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 uses </a:t>
            </a:r>
            <a:r>
              <a:rPr lang="en-US" b="1" dirty="0"/>
              <a:t>double buffering</a:t>
            </a:r>
            <a:r>
              <a:rPr lang="en-US" dirty="0"/>
              <a:t> to draw things, which are then “flipped” onto the screen</a:t>
            </a:r>
          </a:p>
          <a:p>
            <a:pPr lvl="2"/>
            <a:r>
              <a:rPr lang="en-US" dirty="0"/>
              <a:t>Things on the screen are on the “front buffer”</a:t>
            </a:r>
          </a:p>
          <a:p>
            <a:pPr lvl="2"/>
            <a:r>
              <a:rPr lang="en-US" dirty="0"/>
              <a:t>Things that you perform operations on are on the “back buffer” </a:t>
            </a:r>
          </a:p>
        </p:txBody>
      </p:sp>
      <p:pic>
        <p:nvPicPr>
          <p:cNvPr id="1026" name="Picture 2" descr="Double Buffering and Page Flipping (The Java™ Tutorials &amp;gt; Bonus &amp;gt;  Full-Screen Exclusive Mode API)">
            <a:extLst>
              <a:ext uri="{FF2B5EF4-FFF2-40B4-BE49-F238E27FC236}">
                <a16:creationId xmlns:a16="http://schemas.microsoft.com/office/drawing/2014/main" id="{A97D8223-4495-E149-9D76-9513E00AE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572" y="1600530"/>
            <a:ext cx="4183553" cy="4801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0173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CC7C3-3543-BF88-374B-A73721FAB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PsychoPy</a:t>
            </a:r>
            <a:r>
              <a:rPr lang="en-US" dirty="0"/>
              <a:t> Coder 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844C9-DDFA-8284-7352-8B0C90626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306053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01BDA-28BC-9161-5484-A2483CE2A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653" y="1598147"/>
            <a:ext cx="823154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97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475DF-124E-164B-9C5B-5B75D78A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out: monitor set-up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51D27-BC4C-8B47-90B9-99B3D07F7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22371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order to use </a:t>
            </a:r>
            <a:r>
              <a:rPr lang="en-US" dirty="0" err="1"/>
              <a:t>PsychoPy</a:t>
            </a:r>
            <a:r>
              <a:rPr lang="en-US" dirty="0"/>
              <a:t> functions must first create a window that you can draw to</a:t>
            </a:r>
          </a:p>
          <a:p>
            <a:endParaRPr lang="en-US" dirty="0"/>
          </a:p>
          <a:p>
            <a:r>
              <a:rPr lang="en-US" dirty="0"/>
              <a:t>Window should be assigned to a monitor</a:t>
            </a:r>
          </a:p>
          <a:p>
            <a:pPr lvl="1"/>
            <a:r>
              <a:rPr lang="en-US" dirty="0"/>
              <a:t>Useful for multiple monitors</a:t>
            </a:r>
          </a:p>
          <a:p>
            <a:pPr lvl="1"/>
            <a:r>
              <a:rPr lang="en-US" dirty="0"/>
              <a:t>Especially useful for setting up units for controlling stimuli</a:t>
            </a:r>
          </a:p>
          <a:p>
            <a:pPr lvl="1"/>
            <a:endParaRPr lang="en-US" dirty="0"/>
          </a:p>
          <a:p>
            <a:r>
              <a:rPr lang="en-US" dirty="0"/>
              <a:t>Tools </a:t>
            </a:r>
            <a:r>
              <a:rPr lang="en-US" dirty="0">
                <a:sym typeface="Wingdings" pitchFamily="2" charset="2"/>
              </a:rPr>
              <a:t> Monitor Settings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B3CEC-93B0-F048-A4DB-D9A192F9A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328" y="1608590"/>
            <a:ext cx="6173472" cy="47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703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FE93550-A52F-9845-9D0C-9C4CB5210A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819314"/>
              </p:ext>
            </p:extLst>
          </p:nvPr>
        </p:nvGraphicFramePr>
        <p:xfrm>
          <a:off x="838200" y="527125"/>
          <a:ext cx="10515600" cy="59657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0206950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973196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567604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39961155"/>
                    </a:ext>
                  </a:extLst>
                </a:gridCol>
              </a:tblGrid>
              <a:tr h="1403006">
                <a:tc>
                  <a:txBody>
                    <a:bodyPr/>
                    <a:lstStyle/>
                    <a:p>
                      <a:r>
                        <a:rPr lang="en-US" b="1" u="sng" dirty="0"/>
                        <a:t>Height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Everything specified relative to the height of the screen (total =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4:3 ratio bottom left: </a:t>
                      </a:r>
                      <a:br>
                        <a:rPr lang="en-US" dirty="0"/>
                      </a:br>
                      <a:r>
                        <a:rPr lang="en-US" dirty="0"/>
                        <a:t>(-0.6667, -0.5); top right: (+0.6667, +0.5)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Scales with window size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Must know dimensions of screen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601194"/>
                  </a:ext>
                </a:extLst>
              </a:tr>
              <a:tr h="1079235">
                <a:tc>
                  <a:txBody>
                    <a:bodyPr/>
                    <a:lstStyle/>
                    <a:p>
                      <a:r>
                        <a:rPr lang="en-US" b="1" u="sng" dirty="0" err="1"/>
                        <a:t>Normalised</a:t>
                      </a:r>
                      <a:r>
                        <a:rPr lang="en-US" b="1" u="sng" dirty="0"/>
                        <a:t>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 x and y range from </a:t>
                      </a:r>
                      <a:br>
                        <a:rPr lang="en-US" dirty="0"/>
                      </a:br>
                      <a:r>
                        <a:rPr lang="en-US" dirty="0"/>
                        <a:t>-1 to 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Will not result in square stimulus if screen is not square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791290"/>
                  </a:ext>
                </a:extLst>
              </a:tr>
              <a:tr h="1079235">
                <a:tc>
                  <a:txBody>
                    <a:bodyPr/>
                    <a:lstStyle/>
                    <a:p>
                      <a:r>
                        <a:rPr lang="en-US" b="1" u="sng" dirty="0"/>
                        <a:t>Centimeters on 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Describe in terms of physical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Requires:</a:t>
                      </a:r>
                      <a:r>
                        <a:rPr lang="en-US" b="0" dirty="0"/>
                        <a:t> info about screen width and size in pixels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Assumes: pixels are square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626016"/>
                  </a:ext>
                </a:extLst>
              </a:tr>
              <a:tr h="1403006">
                <a:tc>
                  <a:txBody>
                    <a:bodyPr/>
                    <a:lstStyle/>
                    <a:p>
                      <a:r>
                        <a:rPr lang="en-US" b="1" u="sng" dirty="0"/>
                        <a:t>Degrees of visual 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Describe in terms of perceived size of stimulus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Requires: </a:t>
                      </a:r>
                      <a:r>
                        <a:rPr lang="en-US" b="0" dirty="0"/>
                        <a:t>screen width in cm and pixels, as well as viewing distance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Deg (standard)</a:t>
                      </a:r>
                    </a:p>
                    <a:p>
                      <a:r>
                        <a:rPr lang="en-US" dirty="0" err="1"/>
                        <a:t>DegFlatPos</a:t>
                      </a:r>
                      <a:r>
                        <a:rPr lang="en-US" dirty="0"/>
                        <a:t> and </a:t>
                      </a:r>
                      <a:r>
                        <a:rPr lang="en-US" dirty="0" err="1"/>
                        <a:t>degFlat</a:t>
                      </a:r>
                      <a:r>
                        <a:rPr lang="en-US" dirty="0"/>
                        <a:t> can account for flat screen distortions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438345"/>
                  </a:ext>
                </a:extLst>
              </a:tr>
              <a:tr h="1001266">
                <a:tc>
                  <a:txBody>
                    <a:bodyPr/>
                    <a:lstStyle/>
                    <a:p>
                      <a:r>
                        <a:rPr lang="en-US" b="1" u="sng" dirty="0"/>
                        <a:t>Pixels on 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Describe in terms of pixels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Requires: </a:t>
                      </a:r>
                      <a:r>
                        <a:rPr lang="en-US" b="0" dirty="0"/>
                        <a:t>size of screen in pixels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640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625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529B5-9EDC-352A-0A18-D7B92E875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Psychopy</a:t>
            </a:r>
            <a:r>
              <a:rPr lang="en-US" dirty="0"/>
              <a:t> outside of </a:t>
            </a:r>
            <a:r>
              <a:rPr lang="en-US" dirty="0" err="1"/>
              <a:t>Psychopy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5D8FC-DB37-50B3-C60C-783494AEB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NOTE: you do not need to use </a:t>
            </a:r>
            <a:r>
              <a:rPr lang="en-US" dirty="0" err="1"/>
              <a:t>Psychopy</a:t>
            </a:r>
            <a:r>
              <a:rPr lang="en-US" dirty="0"/>
              <a:t> (the IDE) to run </a:t>
            </a:r>
            <a:r>
              <a:rPr lang="en-US" dirty="0" err="1"/>
              <a:t>Psychopy</a:t>
            </a:r>
            <a:r>
              <a:rPr lang="en-US" dirty="0"/>
              <a:t>. Can install on other IDEs (e.g., Spyder) using: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$pip install python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To create a monitor outside of the Monitor Center, you can modify the following code: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CA" i="1" dirty="0">
                <a:latin typeface="Courier New" panose="02070309020205020404" pitchFamily="49" charset="0"/>
                <a:cs typeface="Courier New" panose="02070309020205020404" pitchFamily="49" charset="0"/>
              </a:rPr>
              <a:t># Define a monitor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my_monitor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= 	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monitors.Monitor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(name='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my_monitor_name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’) 	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my_monitor.setSizePix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((1280, 800)) 	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my_monitor.setWidth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(20) 	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my_monitor.setDistance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(100) 	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my_monitor.saveMon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472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4F1AA-FF18-0C4B-B2B2-4286ECBB7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a really simple experiment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FA00CE-76D3-4341-8BAF-DE63C79FB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878" y="2319564"/>
            <a:ext cx="737870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64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618D-32B2-9544-845B-95EF5453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break that down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84ED03-82D3-1245-9780-D630AB07A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17659" y="1825625"/>
            <a:ext cx="5181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Need to import </a:t>
            </a:r>
            <a:r>
              <a:rPr lang="en-US" b="1" dirty="0" err="1"/>
              <a:t>psychopy</a:t>
            </a:r>
            <a:r>
              <a:rPr lang="en-US" dirty="0"/>
              <a:t> library</a:t>
            </a:r>
          </a:p>
          <a:p>
            <a:endParaRPr lang="en-US" dirty="0"/>
          </a:p>
          <a:p>
            <a:r>
              <a:rPr lang="en-US" dirty="0"/>
              <a:t>Also import specific modules from </a:t>
            </a:r>
            <a:r>
              <a:rPr lang="en-US" dirty="0" err="1"/>
              <a:t>psychopy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https://psychopy.org/py-modindex.html#cap-p</a:t>
            </a:r>
            <a:endParaRPr lang="en-US" dirty="0"/>
          </a:p>
          <a:p>
            <a:endParaRPr lang="en-US" dirty="0"/>
          </a:p>
          <a:p>
            <a:r>
              <a:rPr lang="en-US" dirty="0"/>
              <a:t>Will almost always import </a:t>
            </a:r>
            <a:r>
              <a:rPr lang="en-US" i="1" dirty="0"/>
              <a:t>visual</a:t>
            </a:r>
            <a:r>
              <a:rPr lang="en-US" dirty="0"/>
              <a:t>, </a:t>
            </a:r>
            <a:r>
              <a:rPr lang="en-US" i="1" dirty="0"/>
              <a:t>event</a:t>
            </a:r>
            <a:r>
              <a:rPr lang="en-US" dirty="0"/>
              <a:t>, </a:t>
            </a:r>
            <a:r>
              <a:rPr lang="en-US" i="1" dirty="0"/>
              <a:t>data</a:t>
            </a:r>
            <a:r>
              <a:rPr lang="en-US" dirty="0"/>
              <a:t>, and </a:t>
            </a:r>
            <a:r>
              <a:rPr lang="en-US" i="1" dirty="0"/>
              <a:t>core</a:t>
            </a:r>
            <a:r>
              <a:rPr lang="en-US" dirty="0"/>
              <a:t> modules</a:t>
            </a:r>
          </a:p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8D58E9-BB73-9C47-96D1-36E95D9E99CD}"/>
              </a:ext>
            </a:extLst>
          </p:cNvPr>
          <p:cNvCxnSpPr>
            <a:cxnSpLocks/>
          </p:cNvCxnSpPr>
          <p:nvPr/>
        </p:nvCxnSpPr>
        <p:spPr>
          <a:xfrm>
            <a:off x="4901176" y="2031912"/>
            <a:ext cx="1714777" cy="13037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049E98B-B850-E145-BC9D-31BD66577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sz="2000" b="1" dirty="0">
                <a:solidFill>
                  <a:srgbClr val="007020"/>
                </a:solidFill>
                <a:highlight>
                  <a:srgbClr val="FFFF00"/>
                </a:highlight>
              </a:rPr>
              <a:t>from</a:t>
            </a:r>
            <a:r>
              <a:rPr lang="en-CA" sz="2000" dirty="0">
                <a:highlight>
                  <a:srgbClr val="FFFF00"/>
                </a:highlight>
              </a:rPr>
              <a:t> </a:t>
            </a:r>
            <a:r>
              <a:rPr lang="en-CA" sz="2000" b="1" dirty="0" err="1">
                <a:solidFill>
                  <a:srgbClr val="0E84B5"/>
                </a:solidFill>
                <a:highlight>
                  <a:srgbClr val="FFFF00"/>
                </a:highlight>
              </a:rPr>
              <a:t>psychopy</a:t>
            </a:r>
            <a:r>
              <a:rPr lang="en-CA" sz="2000" dirty="0">
                <a:highlight>
                  <a:srgbClr val="FFFF00"/>
                </a:highlight>
              </a:rPr>
              <a:t> </a:t>
            </a:r>
            <a:r>
              <a:rPr lang="en-CA" sz="2000" b="1" dirty="0">
                <a:solidFill>
                  <a:srgbClr val="007020"/>
                </a:solidFill>
                <a:highlight>
                  <a:srgbClr val="FFFF00"/>
                </a:highlight>
              </a:rPr>
              <a:t>import</a:t>
            </a:r>
            <a:r>
              <a:rPr lang="en-CA" sz="2000" dirty="0">
                <a:highlight>
                  <a:srgbClr val="FFFF00"/>
                </a:highlight>
              </a:rPr>
              <a:t> visual, core </a:t>
            </a:r>
            <a:br>
              <a:rPr lang="en-CA" sz="2000" dirty="0"/>
            </a:br>
            <a:r>
              <a:rPr lang="en-CA" sz="2000" dirty="0"/>
              <a:t>win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 err="1"/>
              <a:t>visual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Window</a:t>
            </a:r>
            <a:r>
              <a:rPr lang="en-CA" sz="2000" dirty="0"/>
              <a:t>([</a:t>
            </a:r>
            <a:r>
              <a:rPr lang="en-CA" sz="2000" dirty="0">
                <a:solidFill>
                  <a:srgbClr val="208050"/>
                </a:solidFill>
              </a:rPr>
              <a:t>400</a:t>
            </a:r>
            <a:r>
              <a:rPr lang="en-CA" sz="2000" dirty="0"/>
              <a:t>,</a:t>
            </a:r>
            <a:r>
              <a:rPr lang="en-CA" sz="2000" dirty="0">
                <a:solidFill>
                  <a:srgbClr val="208050"/>
                </a:solidFill>
              </a:rPr>
              <a:t>400</a:t>
            </a:r>
            <a:r>
              <a:rPr lang="en-CA" sz="2000" dirty="0"/>
              <a:t>]) </a:t>
            </a:r>
            <a:br>
              <a:rPr lang="en-CA" sz="2000" dirty="0"/>
            </a:br>
            <a:r>
              <a:rPr lang="en-CA" sz="2000" dirty="0"/>
              <a:t>message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 err="1"/>
              <a:t>visual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TextStim</a:t>
            </a:r>
            <a:r>
              <a:rPr lang="en-CA" sz="2000" dirty="0"/>
              <a:t>(win, text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>
                <a:solidFill>
                  <a:srgbClr val="4070A0"/>
                </a:solidFill>
              </a:rPr>
              <a:t>'hello'</a:t>
            </a:r>
            <a:r>
              <a:rPr lang="en-CA" sz="2000" dirty="0"/>
              <a:t>) </a:t>
            </a:r>
            <a:r>
              <a:rPr lang="en-CA" sz="2000" dirty="0" err="1"/>
              <a:t>message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autoDraw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b="1" dirty="0">
                <a:solidFill>
                  <a:srgbClr val="007020"/>
                </a:solidFill>
              </a:rPr>
              <a:t>True</a:t>
            </a:r>
            <a:r>
              <a:rPr lang="en-CA" sz="2000" dirty="0"/>
              <a:t> </a:t>
            </a:r>
            <a:r>
              <a:rPr lang="en-CA" sz="2000" i="1" dirty="0">
                <a:solidFill>
                  <a:srgbClr val="408090"/>
                </a:solidFill>
              </a:rPr>
              <a:t># Automatically draw every frame</a:t>
            </a:r>
            <a:r>
              <a:rPr lang="en-CA" sz="2000" dirty="0"/>
              <a:t> </a:t>
            </a:r>
            <a:br>
              <a:rPr lang="en-CA" sz="2000" dirty="0"/>
            </a:br>
            <a:r>
              <a:rPr lang="en-CA" sz="2000" dirty="0" err="1"/>
              <a:t>win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flip</a:t>
            </a:r>
            <a:r>
              <a:rPr lang="en-CA" sz="2000" dirty="0"/>
              <a:t>() </a:t>
            </a:r>
            <a:br>
              <a:rPr lang="en-CA" sz="2000" dirty="0"/>
            </a:br>
            <a:r>
              <a:rPr lang="en-CA" sz="2000" dirty="0" err="1"/>
              <a:t>core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wait</a:t>
            </a:r>
            <a:r>
              <a:rPr lang="en-CA" sz="2000" dirty="0"/>
              <a:t>(</a:t>
            </a:r>
            <a:r>
              <a:rPr lang="en-CA" sz="2000" dirty="0">
                <a:solidFill>
                  <a:srgbClr val="208050"/>
                </a:solidFill>
              </a:rPr>
              <a:t>2.0</a:t>
            </a:r>
            <a:r>
              <a:rPr lang="en-CA" sz="2000" dirty="0"/>
              <a:t>) </a:t>
            </a:r>
            <a:br>
              <a:rPr lang="en-CA" sz="2000" dirty="0"/>
            </a:br>
            <a:r>
              <a:rPr lang="en-CA" sz="2000" dirty="0" err="1"/>
              <a:t>message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text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4070A0"/>
                </a:solidFill>
              </a:rPr>
              <a:t>'world'</a:t>
            </a:r>
            <a:r>
              <a:rPr lang="en-CA" sz="2000" dirty="0"/>
              <a:t> </a:t>
            </a:r>
            <a:r>
              <a:rPr lang="en-CA" sz="2000" i="1" dirty="0">
                <a:solidFill>
                  <a:srgbClr val="408090"/>
                </a:solidFill>
              </a:rPr>
              <a:t># Change properties of existing stim</a:t>
            </a:r>
            <a:r>
              <a:rPr lang="en-CA" sz="2000" dirty="0"/>
              <a:t> </a:t>
            </a:r>
            <a:br>
              <a:rPr lang="en-CA" sz="2000" dirty="0"/>
            </a:br>
            <a:r>
              <a:rPr lang="en-CA" sz="2000" dirty="0" err="1"/>
              <a:t>win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flip</a:t>
            </a:r>
            <a:r>
              <a:rPr lang="en-CA" sz="2000" dirty="0"/>
              <a:t>() </a:t>
            </a:r>
            <a:br>
              <a:rPr lang="en-CA" sz="2000" dirty="0"/>
            </a:br>
            <a:r>
              <a:rPr lang="en-CA" sz="2000" dirty="0" err="1"/>
              <a:t>core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wait</a:t>
            </a:r>
            <a:r>
              <a:rPr lang="en-CA" sz="2000" dirty="0"/>
              <a:t>(</a:t>
            </a:r>
            <a:r>
              <a:rPr lang="en-CA" sz="2000" dirty="0">
                <a:solidFill>
                  <a:srgbClr val="208050"/>
                </a:solidFill>
              </a:rPr>
              <a:t>2.0</a:t>
            </a:r>
            <a:r>
              <a:rPr lang="en-CA" sz="2000" dirty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79455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618D-32B2-9544-845B-95EF5453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break that down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84ED03-82D3-1245-9780-D630AB07A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17659" y="1825625"/>
            <a:ext cx="5181600" cy="4016369"/>
          </a:xfrm>
        </p:spPr>
        <p:txBody>
          <a:bodyPr>
            <a:normAutofit/>
          </a:bodyPr>
          <a:lstStyle/>
          <a:p>
            <a:r>
              <a:rPr lang="en-US" dirty="0"/>
              <a:t>Must create a window to draw to</a:t>
            </a:r>
          </a:p>
          <a:p>
            <a:endParaRPr lang="en-US" dirty="0"/>
          </a:p>
          <a:p>
            <a:r>
              <a:rPr lang="en-US" dirty="0"/>
              <a:t>Assign the window a name</a:t>
            </a:r>
          </a:p>
          <a:p>
            <a:endParaRPr lang="en-US" dirty="0"/>
          </a:p>
          <a:p>
            <a:r>
              <a:rPr lang="en-US" dirty="0"/>
              <a:t>Must include window size</a:t>
            </a:r>
            <a:br>
              <a:rPr lang="en-US" dirty="0"/>
            </a:br>
            <a:endParaRPr lang="en-US" dirty="0"/>
          </a:p>
          <a:p>
            <a:r>
              <a:rPr lang="en-US" dirty="0"/>
              <a:t>Can include other options:</a:t>
            </a:r>
          </a:p>
          <a:p>
            <a:pPr marL="457200" lvl="1" indent="0">
              <a:buNone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8D58E9-BB73-9C47-96D1-36E95D9E99CD}"/>
              </a:ext>
            </a:extLst>
          </p:cNvPr>
          <p:cNvCxnSpPr>
            <a:cxnSpLocks/>
          </p:cNvCxnSpPr>
          <p:nvPr/>
        </p:nvCxnSpPr>
        <p:spPr>
          <a:xfrm flipV="1">
            <a:off x="4819426" y="2031912"/>
            <a:ext cx="1785769" cy="23795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049E98B-B850-E145-BC9D-31BD66577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b="1" dirty="0">
                <a:solidFill>
                  <a:srgbClr val="007020"/>
                </a:solidFill>
              </a:rPr>
              <a:t>from</a:t>
            </a:r>
            <a:r>
              <a:rPr lang="en-CA" sz="2000" dirty="0"/>
              <a:t> </a:t>
            </a:r>
            <a:r>
              <a:rPr lang="en-CA" sz="2000" b="1" dirty="0" err="1">
                <a:solidFill>
                  <a:srgbClr val="0E84B5"/>
                </a:solidFill>
              </a:rPr>
              <a:t>psychopy</a:t>
            </a:r>
            <a:r>
              <a:rPr lang="en-CA" sz="2000" dirty="0"/>
              <a:t> </a:t>
            </a:r>
            <a:r>
              <a:rPr lang="en-CA" sz="2000" b="1" dirty="0">
                <a:solidFill>
                  <a:srgbClr val="007020"/>
                </a:solidFill>
              </a:rPr>
              <a:t>import</a:t>
            </a:r>
            <a:r>
              <a:rPr lang="en-CA" sz="2000" dirty="0"/>
              <a:t> visual, core </a:t>
            </a:r>
            <a:br>
              <a:rPr lang="en-CA" sz="2000" dirty="0"/>
            </a:br>
            <a:r>
              <a:rPr lang="en-CA" sz="2000" dirty="0">
                <a:highlight>
                  <a:srgbClr val="FFFF00"/>
                </a:highlight>
              </a:rPr>
              <a:t>win </a:t>
            </a:r>
            <a:r>
              <a:rPr lang="en-CA" sz="2000" dirty="0">
                <a:solidFill>
                  <a:srgbClr val="666666"/>
                </a:solidFill>
                <a:highlight>
                  <a:srgbClr val="FFFF00"/>
                </a:highlight>
              </a:rPr>
              <a:t>=</a:t>
            </a:r>
            <a:r>
              <a:rPr lang="en-CA" sz="2000" dirty="0">
                <a:highlight>
                  <a:srgbClr val="FFFF00"/>
                </a:highlight>
              </a:rPr>
              <a:t> </a:t>
            </a:r>
            <a:r>
              <a:rPr lang="en-CA" sz="2000" dirty="0" err="1">
                <a:highlight>
                  <a:srgbClr val="FFFF00"/>
                </a:highlight>
              </a:rPr>
              <a:t>visual</a:t>
            </a:r>
            <a:r>
              <a:rPr lang="en-CA" sz="2000" dirty="0" err="1">
                <a:solidFill>
                  <a:srgbClr val="666666"/>
                </a:solidFill>
                <a:highlight>
                  <a:srgbClr val="FFFF00"/>
                </a:highlight>
              </a:rPr>
              <a:t>.</a:t>
            </a:r>
            <a:r>
              <a:rPr lang="en-CA" sz="2000" dirty="0" err="1">
                <a:highlight>
                  <a:srgbClr val="FFFF00"/>
                </a:highlight>
              </a:rPr>
              <a:t>Window</a:t>
            </a:r>
            <a:r>
              <a:rPr lang="en-CA" sz="2000" dirty="0">
                <a:highlight>
                  <a:srgbClr val="FFFF00"/>
                </a:highlight>
              </a:rPr>
              <a:t>([</a:t>
            </a:r>
            <a:r>
              <a:rPr lang="en-CA" sz="2000" dirty="0">
                <a:solidFill>
                  <a:srgbClr val="208050"/>
                </a:solidFill>
                <a:highlight>
                  <a:srgbClr val="FFFF00"/>
                </a:highlight>
              </a:rPr>
              <a:t>400</a:t>
            </a:r>
            <a:r>
              <a:rPr lang="en-CA" sz="2000" dirty="0">
                <a:highlight>
                  <a:srgbClr val="FFFF00"/>
                </a:highlight>
              </a:rPr>
              <a:t>,</a:t>
            </a:r>
            <a:r>
              <a:rPr lang="en-CA" sz="2000" dirty="0">
                <a:solidFill>
                  <a:srgbClr val="208050"/>
                </a:solidFill>
                <a:highlight>
                  <a:srgbClr val="FFFF00"/>
                </a:highlight>
              </a:rPr>
              <a:t>400</a:t>
            </a:r>
            <a:r>
              <a:rPr lang="en-CA" sz="2000" dirty="0">
                <a:highlight>
                  <a:srgbClr val="FFFF00"/>
                </a:highlight>
              </a:rPr>
              <a:t>]) </a:t>
            </a:r>
            <a:br>
              <a:rPr lang="en-CA" sz="2000" dirty="0"/>
            </a:br>
            <a:r>
              <a:rPr lang="en-CA" sz="2000" dirty="0"/>
              <a:t>message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 err="1"/>
              <a:t>visual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TextStim</a:t>
            </a:r>
            <a:r>
              <a:rPr lang="en-CA" sz="2000" dirty="0"/>
              <a:t>(win, text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>
                <a:solidFill>
                  <a:srgbClr val="4070A0"/>
                </a:solidFill>
              </a:rPr>
              <a:t>'hello'</a:t>
            </a:r>
            <a:r>
              <a:rPr lang="en-CA" sz="2000" dirty="0"/>
              <a:t>) </a:t>
            </a:r>
            <a:r>
              <a:rPr lang="en-CA" sz="2000" dirty="0" err="1"/>
              <a:t>message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autoDraw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b="1" dirty="0">
                <a:solidFill>
                  <a:srgbClr val="007020"/>
                </a:solidFill>
              </a:rPr>
              <a:t>True</a:t>
            </a:r>
            <a:r>
              <a:rPr lang="en-CA" sz="2000" dirty="0"/>
              <a:t> </a:t>
            </a:r>
            <a:r>
              <a:rPr lang="en-CA" sz="2000" i="1" dirty="0">
                <a:solidFill>
                  <a:srgbClr val="408090"/>
                </a:solidFill>
              </a:rPr>
              <a:t># Automatically draw every frame</a:t>
            </a:r>
            <a:r>
              <a:rPr lang="en-CA" sz="2000" dirty="0"/>
              <a:t> </a:t>
            </a:r>
            <a:br>
              <a:rPr lang="en-CA" sz="2000" dirty="0"/>
            </a:br>
            <a:r>
              <a:rPr lang="en-CA" sz="2000" dirty="0" err="1"/>
              <a:t>win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flip</a:t>
            </a:r>
            <a:r>
              <a:rPr lang="en-CA" sz="2000" dirty="0"/>
              <a:t>() </a:t>
            </a:r>
            <a:br>
              <a:rPr lang="en-CA" sz="2000" dirty="0"/>
            </a:br>
            <a:r>
              <a:rPr lang="en-CA" sz="2000" dirty="0" err="1"/>
              <a:t>core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wait</a:t>
            </a:r>
            <a:r>
              <a:rPr lang="en-CA" sz="2000" dirty="0"/>
              <a:t>(</a:t>
            </a:r>
            <a:r>
              <a:rPr lang="en-CA" sz="2000" dirty="0">
                <a:solidFill>
                  <a:srgbClr val="208050"/>
                </a:solidFill>
              </a:rPr>
              <a:t>2.0</a:t>
            </a:r>
            <a:r>
              <a:rPr lang="en-CA" sz="2000" dirty="0"/>
              <a:t>) </a:t>
            </a:r>
            <a:br>
              <a:rPr lang="en-CA" sz="2000" dirty="0"/>
            </a:br>
            <a:r>
              <a:rPr lang="en-CA" sz="2000" dirty="0" err="1"/>
              <a:t>message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text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4070A0"/>
                </a:solidFill>
              </a:rPr>
              <a:t>'world'</a:t>
            </a:r>
            <a:r>
              <a:rPr lang="en-CA" sz="2000" dirty="0"/>
              <a:t> </a:t>
            </a:r>
            <a:r>
              <a:rPr lang="en-CA" sz="2000" i="1" dirty="0">
                <a:solidFill>
                  <a:srgbClr val="408090"/>
                </a:solidFill>
              </a:rPr>
              <a:t># Change properties of existing stim</a:t>
            </a:r>
            <a:r>
              <a:rPr lang="en-CA" sz="2000" dirty="0"/>
              <a:t> </a:t>
            </a:r>
            <a:br>
              <a:rPr lang="en-CA" sz="2000" dirty="0"/>
            </a:br>
            <a:r>
              <a:rPr lang="en-CA" sz="2000" dirty="0" err="1"/>
              <a:t>win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flip</a:t>
            </a:r>
            <a:r>
              <a:rPr lang="en-CA" sz="2000" dirty="0"/>
              <a:t>() </a:t>
            </a:r>
            <a:br>
              <a:rPr lang="en-CA" sz="2000" dirty="0"/>
            </a:br>
            <a:r>
              <a:rPr lang="en-CA" sz="2000" dirty="0" err="1"/>
              <a:t>core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wait</a:t>
            </a:r>
            <a:r>
              <a:rPr lang="en-CA" sz="2000" dirty="0"/>
              <a:t>(</a:t>
            </a:r>
            <a:r>
              <a:rPr lang="en-CA" sz="2000" dirty="0">
                <a:solidFill>
                  <a:srgbClr val="208050"/>
                </a:solidFill>
              </a:rPr>
              <a:t>2.0</a:t>
            </a:r>
            <a:r>
              <a:rPr lang="en-CA" sz="2000" dirty="0"/>
              <a:t>)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F3439A-9488-8A49-9014-C0E3CB240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735" y="5842000"/>
            <a:ext cx="72009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719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618D-32B2-9544-845B-95EF5453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break that down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84ED03-82D3-1245-9780-D630AB07A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17659" y="1825625"/>
            <a:ext cx="5181600" cy="40163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Draw a stimulus to the back buffer</a:t>
            </a:r>
          </a:p>
          <a:p>
            <a:endParaRPr lang="en-US" dirty="0"/>
          </a:p>
          <a:p>
            <a:r>
              <a:rPr lang="en-US" dirty="0"/>
              <a:t>Assign it a label</a:t>
            </a:r>
          </a:p>
          <a:p>
            <a:endParaRPr lang="en-US" dirty="0"/>
          </a:p>
          <a:p>
            <a:r>
              <a:rPr lang="en-US" dirty="0"/>
              <a:t>Specify the type of stimulus</a:t>
            </a:r>
            <a:br>
              <a:rPr lang="en-US" dirty="0"/>
            </a:br>
            <a:endParaRPr lang="en-US" dirty="0"/>
          </a:p>
          <a:p>
            <a:r>
              <a:rPr lang="en-US" dirty="0"/>
              <a:t>Assign it to a window and properties</a:t>
            </a:r>
          </a:p>
          <a:p>
            <a:pPr marL="457200" lvl="1" indent="0">
              <a:buNone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8D58E9-BB73-9C47-96D1-36E95D9E99CD}"/>
              </a:ext>
            </a:extLst>
          </p:cNvPr>
          <p:cNvCxnSpPr>
            <a:cxnSpLocks/>
          </p:cNvCxnSpPr>
          <p:nvPr/>
        </p:nvCxnSpPr>
        <p:spPr>
          <a:xfrm flipV="1">
            <a:off x="5497158" y="2031912"/>
            <a:ext cx="1108037" cy="45310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049E98B-B850-E145-BC9D-31BD66577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sz="2000" b="1" dirty="0">
                <a:solidFill>
                  <a:srgbClr val="007020"/>
                </a:solidFill>
              </a:rPr>
              <a:t>from</a:t>
            </a:r>
            <a:r>
              <a:rPr lang="en-CA" sz="2000" dirty="0"/>
              <a:t> </a:t>
            </a:r>
            <a:r>
              <a:rPr lang="en-CA" sz="2000" b="1" dirty="0" err="1">
                <a:solidFill>
                  <a:srgbClr val="0E84B5"/>
                </a:solidFill>
              </a:rPr>
              <a:t>psychopy</a:t>
            </a:r>
            <a:r>
              <a:rPr lang="en-CA" sz="2000" dirty="0"/>
              <a:t> </a:t>
            </a:r>
            <a:r>
              <a:rPr lang="en-CA" sz="2000" b="1" dirty="0">
                <a:solidFill>
                  <a:srgbClr val="007020"/>
                </a:solidFill>
              </a:rPr>
              <a:t>import</a:t>
            </a:r>
            <a:r>
              <a:rPr lang="en-CA" sz="2000" dirty="0"/>
              <a:t> visual, core </a:t>
            </a:r>
            <a:br>
              <a:rPr lang="en-CA" sz="2000" dirty="0"/>
            </a:br>
            <a:r>
              <a:rPr lang="en-CA" sz="2000" dirty="0"/>
              <a:t>win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 err="1"/>
              <a:t>visual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Window</a:t>
            </a:r>
            <a:r>
              <a:rPr lang="en-CA" sz="2000" dirty="0"/>
              <a:t>([</a:t>
            </a:r>
            <a:r>
              <a:rPr lang="en-CA" sz="2000" dirty="0">
                <a:solidFill>
                  <a:srgbClr val="208050"/>
                </a:solidFill>
              </a:rPr>
              <a:t>400</a:t>
            </a:r>
            <a:r>
              <a:rPr lang="en-CA" sz="2000" dirty="0"/>
              <a:t>,</a:t>
            </a:r>
            <a:r>
              <a:rPr lang="en-CA" sz="2000" dirty="0">
                <a:solidFill>
                  <a:srgbClr val="208050"/>
                </a:solidFill>
              </a:rPr>
              <a:t>400</a:t>
            </a:r>
            <a:r>
              <a:rPr lang="en-CA" sz="2000" dirty="0"/>
              <a:t>]) </a:t>
            </a:r>
            <a:br>
              <a:rPr lang="en-CA" sz="2000" dirty="0"/>
            </a:br>
            <a:r>
              <a:rPr lang="en-CA" sz="2000" dirty="0">
                <a:highlight>
                  <a:srgbClr val="FFFF00"/>
                </a:highlight>
              </a:rPr>
              <a:t>message </a:t>
            </a:r>
            <a:r>
              <a:rPr lang="en-CA" sz="2000" dirty="0">
                <a:solidFill>
                  <a:srgbClr val="666666"/>
                </a:solidFill>
                <a:highlight>
                  <a:srgbClr val="FFFF00"/>
                </a:highlight>
              </a:rPr>
              <a:t>=</a:t>
            </a:r>
            <a:r>
              <a:rPr lang="en-CA" sz="2000" dirty="0">
                <a:highlight>
                  <a:srgbClr val="FFFF00"/>
                </a:highlight>
              </a:rPr>
              <a:t> </a:t>
            </a:r>
            <a:r>
              <a:rPr lang="en-CA" sz="2000" dirty="0" err="1">
                <a:highlight>
                  <a:srgbClr val="FFFF00"/>
                </a:highlight>
              </a:rPr>
              <a:t>visual</a:t>
            </a:r>
            <a:r>
              <a:rPr lang="en-CA" sz="2000" dirty="0" err="1">
                <a:solidFill>
                  <a:srgbClr val="666666"/>
                </a:solidFill>
                <a:highlight>
                  <a:srgbClr val="FFFF00"/>
                </a:highlight>
              </a:rPr>
              <a:t>.</a:t>
            </a:r>
            <a:r>
              <a:rPr lang="en-CA" sz="2000" dirty="0" err="1">
                <a:highlight>
                  <a:srgbClr val="FFFF00"/>
                </a:highlight>
              </a:rPr>
              <a:t>TextStim</a:t>
            </a:r>
            <a:r>
              <a:rPr lang="en-CA" sz="2000" dirty="0">
                <a:highlight>
                  <a:srgbClr val="FFFF00"/>
                </a:highlight>
              </a:rPr>
              <a:t>(win, text</a:t>
            </a:r>
            <a:r>
              <a:rPr lang="en-CA" sz="2000" dirty="0">
                <a:solidFill>
                  <a:srgbClr val="666666"/>
                </a:solidFill>
                <a:highlight>
                  <a:srgbClr val="FFFF00"/>
                </a:highlight>
              </a:rPr>
              <a:t>=</a:t>
            </a:r>
            <a:r>
              <a:rPr lang="en-CA" sz="2000" dirty="0">
                <a:solidFill>
                  <a:srgbClr val="4070A0"/>
                </a:solidFill>
                <a:highlight>
                  <a:srgbClr val="FFFF00"/>
                </a:highlight>
              </a:rPr>
              <a:t>'hello'</a:t>
            </a:r>
            <a:r>
              <a:rPr lang="en-CA" sz="2000" dirty="0">
                <a:highlight>
                  <a:srgbClr val="FFFF00"/>
                </a:highlight>
              </a:rPr>
              <a:t>) </a:t>
            </a:r>
            <a:r>
              <a:rPr lang="en-CA" sz="2000" dirty="0" err="1"/>
              <a:t>message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autoDraw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b="1" dirty="0">
                <a:solidFill>
                  <a:srgbClr val="007020"/>
                </a:solidFill>
              </a:rPr>
              <a:t>True</a:t>
            </a:r>
            <a:r>
              <a:rPr lang="en-CA" sz="2000" dirty="0"/>
              <a:t> </a:t>
            </a:r>
            <a:r>
              <a:rPr lang="en-CA" sz="2000" i="1" dirty="0">
                <a:solidFill>
                  <a:srgbClr val="408090"/>
                </a:solidFill>
              </a:rPr>
              <a:t># Automatically draw every frame</a:t>
            </a:r>
            <a:r>
              <a:rPr lang="en-CA" sz="2000" dirty="0"/>
              <a:t> </a:t>
            </a:r>
            <a:br>
              <a:rPr lang="en-CA" sz="2000" dirty="0"/>
            </a:br>
            <a:r>
              <a:rPr lang="en-CA" sz="2000" dirty="0" err="1"/>
              <a:t>win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flip</a:t>
            </a:r>
            <a:r>
              <a:rPr lang="en-CA" sz="2000" dirty="0"/>
              <a:t>() </a:t>
            </a:r>
            <a:br>
              <a:rPr lang="en-CA" sz="2000" dirty="0"/>
            </a:br>
            <a:r>
              <a:rPr lang="en-CA" sz="2000" dirty="0" err="1"/>
              <a:t>core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wait</a:t>
            </a:r>
            <a:r>
              <a:rPr lang="en-CA" sz="2000" dirty="0"/>
              <a:t>(</a:t>
            </a:r>
            <a:r>
              <a:rPr lang="en-CA" sz="2000" dirty="0">
                <a:solidFill>
                  <a:srgbClr val="208050"/>
                </a:solidFill>
              </a:rPr>
              <a:t>2.0</a:t>
            </a:r>
            <a:r>
              <a:rPr lang="en-CA" sz="2000" dirty="0"/>
              <a:t>) </a:t>
            </a:r>
            <a:br>
              <a:rPr lang="en-CA" sz="2000" dirty="0"/>
            </a:br>
            <a:r>
              <a:rPr lang="en-CA" sz="2000" dirty="0" err="1"/>
              <a:t>message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text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4070A0"/>
                </a:solidFill>
              </a:rPr>
              <a:t>'world'</a:t>
            </a:r>
            <a:r>
              <a:rPr lang="en-CA" sz="2000" dirty="0"/>
              <a:t> </a:t>
            </a:r>
            <a:r>
              <a:rPr lang="en-CA" sz="2000" i="1" dirty="0">
                <a:solidFill>
                  <a:srgbClr val="408090"/>
                </a:solidFill>
              </a:rPr>
              <a:t># Change properties of existing stim</a:t>
            </a:r>
            <a:r>
              <a:rPr lang="en-CA" sz="2000" dirty="0"/>
              <a:t> </a:t>
            </a:r>
            <a:br>
              <a:rPr lang="en-CA" sz="2000" dirty="0"/>
            </a:br>
            <a:r>
              <a:rPr lang="en-CA" sz="2000" dirty="0" err="1"/>
              <a:t>win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flip</a:t>
            </a:r>
            <a:r>
              <a:rPr lang="en-CA" sz="2000" dirty="0"/>
              <a:t>() </a:t>
            </a:r>
            <a:br>
              <a:rPr lang="en-CA" sz="2000" dirty="0"/>
            </a:br>
            <a:r>
              <a:rPr lang="en-CA" sz="2000" dirty="0" err="1"/>
              <a:t>core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wait</a:t>
            </a:r>
            <a:r>
              <a:rPr lang="en-CA" sz="2000" dirty="0"/>
              <a:t>(</a:t>
            </a:r>
            <a:r>
              <a:rPr lang="en-CA" sz="2000" dirty="0">
                <a:solidFill>
                  <a:srgbClr val="208050"/>
                </a:solidFill>
              </a:rPr>
              <a:t>2.0</a:t>
            </a:r>
            <a:r>
              <a:rPr lang="en-CA" sz="2000" dirty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04073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618D-32B2-9544-845B-95EF5453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break that down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84ED03-82D3-1245-9780-D630AB07A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17659" y="1825625"/>
            <a:ext cx="5181600" cy="4016369"/>
          </a:xfrm>
        </p:spPr>
        <p:txBody>
          <a:bodyPr>
            <a:normAutofit/>
          </a:bodyPr>
          <a:lstStyle/>
          <a:p>
            <a:r>
              <a:rPr lang="en-US" dirty="0"/>
              <a:t>If </a:t>
            </a:r>
            <a:r>
              <a:rPr lang="en-US" dirty="0" err="1"/>
              <a:t>autoDraw</a:t>
            </a:r>
            <a:r>
              <a:rPr lang="en-US" dirty="0"/>
              <a:t> == true </a:t>
            </a:r>
            <a:r>
              <a:rPr lang="en-US" dirty="0">
                <a:sym typeface="Wingdings" pitchFamily="2" charset="2"/>
              </a:rPr>
              <a:t> will draw on every frame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Otherwise, will draw one frame at a time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Drawing frame x frame can be useful for timing control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8D58E9-BB73-9C47-96D1-36E95D9E99CD}"/>
              </a:ext>
            </a:extLst>
          </p:cNvPr>
          <p:cNvCxnSpPr>
            <a:cxnSpLocks/>
          </p:cNvCxnSpPr>
          <p:nvPr/>
        </p:nvCxnSpPr>
        <p:spPr>
          <a:xfrm flipV="1">
            <a:off x="6096000" y="2216075"/>
            <a:ext cx="519953" cy="54864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049E98B-B850-E145-BC9D-31BD66577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b="1" dirty="0">
                <a:solidFill>
                  <a:srgbClr val="007020"/>
                </a:solidFill>
              </a:rPr>
              <a:t>from</a:t>
            </a:r>
            <a:r>
              <a:rPr lang="en-CA" sz="2000" dirty="0"/>
              <a:t> </a:t>
            </a:r>
            <a:r>
              <a:rPr lang="en-CA" sz="2000" b="1" dirty="0" err="1">
                <a:solidFill>
                  <a:srgbClr val="0E84B5"/>
                </a:solidFill>
              </a:rPr>
              <a:t>psychopy</a:t>
            </a:r>
            <a:r>
              <a:rPr lang="en-CA" sz="2000" dirty="0"/>
              <a:t> </a:t>
            </a:r>
            <a:r>
              <a:rPr lang="en-CA" sz="2000" b="1" dirty="0">
                <a:solidFill>
                  <a:srgbClr val="007020"/>
                </a:solidFill>
              </a:rPr>
              <a:t>import</a:t>
            </a:r>
            <a:r>
              <a:rPr lang="en-CA" sz="2000" dirty="0"/>
              <a:t> visual, core </a:t>
            </a:r>
            <a:br>
              <a:rPr lang="en-CA" sz="2000" dirty="0"/>
            </a:br>
            <a:r>
              <a:rPr lang="en-CA" sz="2000" dirty="0"/>
              <a:t>win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 err="1"/>
              <a:t>visual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Window</a:t>
            </a:r>
            <a:r>
              <a:rPr lang="en-CA" sz="2000" dirty="0"/>
              <a:t>([</a:t>
            </a:r>
            <a:r>
              <a:rPr lang="en-CA" sz="2000" dirty="0">
                <a:solidFill>
                  <a:srgbClr val="208050"/>
                </a:solidFill>
              </a:rPr>
              <a:t>400</a:t>
            </a:r>
            <a:r>
              <a:rPr lang="en-CA" sz="2000" dirty="0"/>
              <a:t>,</a:t>
            </a:r>
            <a:r>
              <a:rPr lang="en-CA" sz="2000" dirty="0">
                <a:solidFill>
                  <a:srgbClr val="208050"/>
                </a:solidFill>
              </a:rPr>
              <a:t>400</a:t>
            </a:r>
            <a:r>
              <a:rPr lang="en-CA" sz="2000" dirty="0"/>
              <a:t>]) </a:t>
            </a:r>
            <a:br>
              <a:rPr lang="en-CA" sz="2000" dirty="0"/>
            </a:br>
            <a:r>
              <a:rPr lang="en-CA" sz="2000" dirty="0"/>
              <a:t>message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 err="1"/>
              <a:t>visual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TextStim</a:t>
            </a:r>
            <a:r>
              <a:rPr lang="en-CA" sz="2000" dirty="0"/>
              <a:t>(win, text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>
                <a:solidFill>
                  <a:srgbClr val="4070A0"/>
                </a:solidFill>
              </a:rPr>
              <a:t>'hello'</a:t>
            </a:r>
            <a:r>
              <a:rPr lang="en-CA" sz="2000" dirty="0"/>
              <a:t>) </a:t>
            </a:r>
            <a:r>
              <a:rPr lang="en-CA" sz="2000" dirty="0" err="1">
                <a:highlight>
                  <a:srgbClr val="FFFF00"/>
                </a:highlight>
              </a:rPr>
              <a:t>message</a:t>
            </a:r>
            <a:r>
              <a:rPr lang="en-CA" sz="2000" dirty="0" err="1">
                <a:solidFill>
                  <a:srgbClr val="666666"/>
                </a:solidFill>
                <a:highlight>
                  <a:srgbClr val="FFFF00"/>
                </a:highlight>
              </a:rPr>
              <a:t>.</a:t>
            </a:r>
            <a:r>
              <a:rPr lang="en-CA" sz="2000" dirty="0" err="1">
                <a:highlight>
                  <a:srgbClr val="FFFF00"/>
                </a:highlight>
              </a:rPr>
              <a:t>autoDraw</a:t>
            </a:r>
            <a:r>
              <a:rPr lang="en-CA" sz="2000" dirty="0">
                <a:highlight>
                  <a:srgbClr val="FFFF00"/>
                </a:highlight>
              </a:rPr>
              <a:t> </a:t>
            </a:r>
            <a:r>
              <a:rPr lang="en-CA" sz="2000" dirty="0">
                <a:solidFill>
                  <a:srgbClr val="666666"/>
                </a:solidFill>
                <a:highlight>
                  <a:srgbClr val="FFFF00"/>
                </a:highlight>
              </a:rPr>
              <a:t>=</a:t>
            </a:r>
            <a:r>
              <a:rPr lang="en-CA" sz="2000" dirty="0">
                <a:highlight>
                  <a:srgbClr val="FFFF00"/>
                </a:highlight>
              </a:rPr>
              <a:t> </a:t>
            </a:r>
            <a:r>
              <a:rPr lang="en-CA" sz="2000" b="1" dirty="0">
                <a:solidFill>
                  <a:srgbClr val="007020"/>
                </a:solidFill>
                <a:highlight>
                  <a:srgbClr val="FFFF00"/>
                </a:highlight>
              </a:rPr>
              <a:t>True</a:t>
            </a:r>
            <a:r>
              <a:rPr lang="en-CA" sz="2000" dirty="0">
                <a:highlight>
                  <a:srgbClr val="FFFF00"/>
                </a:highlight>
              </a:rPr>
              <a:t> </a:t>
            </a:r>
            <a:r>
              <a:rPr lang="en-CA" sz="2000" i="1" dirty="0">
                <a:solidFill>
                  <a:srgbClr val="408090"/>
                </a:solidFill>
                <a:highlight>
                  <a:srgbClr val="FFFF00"/>
                </a:highlight>
              </a:rPr>
              <a:t># Automatically draw every frame</a:t>
            </a:r>
            <a:r>
              <a:rPr lang="en-CA" sz="2000" dirty="0">
                <a:highlight>
                  <a:srgbClr val="FFFF00"/>
                </a:highlight>
              </a:rPr>
              <a:t> </a:t>
            </a:r>
            <a:br>
              <a:rPr lang="en-CA" sz="2000" dirty="0"/>
            </a:br>
            <a:r>
              <a:rPr lang="en-CA" sz="2000" dirty="0" err="1"/>
              <a:t>win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flip</a:t>
            </a:r>
            <a:r>
              <a:rPr lang="en-CA" sz="2000" dirty="0"/>
              <a:t>() </a:t>
            </a:r>
            <a:br>
              <a:rPr lang="en-CA" sz="2000" dirty="0"/>
            </a:br>
            <a:r>
              <a:rPr lang="en-CA" sz="2000" dirty="0" err="1"/>
              <a:t>core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wait</a:t>
            </a:r>
            <a:r>
              <a:rPr lang="en-CA" sz="2000" dirty="0"/>
              <a:t>(</a:t>
            </a:r>
            <a:r>
              <a:rPr lang="en-CA" sz="2000" dirty="0">
                <a:solidFill>
                  <a:srgbClr val="208050"/>
                </a:solidFill>
              </a:rPr>
              <a:t>2.0</a:t>
            </a:r>
            <a:r>
              <a:rPr lang="en-CA" sz="2000" dirty="0"/>
              <a:t>) </a:t>
            </a:r>
            <a:br>
              <a:rPr lang="en-CA" sz="2000" dirty="0"/>
            </a:br>
            <a:r>
              <a:rPr lang="en-CA" sz="2000" dirty="0" err="1"/>
              <a:t>message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text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4070A0"/>
                </a:solidFill>
              </a:rPr>
              <a:t>'world'</a:t>
            </a:r>
            <a:r>
              <a:rPr lang="en-CA" sz="2000" dirty="0"/>
              <a:t> </a:t>
            </a:r>
            <a:r>
              <a:rPr lang="en-CA" sz="2000" i="1" dirty="0">
                <a:solidFill>
                  <a:srgbClr val="408090"/>
                </a:solidFill>
              </a:rPr>
              <a:t># Change properties of existing stim</a:t>
            </a:r>
            <a:r>
              <a:rPr lang="en-CA" sz="2000" dirty="0"/>
              <a:t> </a:t>
            </a:r>
            <a:br>
              <a:rPr lang="en-CA" sz="2000" dirty="0"/>
            </a:br>
            <a:r>
              <a:rPr lang="en-CA" sz="2000" dirty="0" err="1"/>
              <a:t>win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flip</a:t>
            </a:r>
            <a:r>
              <a:rPr lang="en-CA" sz="2000" dirty="0"/>
              <a:t>() </a:t>
            </a:r>
            <a:br>
              <a:rPr lang="en-CA" sz="2000" dirty="0"/>
            </a:br>
            <a:r>
              <a:rPr lang="en-CA" sz="2000" dirty="0" err="1"/>
              <a:t>core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wait</a:t>
            </a:r>
            <a:r>
              <a:rPr lang="en-CA" sz="2000" dirty="0"/>
              <a:t>(</a:t>
            </a:r>
            <a:r>
              <a:rPr lang="en-CA" sz="2000" dirty="0">
                <a:solidFill>
                  <a:srgbClr val="208050"/>
                </a:solidFill>
              </a:rPr>
              <a:t>2.0</a:t>
            </a:r>
            <a:r>
              <a:rPr lang="en-CA" sz="2000" dirty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9921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618D-32B2-9544-845B-95EF5453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break that down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84ED03-82D3-1245-9780-D630AB07A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17659" y="1825625"/>
            <a:ext cx="5181600" cy="4016369"/>
          </a:xfrm>
        </p:spPr>
        <p:txBody>
          <a:bodyPr>
            <a:normAutofit/>
          </a:bodyPr>
          <a:lstStyle/>
          <a:p>
            <a:r>
              <a:rPr lang="en-US" dirty="0"/>
              <a:t>Flip the stimulus to the screen!</a:t>
            </a:r>
          </a:p>
          <a:p>
            <a:endParaRPr lang="en-US" dirty="0"/>
          </a:p>
          <a:p>
            <a:r>
              <a:rPr lang="en-US" dirty="0"/>
              <a:t>Stimulus does not appear until the buffer is ”flipped” </a:t>
            </a: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8D58E9-BB73-9C47-96D1-36E95D9E99CD}"/>
              </a:ext>
            </a:extLst>
          </p:cNvPr>
          <p:cNvCxnSpPr>
            <a:cxnSpLocks/>
          </p:cNvCxnSpPr>
          <p:nvPr/>
        </p:nvCxnSpPr>
        <p:spPr>
          <a:xfrm flipV="1">
            <a:off x="2183802" y="2216076"/>
            <a:ext cx="4432151" cy="121292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049E98B-B850-E145-BC9D-31BD66577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b="1" dirty="0">
                <a:solidFill>
                  <a:srgbClr val="007020"/>
                </a:solidFill>
              </a:rPr>
              <a:t>from</a:t>
            </a:r>
            <a:r>
              <a:rPr lang="en-CA" sz="2000" dirty="0"/>
              <a:t> </a:t>
            </a:r>
            <a:r>
              <a:rPr lang="en-CA" sz="2000" b="1" dirty="0" err="1">
                <a:solidFill>
                  <a:srgbClr val="0E84B5"/>
                </a:solidFill>
              </a:rPr>
              <a:t>psychopy</a:t>
            </a:r>
            <a:r>
              <a:rPr lang="en-CA" sz="2000" dirty="0"/>
              <a:t> </a:t>
            </a:r>
            <a:r>
              <a:rPr lang="en-CA" sz="2000" b="1" dirty="0">
                <a:solidFill>
                  <a:srgbClr val="007020"/>
                </a:solidFill>
              </a:rPr>
              <a:t>import</a:t>
            </a:r>
            <a:r>
              <a:rPr lang="en-CA" sz="2000" dirty="0"/>
              <a:t> visual, core </a:t>
            </a:r>
            <a:br>
              <a:rPr lang="en-CA" sz="2000" dirty="0"/>
            </a:br>
            <a:r>
              <a:rPr lang="en-CA" sz="2000" dirty="0"/>
              <a:t>win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 err="1"/>
              <a:t>visual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Window</a:t>
            </a:r>
            <a:r>
              <a:rPr lang="en-CA" sz="2000" dirty="0"/>
              <a:t>([</a:t>
            </a:r>
            <a:r>
              <a:rPr lang="en-CA" sz="2000" dirty="0">
                <a:solidFill>
                  <a:srgbClr val="208050"/>
                </a:solidFill>
              </a:rPr>
              <a:t>400</a:t>
            </a:r>
            <a:r>
              <a:rPr lang="en-CA" sz="2000" dirty="0"/>
              <a:t>,</a:t>
            </a:r>
            <a:r>
              <a:rPr lang="en-CA" sz="2000" dirty="0">
                <a:solidFill>
                  <a:srgbClr val="208050"/>
                </a:solidFill>
              </a:rPr>
              <a:t>400</a:t>
            </a:r>
            <a:r>
              <a:rPr lang="en-CA" sz="2000" dirty="0"/>
              <a:t>]) </a:t>
            </a:r>
            <a:br>
              <a:rPr lang="en-CA" sz="2000" dirty="0"/>
            </a:br>
            <a:r>
              <a:rPr lang="en-CA" sz="2000" dirty="0"/>
              <a:t>message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 err="1"/>
              <a:t>visual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TextStim</a:t>
            </a:r>
            <a:r>
              <a:rPr lang="en-CA" sz="2000" dirty="0"/>
              <a:t>(win, text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>
                <a:solidFill>
                  <a:srgbClr val="4070A0"/>
                </a:solidFill>
              </a:rPr>
              <a:t>'hello'</a:t>
            </a:r>
            <a:r>
              <a:rPr lang="en-CA" sz="2000" dirty="0"/>
              <a:t>) </a:t>
            </a:r>
            <a:r>
              <a:rPr lang="en-CA" sz="2000" dirty="0" err="1"/>
              <a:t>message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autoDraw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b="1" dirty="0">
                <a:solidFill>
                  <a:srgbClr val="007020"/>
                </a:solidFill>
              </a:rPr>
              <a:t>True</a:t>
            </a:r>
            <a:r>
              <a:rPr lang="en-CA" sz="2000" dirty="0"/>
              <a:t> </a:t>
            </a:r>
            <a:r>
              <a:rPr lang="en-CA" sz="2000" i="1" dirty="0">
                <a:solidFill>
                  <a:srgbClr val="408090"/>
                </a:solidFill>
              </a:rPr>
              <a:t># Automatically draw every frame</a:t>
            </a:r>
            <a:r>
              <a:rPr lang="en-CA" sz="2000" dirty="0"/>
              <a:t> </a:t>
            </a:r>
            <a:br>
              <a:rPr lang="en-CA" sz="2000" dirty="0"/>
            </a:br>
            <a:r>
              <a:rPr lang="en-CA" sz="2000" dirty="0" err="1">
                <a:highlight>
                  <a:srgbClr val="FFFF00"/>
                </a:highlight>
              </a:rPr>
              <a:t>win</a:t>
            </a:r>
            <a:r>
              <a:rPr lang="en-CA" sz="2000" dirty="0" err="1">
                <a:solidFill>
                  <a:srgbClr val="666666"/>
                </a:solidFill>
                <a:highlight>
                  <a:srgbClr val="FFFF00"/>
                </a:highlight>
              </a:rPr>
              <a:t>.</a:t>
            </a:r>
            <a:r>
              <a:rPr lang="en-CA" sz="2000" dirty="0" err="1">
                <a:highlight>
                  <a:srgbClr val="FFFF00"/>
                </a:highlight>
              </a:rPr>
              <a:t>flip</a:t>
            </a:r>
            <a:r>
              <a:rPr lang="en-CA" sz="2000" dirty="0">
                <a:highlight>
                  <a:srgbClr val="FFFF00"/>
                </a:highlight>
              </a:rPr>
              <a:t>() </a:t>
            </a:r>
            <a:br>
              <a:rPr lang="en-CA" sz="2000" dirty="0"/>
            </a:br>
            <a:r>
              <a:rPr lang="en-CA" sz="2000" dirty="0" err="1"/>
              <a:t>core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wait</a:t>
            </a:r>
            <a:r>
              <a:rPr lang="en-CA" sz="2000" dirty="0"/>
              <a:t>(</a:t>
            </a:r>
            <a:r>
              <a:rPr lang="en-CA" sz="2000" dirty="0">
                <a:solidFill>
                  <a:srgbClr val="208050"/>
                </a:solidFill>
              </a:rPr>
              <a:t>2.0</a:t>
            </a:r>
            <a:r>
              <a:rPr lang="en-CA" sz="2000" dirty="0"/>
              <a:t>) </a:t>
            </a:r>
            <a:br>
              <a:rPr lang="en-CA" sz="2000" dirty="0"/>
            </a:br>
            <a:r>
              <a:rPr lang="en-CA" sz="2000" dirty="0" err="1"/>
              <a:t>message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text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4070A0"/>
                </a:solidFill>
              </a:rPr>
              <a:t>'world'</a:t>
            </a:r>
            <a:r>
              <a:rPr lang="en-CA" sz="2000" dirty="0"/>
              <a:t> </a:t>
            </a:r>
            <a:r>
              <a:rPr lang="en-CA" sz="2000" i="1" dirty="0">
                <a:solidFill>
                  <a:srgbClr val="408090"/>
                </a:solidFill>
              </a:rPr>
              <a:t># Change properties of existing stim</a:t>
            </a:r>
            <a:r>
              <a:rPr lang="en-CA" sz="2000" dirty="0"/>
              <a:t> </a:t>
            </a:r>
            <a:br>
              <a:rPr lang="en-CA" sz="2000" dirty="0"/>
            </a:br>
            <a:r>
              <a:rPr lang="en-CA" sz="2000" dirty="0" err="1"/>
              <a:t>win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flip</a:t>
            </a:r>
            <a:r>
              <a:rPr lang="en-CA" sz="2000" dirty="0"/>
              <a:t>() </a:t>
            </a:r>
            <a:br>
              <a:rPr lang="en-CA" sz="2000" dirty="0"/>
            </a:br>
            <a:r>
              <a:rPr lang="en-CA" sz="2000" dirty="0" err="1"/>
              <a:t>core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wait</a:t>
            </a:r>
            <a:r>
              <a:rPr lang="en-CA" sz="2000" dirty="0"/>
              <a:t>(</a:t>
            </a:r>
            <a:r>
              <a:rPr lang="en-CA" sz="2000" dirty="0">
                <a:solidFill>
                  <a:srgbClr val="208050"/>
                </a:solidFill>
              </a:rPr>
              <a:t>2.0</a:t>
            </a:r>
            <a:r>
              <a:rPr lang="en-CA" sz="2000" dirty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26434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618D-32B2-9544-845B-95EF5453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break that down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84ED03-82D3-1245-9780-D630AB07A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17659" y="1825625"/>
            <a:ext cx="5181600" cy="4016369"/>
          </a:xfrm>
        </p:spPr>
        <p:txBody>
          <a:bodyPr>
            <a:normAutofit/>
          </a:bodyPr>
          <a:lstStyle/>
          <a:p>
            <a:r>
              <a:rPr lang="en-US" dirty="0"/>
              <a:t>Use the wait command to delay next events </a:t>
            </a: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8D58E9-BB73-9C47-96D1-36E95D9E99CD}"/>
              </a:ext>
            </a:extLst>
          </p:cNvPr>
          <p:cNvCxnSpPr>
            <a:cxnSpLocks/>
          </p:cNvCxnSpPr>
          <p:nvPr/>
        </p:nvCxnSpPr>
        <p:spPr>
          <a:xfrm flipV="1">
            <a:off x="2603351" y="2216076"/>
            <a:ext cx="4012602" cy="140925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049E98B-B850-E145-BC9D-31BD66577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b="1" dirty="0">
                <a:solidFill>
                  <a:srgbClr val="007020"/>
                </a:solidFill>
              </a:rPr>
              <a:t>from</a:t>
            </a:r>
            <a:r>
              <a:rPr lang="en-CA" sz="2000" dirty="0"/>
              <a:t> </a:t>
            </a:r>
            <a:r>
              <a:rPr lang="en-CA" sz="2000" b="1" dirty="0" err="1">
                <a:solidFill>
                  <a:srgbClr val="0E84B5"/>
                </a:solidFill>
              </a:rPr>
              <a:t>psychopy</a:t>
            </a:r>
            <a:r>
              <a:rPr lang="en-CA" sz="2000" dirty="0"/>
              <a:t> </a:t>
            </a:r>
            <a:r>
              <a:rPr lang="en-CA" sz="2000" b="1" dirty="0">
                <a:solidFill>
                  <a:srgbClr val="007020"/>
                </a:solidFill>
              </a:rPr>
              <a:t>import</a:t>
            </a:r>
            <a:r>
              <a:rPr lang="en-CA" sz="2000" dirty="0"/>
              <a:t> visual, core </a:t>
            </a:r>
            <a:br>
              <a:rPr lang="en-CA" sz="2000" dirty="0"/>
            </a:br>
            <a:r>
              <a:rPr lang="en-CA" sz="2000" dirty="0"/>
              <a:t>win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 err="1"/>
              <a:t>visual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Window</a:t>
            </a:r>
            <a:r>
              <a:rPr lang="en-CA" sz="2000" dirty="0"/>
              <a:t>([</a:t>
            </a:r>
            <a:r>
              <a:rPr lang="en-CA" sz="2000" dirty="0">
                <a:solidFill>
                  <a:srgbClr val="208050"/>
                </a:solidFill>
              </a:rPr>
              <a:t>400</a:t>
            </a:r>
            <a:r>
              <a:rPr lang="en-CA" sz="2000" dirty="0"/>
              <a:t>,</a:t>
            </a:r>
            <a:r>
              <a:rPr lang="en-CA" sz="2000" dirty="0">
                <a:solidFill>
                  <a:srgbClr val="208050"/>
                </a:solidFill>
              </a:rPr>
              <a:t>400</a:t>
            </a:r>
            <a:r>
              <a:rPr lang="en-CA" sz="2000" dirty="0"/>
              <a:t>]) </a:t>
            </a:r>
            <a:br>
              <a:rPr lang="en-CA" sz="2000" dirty="0"/>
            </a:br>
            <a:r>
              <a:rPr lang="en-CA" sz="2000" dirty="0"/>
              <a:t>message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 err="1"/>
              <a:t>visual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TextStim</a:t>
            </a:r>
            <a:r>
              <a:rPr lang="en-CA" sz="2000" dirty="0"/>
              <a:t>(win, text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>
                <a:solidFill>
                  <a:srgbClr val="4070A0"/>
                </a:solidFill>
              </a:rPr>
              <a:t>'hello'</a:t>
            </a:r>
            <a:r>
              <a:rPr lang="en-CA" sz="2000" dirty="0"/>
              <a:t>) </a:t>
            </a:r>
            <a:r>
              <a:rPr lang="en-CA" sz="2000" dirty="0" err="1"/>
              <a:t>message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autoDraw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b="1" dirty="0">
                <a:solidFill>
                  <a:srgbClr val="007020"/>
                </a:solidFill>
              </a:rPr>
              <a:t>True</a:t>
            </a:r>
            <a:r>
              <a:rPr lang="en-CA" sz="2000" dirty="0"/>
              <a:t> </a:t>
            </a:r>
            <a:r>
              <a:rPr lang="en-CA" sz="2000" i="1" dirty="0">
                <a:solidFill>
                  <a:srgbClr val="408090"/>
                </a:solidFill>
              </a:rPr>
              <a:t># Automatically draw every frame</a:t>
            </a:r>
            <a:r>
              <a:rPr lang="en-CA" sz="2000" dirty="0"/>
              <a:t> </a:t>
            </a:r>
            <a:br>
              <a:rPr lang="en-CA" sz="2000" dirty="0"/>
            </a:br>
            <a:r>
              <a:rPr lang="en-CA" sz="2000" dirty="0" err="1"/>
              <a:t>win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flip</a:t>
            </a:r>
            <a:r>
              <a:rPr lang="en-CA" sz="2000" dirty="0"/>
              <a:t>() </a:t>
            </a:r>
            <a:br>
              <a:rPr lang="en-CA" sz="2000" dirty="0"/>
            </a:br>
            <a:r>
              <a:rPr lang="en-CA" sz="2000" dirty="0" err="1">
                <a:highlight>
                  <a:srgbClr val="FFFF00"/>
                </a:highlight>
              </a:rPr>
              <a:t>core</a:t>
            </a:r>
            <a:r>
              <a:rPr lang="en-CA" sz="2000" dirty="0" err="1">
                <a:solidFill>
                  <a:srgbClr val="666666"/>
                </a:solidFill>
                <a:highlight>
                  <a:srgbClr val="FFFF00"/>
                </a:highlight>
              </a:rPr>
              <a:t>.</a:t>
            </a:r>
            <a:r>
              <a:rPr lang="en-CA" sz="2000" dirty="0" err="1">
                <a:highlight>
                  <a:srgbClr val="FFFF00"/>
                </a:highlight>
              </a:rPr>
              <a:t>wait</a:t>
            </a:r>
            <a:r>
              <a:rPr lang="en-CA" sz="2000" dirty="0">
                <a:highlight>
                  <a:srgbClr val="FFFF00"/>
                </a:highlight>
              </a:rPr>
              <a:t>(</a:t>
            </a:r>
            <a:r>
              <a:rPr lang="en-CA" sz="2000" dirty="0">
                <a:solidFill>
                  <a:srgbClr val="208050"/>
                </a:solidFill>
                <a:highlight>
                  <a:srgbClr val="FFFF00"/>
                </a:highlight>
              </a:rPr>
              <a:t>2.0</a:t>
            </a:r>
            <a:r>
              <a:rPr lang="en-CA" sz="2000" dirty="0">
                <a:highlight>
                  <a:srgbClr val="FFFF00"/>
                </a:highlight>
              </a:rPr>
              <a:t>) </a:t>
            </a:r>
            <a:br>
              <a:rPr lang="en-CA" sz="2000" dirty="0"/>
            </a:br>
            <a:r>
              <a:rPr lang="en-CA" sz="2000" dirty="0" err="1"/>
              <a:t>message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text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4070A0"/>
                </a:solidFill>
              </a:rPr>
              <a:t>'world'</a:t>
            </a:r>
            <a:r>
              <a:rPr lang="en-CA" sz="2000" dirty="0"/>
              <a:t> </a:t>
            </a:r>
            <a:r>
              <a:rPr lang="en-CA" sz="2000" i="1" dirty="0">
                <a:solidFill>
                  <a:srgbClr val="408090"/>
                </a:solidFill>
              </a:rPr>
              <a:t># Change properties of existing stim</a:t>
            </a:r>
            <a:r>
              <a:rPr lang="en-CA" sz="2000" dirty="0"/>
              <a:t> </a:t>
            </a:r>
            <a:br>
              <a:rPr lang="en-CA" sz="2000" dirty="0"/>
            </a:br>
            <a:r>
              <a:rPr lang="en-CA" sz="2000" dirty="0" err="1"/>
              <a:t>win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flip</a:t>
            </a:r>
            <a:r>
              <a:rPr lang="en-CA" sz="2000" dirty="0"/>
              <a:t>() </a:t>
            </a:r>
            <a:br>
              <a:rPr lang="en-CA" sz="2000" dirty="0"/>
            </a:br>
            <a:r>
              <a:rPr lang="en-CA" sz="2000" dirty="0" err="1"/>
              <a:t>core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wait</a:t>
            </a:r>
            <a:r>
              <a:rPr lang="en-CA" sz="2000" dirty="0"/>
              <a:t>(</a:t>
            </a:r>
            <a:r>
              <a:rPr lang="en-CA" sz="2000" dirty="0">
                <a:solidFill>
                  <a:srgbClr val="208050"/>
                </a:solidFill>
              </a:rPr>
              <a:t>2.0</a:t>
            </a:r>
            <a:r>
              <a:rPr lang="en-CA" sz="2000" dirty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07002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618D-32B2-9544-845B-95EF5453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break that down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84ED03-82D3-1245-9780-D630AB07A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17659" y="1825625"/>
            <a:ext cx="5181600" cy="4016369"/>
          </a:xfrm>
        </p:spPr>
        <p:txBody>
          <a:bodyPr>
            <a:normAutofit/>
          </a:bodyPr>
          <a:lstStyle/>
          <a:p>
            <a:r>
              <a:rPr lang="en-US" dirty="0"/>
              <a:t>Modify the properties of the stimulus by calling the handle</a:t>
            </a:r>
          </a:p>
          <a:p>
            <a:endParaRPr lang="en-US" dirty="0"/>
          </a:p>
          <a:p>
            <a:r>
              <a:rPr lang="en-US" dirty="0"/>
              <a:t>Flip it again</a:t>
            </a:r>
          </a:p>
          <a:p>
            <a:endParaRPr lang="en-US" dirty="0"/>
          </a:p>
          <a:p>
            <a:r>
              <a:rPr lang="en-US" dirty="0"/>
              <a:t>Wait for some time</a:t>
            </a:r>
          </a:p>
          <a:p>
            <a:pPr marL="457200" lvl="1" indent="0">
              <a:buNone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8D58E9-BB73-9C47-96D1-36E95D9E99CD}"/>
              </a:ext>
            </a:extLst>
          </p:cNvPr>
          <p:cNvCxnSpPr>
            <a:cxnSpLocks/>
          </p:cNvCxnSpPr>
          <p:nvPr/>
        </p:nvCxnSpPr>
        <p:spPr>
          <a:xfrm flipV="1">
            <a:off x="5809129" y="2216077"/>
            <a:ext cx="806824" cy="165667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049E98B-B850-E145-BC9D-31BD66577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b="1" dirty="0">
                <a:solidFill>
                  <a:srgbClr val="007020"/>
                </a:solidFill>
              </a:rPr>
              <a:t>from</a:t>
            </a:r>
            <a:r>
              <a:rPr lang="en-CA" sz="2000" dirty="0"/>
              <a:t> </a:t>
            </a:r>
            <a:r>
              <a:rPr lang="en-CA" sz="2000" b="1" dirty="0" err="1">
                <a:solidFill>
                  <a:srgbClr val="0E84B5"/>
                </a:solidFill>
              </a:rPr>
              <a:t>psychopy</a:t>
            </a:r>
            <a:r>
              <a:rPr lang="en-CA" sz="2000" dirty="0"/>
              <a:t> </a:t>
            </a:r>
            <a:r>
              <a:rPr lang="en-CA" sz="2000" b="1" dirty="0">
                <a:solidFill>
                  <a:srgbClr val="007020"/>
                </a:solidFill>
              </a:rPr>
              <a:t>import</a:t>
            </a:r>
            <a:r>
              <a:rPr lang="en-CA" sz="2000" dirty="0"/>
              <a:t> visual, core </a:t>
            </a:r>
            <a:br>
              <a:rPr lang="en-CA" sz="2000" dirty="0"/>
            </a:br>
            <a:r>
              <a:rPr lang="en-CA" sz="2000" dirty="0"/>
              <a:t>win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 err="1"/>
              <a:t>visual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Window</a:t>
            </a:r>
            <a:r>
              <a:rPr lang="en-CA" sz="2000" dirty="0"/>
              <a:t>([</a:t>
            </a:r>
            <a:r>
              <a:rPr lang="en-CA" sz="2000" dirty="0">
                <a:solidFill>
                  <a:srgbClr val="208050"/>
                </a:solidFill>
              </a:rPr>
              <a:t>400</a:t>
            </a:r>
            <a:r>
              <a:rPr lang="en-CA" sz="2000" dirty="0"/>
              <a:t>,</a:t>
            </a:r>
            <a:r>
              <a:rPr lang="en-CA" sz="2000" dirty="0">
                <a:solidFill>
                  <a:srgbClr val="208050"/>
                </a:solidFill>
              </a:rPr>
              <a:t>400</a:t>
            </a:r>
            <a:r>
              <a:rPr lang="en-CA" sz="2000" dirty="0"/>
              <a:t>]) </a:t>
            </a:r>
            <a:br>
              <a:rPr lang="en-CA" sz="2000" dirty="0"/>
            </a:br>
            <a:r>
              <a:rPr lang="en-CA" sz="2000" dirty="0"/>
              <a:t>message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dirty="0" err="1"/>
              <a:t>visual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TextStim</a:t>
            </a:r>
            <a:r>
              <a:rPr lang="en-CA" sz="2000" dirty="0"/>
              <a:t>(win, text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>
                <a:solidFill>
                  <a:srgbClr val="4070A0"/>
                </a:solidFill>
              </a:rPr>
              <a:t>'hello'</a:t>
            </a:r>
            <a:r>
              <a:rPr lang="en-CA" sz="2000" dirty="0"/>
              <a:t>) </a:t>
            </a:r>
            <a:r>
              <a:rPr lang="en-CA" sz="2000" dirty="0" err="1"/>
              <a:t>message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autoDraw</a:t>
            </a:r>
            <a:r>
              <a:rPr lang="en-CA" sz="2000" dirty="0"/>
              <a:t> </a:t>
            </a:r>
            <a:r>
              <a:rPr lang="en-CA" sz="2000" dirty="0">
                <a:solidFill>
                  <a:srgbClr val="666666"/>
                </a:solidFill>
              </a:rPr>
              <a:t>=</a:t>
            </a:r>
            <a:r>
              <a:rPr lang="en-CA" sz="2000" dirty="0"/>
              <a:t> </a:t>
            </a:r>
            <a:r>
              <a:rPr lang="en-CA" sz="2000" b="1" dirty="0">
                <a:solidFill>
                  <a:srgbClr val="007020"/>
                </a:solidFill>
              </a:rPr>
              <a:t>True</a:t>
            </a:r>
            <a:r>
              <a:rPr lang="en-CA" sz="2000" dirty="0"/>
              <a:t> </a:t>
            </a:r>
            <a:r>
              <a:rPr lang="en-CA" sz="2000" i="1" dirty="0">
                <a:solidFill>
                  <a:srgbClr val="408090"/>
                </a:solidFill>
              </a:rPr>
              <a:t># Automatically draw every frame</a:t>
            </a:r>
            <a:r>
              <a:rPr lang="en-CA" sz="2000" dirty="0"/>
              <a:t> </a:t>
            </a:r>
            <a:br>
              <a:rPr lang="en-CA" sz="2000" dirty="0"/>
            </a:br>
            <a:r>
              <a:rPr lang="en-CA" sz="2000" dirty="0" err="1"/>
              <a:t>win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flip</a:t>
            </a:r>
            <a:r>
              <a:rPr lang="en-CA" sz="2000" dirty="0"/>
              <a:t>() </a:t>
            </a:r>
            <a:br>
              <a:rPr lang="en-CA" sz="2000" dirty="0"/>
            </a:br>
            <a:r>
              <a:rPr lang="en-CA" sz="2000" dirty="0" err="1"/>
              <a:t>core</a:t>
            </a:r>
            <a:r>
              <a:rPr lang="en-CA" sz="2000" dirty="0" err="1">
                <a:solidFill>
                  <a:srgbClr val="666666"/>
                </a:solidFill>
              </a:rPr>
              <a:t>.</a:t>
            </a:r>
            <a:r>
              <a:rPr lang="en-CA" sz="2000" dirty="0" err="1"/>
              <a:t>wait</a:t>
            </a:r>
            <a:r>
              <a:rPr lang="en-CA" sz="2000" dirty="0"/>
              <a:t>(</a:t>
            </a:r>
            <a:r>
              <a:rPr lang="en-CA" sz="2000" dirty="0">
                <a:solidFill>
                  <a:srgbClr val="208050"/>
                </a:solidFill>
              </a:rPr>
              <a:t>2.0</a:t>
            </a:r>
            <a:r>
              <a:rPr lang="en-CA" sz="2000" dirty="0"/>
              <a:t>) </a:t>
            </a:r>
            <a:br>
              <a:rPr lang="en-CA" sz="2000" dirty="0"/>
            </a:br>
            <a:r>
              <a:rPr lang="en-CA" sz="2000" dirty="0" err="1">
                <a:highlight>
                  <a:srgbClr val="FFFF00"/>
                </a:highlight>
              </a:rPr>
              <a:t>message</a:t>
            </a:r>
            <a:r>
              <a:rPr lang="en-CA" sz="2000" dirty="0" err="1">
                <a:solidFill>
                  <a:srgbClr val="666666"/>
                </a:solidFill>
                <a:highlight>
                  <a:srgbClr val="FFFF00"/>
                </a:highlight>
              </a:rPr>
              <a:t>.</a:t>
            </a:r>
            <a:r>
              <a:rPr lang="en-CA" sz="2000" dirty="0" err="1">
                <a:highlight>
                  <a:srgbClr val="FFFF00"/>
                </a:highlight>
              </a:rPr>
              <a:t>text</a:t>
            </a:r>
            <a:r>
              <a:rPr lang="en-CA" sz="2000" dirty="0">
                <a:highlight>
                  <a:srgbClr val="FFFF00"/>
                </a:highlight>
              </a:rPr>
              <a:t> </a:t>
            </a:r>
            <a:r>
              <a:rPr lang="en-CA" sz="2000" dirty="0">
                <a:solidFill>
                  <a:srgbClr val="666666"/>
                </a:solidFill>
                <a:highlight>
                  <a:srgbClr val="FFFF00"/>
                </a:highlight>
              </a:rPr>
              <a:t>=</a:t>
            </a:r>
            <a:r>
              <a:rPr lang="en-CA" sz="2000" dirty="0">
                <a:highlight>
                  <a:srgbClr val="FFFF00"/>
                </a:highlight>
              </a:rPr>
              <a:t> </a:t>
            </a:r>
            <a:r>
              <a:rPr lang="en-CA" sz="2000" dirty="0">
                <a:solidFill>
                  <a:srgbClr val="4070A0"/>
                </a:solidFill>
                <a:highlight>
                  <a:srgbClr val="FFFF00"/>
                </a:highlight>
              </a:rPr>
              <a:t>'world'</a:t>
            </a:r>
            <a:r>
              <a:rPr lang="en-CA" sz="2000" dirty="0">
                <a:highlight>
                  <a:srgbClr val="FFFF00"/>
                </a:highlight>
              </a:rPr>
              <a:t> </a:t>
            </a:r>
            <a:r>
              <a:rPr lang="en-CA" sz="2000" i="1" dirty="0">
                <a:solidFill>
                  <a:srgbClr val="408090"/>
                </a:solidFill>
                <a:highlight>
                  <a:srgbClr val="FFFF00"/>
                </a:highlight>
              </a:rPr>
              <a:t># Change properties of existing stim</a:t>
            </a:r>
            <a:r>
              <a:rPr lang="en-CA" sz="2000" dirty="0">
                <a:highlight>
                  <a:srgbClr val="FFFF00"/>
                </a:highlight>
              </a:rPr>
              <a:t> </a:t>
            </a:r>
            <a:br>
              <a:rPr lang="en-CA" sz="2000" dirty="0">
                <a:highlight>
                  <a:srgbClr val="FFFF00"/>
                </a:highlight>
              </a:rPr>
            </a:br>
            <a:r>
              <a:rPr lang="en-CA" sz="2000" dirty="0" err="1">
                <a:highlight>
                  <a:srgbClr val="FFFF00"/>
                </a:highlight>
              </a:rPr>
              <a:t>win</a:t>
            </a:r>
            <a:r>
              <a:rPr lang="en-CA" sz="2000" dirty="0" err="1">
                <a:solidFill>
                  <a:srgbClr val="666666"/>
                </a:solidFill>
                <a:highlight>
                  <a:srgbClr val="FFFF00"/>
                </a:highlight>
              </a:rPr>
              <a:t>.</a:t>
            </a:r>
            <a:r>
              <a:rPr lang="en-CA" sz="2000" dirty="0" err="1">
                <a:highlight>
                  <a:srgbClr val="FFFF00"/>
                </a:highlight>
              </a:rPr>
              <a:t>flip</a:t>
            </a:r>
            <a:r>
              <a:rPr lang="en-CA" sz="2000" dirty="0">
                <a:highlight>
                  <a:srgbClr val="FFFF00"/>
                </a:highlight>
              </a:rPr>
              <a:t>() </a:t>
            </a:r>
            <a:br>
              <a:rPr lang="en-CA" sz="2000" dirty="0"/>
            </a:br>
            <a:r>
              <a:rPr lang="en-CA" sz="2000" dirty="0" err="1">
                <a:highlight>
                  <a:srgbClr val="FFFF00"/>
                </a:highlight>
              </a:rPr>
              <a:t>core</a:t>
            </a:r>
            <a:r>
              <a:rPr lang="en-CA" sz="2000" dirty="0" err="1">
                <a:solidFill>
                  <a:srgbClr val="666666"/>
                </a:solidFill>
                <a:highlight>
                  <a:srgbClr val="FFFF00"/>
                </a:highlight>
              </a:rPr>
              <a:t>.</a:t>
            </a:r>
            <a:r>
              <a:rPr lang="en-CA" sz="2000" dirty="0" err="1">
                <a:highlight>
                  <a:srgbClr val="FFFF00"/>
                </a:highlight>
              </a:rPr>
              <a:t>wait</a:t>
            </a:r>
            <a:r>
              <a:rPr lang="en-CA" sz="2000" dirty="0">
                <a:highlight>
                  <a:srgbClr val="FFFF00"/>
                </a:highlight>
              </a:rPr>
              <a:t>(</a:t>
            </a:r>
            <a:r>
              <a:rPr lang="en-CA" sz="2000" dirty="0">
                <a:solidFill>
                  <a:srgbClr val="208050"/>
                </a:solidFill>
                <a:highlight>
                  <a:srgbClr val="FFFF00"/>
                </a:highlight>
              </a:rPr>
              <a:t>2.0</a:t>
            </a:r>
            <a:r>
              <a:rPr lang="en-CA" sz="2000" dirty="0">
                <a:highlight>
                  <a:srgbClr val="FFFF00"/>
                </a:highlight>
              </a:rPr>
              <a:t>)</a:t>
            </a:r>
            <a:endParaRPr lang="en-US" sz="2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31619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1E3951-BFC5-C146-B9E4-D1CF65AD7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building an experiment: Posner Cueing Task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E9F0A8-B33F-164C-9C57-1A341775F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1. Import the necessary libraries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 2. Create a window: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83AE70-1549-E84B-9C08-2EF8E82AD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292" y="2906486"/>
            <a:ext cx="9131300" cy="584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04BB34-A662-7B4C-B316-5F9707CB2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336" y="4972957"/>
            <a:ext cx="80899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36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7D07B-E039-CF42-B8ED-029DBA9AB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building an experiment: Posner Cueing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0E0E3-84AF-814F-83EB-77BE420A1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3a: Create (but don’t draw) a stimulus: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 3b: Create a second stimulus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F24DA6-008D-D742-9DE9-A47BD57FA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2673052"/>
            <a:ext cx="9017000" cy="952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619E75-08D9-9343-8043-E7EBB0DE0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066" y="5059363"/>
            <a:ext cx="89535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244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2876A-C309-7544-A03E-4203F92F9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building an experiment: Posner Cueing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3E7DB-42E5-5B49-9DBA-13F543120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3c: Create a third stimulus: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Step 4: Define some attributes for the stimuli: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D5BD6-8E9B-AA46-BE18-DF9FFCC91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2341335"/>
            <a:ext cx="9017000" cy="927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650BA5-A323-3B41-A6FD-915571E13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00" y="4653642"/>
            <a:ext cx="44704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43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F85FC-E5BB-144D-A7E2-0BCD2C6B0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building an experiment: Posner Cueing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7E0B1-E1A7-D44F-9934-548D822F3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5a: Create a single trial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82A9B1-ED2B-5A45-85AF-B6D7DC3EA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00" y="2444750"/>
            <a:ext cx="8712200" cy="196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2FDCA4-A9AA-5148-88AB-20CA4BA8B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" y="4548187"/>
            <a:ext cx="90678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314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92B0E-BD39-E442-83DE-47BD9C62F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building an experiment: Posner Cueing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FA2CE-F4BE-664D-8EDB-D8977DDCB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5b. Run multiple trials: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8E8F08-8E3A-2149-BC76-67C36ACFE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166" y="2734758"/>
            <a:ext cx="9017000" cy="29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413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A4380-ED4E-2F66-97EB-F662886CA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building an experiment: Posner Cueing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0C64A-7910-4326-6284-FCF60B478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5: randomize some parameters to have multiple different trial types</a:t>
            </a:r>
          </a:p>
          <a:p>
            <a:endParaRPr lang="en-US" dirty="0"/>
          </a:p>
          <a:p>
            <a:r>
              <a:rPr lang="en-US" dirty="0"/>
              <a:t>There are different ways to do this, including by using the built in </a:t>
            </a:r>
            <a:r>
              <a:rPr lang="en-US" dirty="0" err="1"/>
              <a:t>TrialHandler</a:t>
            </a:r>
            <a:r>
              <a:rPr lang="en-US" dirty="0"/>
              <a:t> functions. </a:t>
            </a:r>
          </a:p>
          <a:p>
            <a:endParaRPr lang="en-US" dirty="0"/>
          </a:p>
          <a:p>
            <a:r>
              <a:rPr lang="en-US" b="1" dirty="0"/>
              <a:t>Exercise: let’s create a series of trials that will randomly have valid and invalid trials</a:t>
            </a:r>
          </a:p>
        </p:txBody>
      </p:sp>
    </p:spTree>
    <p:extLst>
      <p:ext uri="{BB962C8B-B14F-4D97-AF65-F5344CB8AC3E}">
        <p14:creationId xmlns:p14="http://schemas.microsoft.com/office/powerpoint/2010/main" val="2990144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490E9-7BEF-5544-8E4E-68495D4E8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building an experiment: Posner Cueing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A224F-B130-3948-B667-5A1BBAAE0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6: change the trials using the </a:t>
            </a:r>
            <a:r>
              <a:rPr lang="en-US" dirty="0" err="1"/>
              <a:t>TrialHandler</a:t>
            </a:r>
            <a:r>
              <a:rPr lang="en-US" dirty="0"/>
              <a:t> (data module)</a:t>
            </a:r>
          </a:p>
          <a:p>
            <a:pPr lvl="1"/>
            <a:r>
              <a:rPr lang="en-US" dirty="0"/>
              <a:t>(trials defined by ‘</a:t>
            </a:r>
            <a:r>
              <a:rPr lang="en-US" dirty="0" err="1"/>
              <a:t>conditions.csv</a:t>
            </a:r>
            <a:r>
              <a:rPr lang="en-US" dirty="0"/>
              <a:t>’)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9A822E-E9E1-5241-B097-CA6B39562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4595695"/>
            <a:ext cx="9067800" cy="1143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FC755D-2C36-EB45-AE50-5577A087A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" y="3025658"/>
            <a:ext cx="89916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635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C859C-A7BE-D64B-B199-EDA9D1FE3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building an experiment: Posner Cueing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C942B-82AE-9C42-8ADD-A041C3E1C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6: Get responses</a:t>
            </a:r>
          </a:p>
          <a:p>
            <a:pPr lvl="1"/>
            <a:r>
              <a:rPr lang="en-US" dirty="0"/>
              <a:t>Step 7a: Create a clock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Step 6b: reset the clock when presenting stimulus: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F191A9-474C-D14B-B2CC-5FAF8EEA3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2768675"/>
            <a:ext cx="9017000" cy="546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96C975-01A9-D746-BA76-8A8FDAE3D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3852693"/>
            <a:ext cx="9017000" cy="1409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09CE27-86FB-1E47-8357-6F6A923F1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5012911"/>
            <a:ext cx="9016999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620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AA2D-BABF-3847-AA3B-6F41A2995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building an experiment: Posner Cueing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78541-BF20-9646-B68B-1B5762158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6c: Check for response accuracy: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Step 6d: save the responses:</a:t>
            </a:r>
          </a:p>
          <a:p>
            <a:endParaRPr lang="en-US" dirty="0"/>
          </a:p>
          <a:p>
            <a:r>
              <a:rPr lang="en-US" b="1" dirty="0"/>
              <a:t>Exercise: how to do this?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FE4BC-7681-9D4D-9ED5-9070F17B9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2426494"/>
            <a:ext cx="9042400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475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FCDF-632B-3F88-D237-67064880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8599C-98AA-D6F6-8F7A-637756B85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Open file: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open(filename, ‘w’)</a:t>
            </a:r>
          </a:p>
          <a:p>
            <a:pPr lvl="1"/>
            <a:r>
              <a:rPr lang="en-US" dirty="0"/>
              <a:t>w = write</a:t>
            </a:r>
          </a:p>
          <a:p>
            <a:pPr lvl="1"/>
            <a:r>
              <a:rPr lang="en-US" dirty="0"/>
              <a:t>x = open (error if duplicate)</a:t>
            </a:r>
          </a:p>
          <a:p>
            <a:pPr lvl="1"/>
            <a:r>
              <a:rPr lang="en-US" dirty="0"/>
              <a:t>a = append</a:t>
            </a:r>
          </a:p>
          <a:p>
            <a:r>
              <a:rPr lang="en-US" dirty="0"/>
              <a:t>Write to file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fileID.write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(‘format’, vars)</a:t>
            </a:r>
          </a:p>
          <a:p>
            <a:pPr lvl="1"/>
            <a:r>
              <a:rPr lang="en-US" dirty="0"/>
              <a:t>Format: s = string, </a:t>
            </a:r>
            <a:r>
              <a:rPr lang="en-US" dirty="0" err="1"/>
              <a:t>i</a:t>
            </a:r>
            <a:r>
              <a:rPr lang="en-US" dirty="0"/>
              <a:t> = int, f = floating point (for a specified number of decimals)</a:t>
            </a:r>
          </a:p>
          <a:p>
            <a:pPr lvl="1"/>
            <a:r>
              <a:rPr lang="en-US" dirty="0"/>
              <a:t>‘/n/ = new line</a:t>
            </a:r>
          </a:p>
          <a:p>
            <a:r>
              <a:rPr lang="en-US" dirty="0"/>
              <a:t>Close file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fileID.close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036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EA409-F1A2-AD40-8705-22EDD51C4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building an experiment: Posner Cueing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521A2-672C-4B40-B4AC-3CAA659BE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7: Log data</a:t>
            </a:r>
          </a:p>
          <a:p>
            <a:r>
              <a:rPr lang="en-US" dirty="0"/>
              <a:t>Option 1: manually set up file, and write after each trial: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EF61C-0C79-044E-8293-F97E1CED6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265" y="2877458"/>
            <a:ext cx="8978900" cy="147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C92F5B-6488-2449-816E-9F6FF220E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265" y="4655458"/>
            <a:ext cx="8978900" cy="1104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B8F5B6-2197-5549-B5C7-1C3D97077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265" y="5897563"/>
            <a:ext cx="6515100" cy="27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47392D-E907-DF4D-8680-68F0CDE5BE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265" y="6469857"/>
            <a:ext cx="18288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046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EA409-F1A2-AD40-8705-22EDD51C4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building an experiment: Posner Cueing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521A2-672C-4B40-B4AC-3CAA659BE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7: Log data</a:t>
            </a:r>
          </a:p>
          <a:p>
            <a:r>
              <a:rPr lang="en-US" dirty="0"/>
              <a:t>Option 2: use the </a:t>
            </a:r>
            <a:r>
              <a:rPr lang="en-US" dirty="0" err="1"/>
              <a:t>ExperimentHandler</a:t>
            </a:r>
            <a:r>
              <a:rPr lang="en-US" dirty="0"/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457554-FF19-7644-9F2E-FA28DA799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128" y="3080544"/>
            <a:ext cx="9017000" cy="1841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0650DB-0CB3-7B4B-8128-2E809316F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128" y="5045415"/>
            <a:ext cx="90297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348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95DC4-7E8F-B04A-9CF3-8D1184CC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building an experiment: Posner Cueing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3F5AB-296F-C548-93EC-3274BC430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Other things:</a:t>
            </a:r>
          </a:p>
          <a:p>
            <a:endParaRPr lang="en-US" dirty="0"/>
          </a:p>
          <a:p>
            <a:pPr lvl="1"/>
            <a:r>
              <a:rPr lang="en-US" dirty="0"/>
              <a:t>Build in global keys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E1DB27-4764-8145-9E82-1E10D2E5C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00" y="3731985"/>
            <a:ext cx="92456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2343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F300-77CA-1B4C-A569-A120120CB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exercises: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A2748-5449-554D-A27E-6C5FE4E39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Move a stimulus to a new location</a:t>
            </a:r>
          </a:p>
          <a:p>
            <a:pPr algn="ctr"/>
            <a:r>
              <a:rPr lang="en-US" dirty="0"/>
              <a:t>Present an image</a:t>
            </a:r>
          </a:p>
          <a:p>
            <a:pPr algn="ctr"/>
            <a:r>
              <a:rPr lang="en-US" dirty="0"/>
              <a:t>Present an audio stimulus</a:t>
            </a:r>
          </a:p>
          <a:p>
            <a:pPr algn="ctr"/>
            <a:r>
              <a:rPr lang="en-US" dirty="0"/>
              <a:t>Take a mouse input</a:t>
            </a:r>
          </a:p>
          <a:p>
            <a:pPr algn="ctr"/>
            <a:r>
              <a:rPr lang="en-US" dirty="0"/>
              <a:t>Read </a:t>
            </a:r>
            <a:r>
              <a:rPr lang="en-US"/>
              <a:t>keyboard responses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305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12592</TotalTime>
  <Words>1772</Words>
  <Application>Microsoft Macintosh PowerPoint</Application>
  <PresentationFormat>Widescreen</PresentationFormat>
  <Paragraphs>188</Paragraphs>
  <Slides>30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Arial</vt:lpstr>
      <vt:lpstr>Calibri</vt:lpstr>
      <vt:lpstr>Calibri Light</vt:lpstr>
      <vt:lpstr>Courier New</vt:lpstr>
      <vt:lpstr>Wingdings</vt:lpstr>
      <vt:lpstr>Office Theme</vt:lpstr>
      <vt:lpstr>5. Programming Laboratory Experiments in PsychoPy</vt:lpstr>
      <vt:lpstr>Why PsychoPy?</vt:lpstr>
      <vt:lpstr>PsychoPy</vt:lpstr>
      <vt:lpstr>PsychoPy Basics </vt:lpstr>
      <vt:lpstr>PsychoPy Coder view:</vt:lpstr>
      <vt:lpstr>Starting out: monitor set-up </vt:lpstr>
      <vt:lpstr>PowerPoint Presentation</vt:lpstr>
      <vt:lpstr>Using Psychopy outside of Psychopy</vt:lpstr>
      <vt:lpstr>Let’s make a really simple experiment</vt:lpstr>
      <vt:lpstr>Let’s break that down</vt:lpstr>
      <vt:lpstr>Let’s break that down</vt:lpstr>
      <vt:lpstr>Let’s break that down</vt:lpstr>
      <vt:lpstr>Let’s break that down</vt:lpstr>
      <vt:lpstr>Let’s break that down</vt:lpstr>
      <vt:lpstr>Let’s break that down</vt:lpstr>
      <vt:lpstr>Let’s break that down</vt:lpstr>
      <vt:lpstr>Let’s start building an experiment: Posner Cueing Task</vt:lpstr>
      <vt:lpstr>Let’s start building an experiment: Posner Cueing Task</vt:lpstr>
      <vt:lpstr>Let’s start building an experiment: Posner Cueing Task</vt:lpstr>
      <vt:lpstr>Let’s start building an experiment: Posner Cueing Task</vt:lpstr>
      <vt:lpstr>Let’s start building an experiment: Posner Cueing Task</vt:lpstr>
      <vt:lpstr>Let’s start building an experiment: Posner Cueing Task</vt:lpstr>
      <vt:lpstr>Let’s start building an experiment: Posner Cueing Task</vt:lpstr>
      <vt:lpstr>Let’s start building an experiment: Posner Cueing Task</vt:lpstr>
      <vt:lpstr>Let’s start building an experiment: Posner Cueing Task</vt:lpstr>
      <vt:lpstr>Writing files</vt:lpstr>
      <vt:lpstr>Let’s start building an experiment: Posner Cueing Task</vt:lpstr>
      <vt:lpstr>Let’s start building an experiment: Posner Cueing Task</vt:lpstr>
      <vt:lpstr>Let’s start building an experiment: Posner Cueing Task</vt:lpstr>
      <vt:lpstr>In class exercises: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15. Programming Experiments in PsychoPy</dc:title>
  <dc:creator>Stephen Emrich</dc:creator>
  <cp:lastModifiedBy>Stephen Emrich</cp:lastModifiedBy>
  <cp:revision>1</cp:revision>
  <dcterms:created xsi:type="dcterms:W3CDTF">2021-11-18T16:36:44Z</dcterms:created>
  <dcterms:modified xsi:type="dcterms:W3CDTF">2025-10-02T16:57:05Z</dcterms:modified>
</cp:coreProperties>
</file>