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9" r:id="rId9"/>
    <p:sldId id="270" r:id="rId10"/>
    <p:sldId id="268" r:id="rId11"/>
    <p:sldId id="275" r:id="rId12"/>
    <p:sldId id="286" r:id="rId13"/>
    <p:sldId id="264" r:id="rId14"/>
    <p:sldId id="265" r:id="rId15"/>
    <p:sldId id="266" r:id="rId16"/>
    <p:sldId id="287" r:id="rId17"/>
    <p:sldId id="288" r:id="rId18"/>
    <p:sldId id="267" r:id="rId19"/>
    <p:sldId id="279" r:id="rId20"/>
    <p:sldId id="271" r:id="rId21"/>
    <p:sldId id="272" r:id="rId22"/>
    <p:sldId id="273" r:id="rId23"/>
    <p:sldId id="274" r:id="rId24"/>
    <p:sldId id="276" r:id="rId25"/>
    <p:sldId id="277" r:id="rId26"/>
    <p:sldId id="280" r:id="rId27"/>
    <p:sldId id="278" r:id="rId28"/>
    <p:sldId id="282" r:id="rId29"/>
    <p:sldId id="283" r:id="rId30"/>
    <p:sldId id="284" r:id="rId31"/>
    <p:sldId id="285" r:id="rId32"/>
    <p:sldId id="25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DC61A0-C930-4C4B-B85C-BC3BC0AC6DD8}" v="12" dt="2025-11-06T16:52:04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10"/>
  </p:normalViewPr>
  <p:slideViewPr>
    <p:cSldViewPr snapToGrid="0">
      <p:cViewPr varScale="1">
        <p:scale>
          <a:sx n="111" d="100"/>
          <a:sy n="111" d="100"/>
        </p:scale>
        <p:origin x="3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Emrich" userId="e6abd74e-3da0-4635-b6e2-0dc330156f74" providerId="ADAL" clId="{E6D15754-9A9E-5308-9947-0AAFEAAF9F3D}"/>
    <pc:docChg chg="undo custSel addSld delSld modSld sldOrd">
      <pc:chgData name="Stephen Emrich" userId="e6abd74e-3da0-4635-b6e2-0dc330156f74" providerId="ADAL" clId="{E6D15754-9A9E-5308-9947-0AAFEAAF9F3D}" dt="2025-11-06T17:06:55.294" v="1169" actId="20577"/>
      <pc:docMkLst>
        <pc:docMk/>
      </pc:docMkLst>
      <pc:sldChg chg="modSp mod">
        <pc:chgData name="Stephen Emrich" userId="e6abd74e-3da0-4635-b6e2-0dc330156f74" providerId="ADAL" clId="{E6D15754-9A9E-5308-9947-0AAFEAAF9F3D}" dt="2025-11-06T16:52:04.662" v="1157" actId="20577"/>
        <pc:sldMkLst>
          <pc:docMk/>
          <pc:sldMk cId="2373878159" sldId="258"/>
        </pc:sldMkLst>
        <pc:spChg chg="mod">
          <ac:chgData name="Stephen Emrich" userId="e6abd74e-3da0-4635-b6e2-0dc330156f74" providerId="ADAL" clId="{E6D15754-9A9E-5308-9947-0AAFEAAF9F3D}" dt="2025-11-06T16:52:04.662" v="1157" actId="20577"/>
          <ac:spMkLst>
            <pc:docMk/>
            <pc:sldMk cId="2373878159" sldId="258"/>
            <ac:spMk id="3" creationId="{E456B6E8-7315-654A-5C61-B4C096C5569A}"/>
          </ac:spMkLst>
        </pc:spChg>
      </pc:sldChg>
      <pc:sldChg chg="add">
        <pc:chgData name="Stephen Emrich" userId="e6abd74e-3da0-4635-b6e2-0dc330156f74" providerId="ADAL" clId="{E6D15754-9A9E-5308-9947-0AAFEAAF9F3D}" dt="2025-11-05T21:28:17.311" v="883"/>
        <pc:sldMkLst>
          <pc:docMk/>
          <pc:sldMk cId="1718758504" sldId="264"/>
        </pc:sldMkLst>
      </pc:sldChg>
      <pc:sldChg chg="del">
        <pc:chgData name="Stephen Emrich" userId="e6abd74e-3da0-4635-b6e2-0dc330156f74" providerId="ADAL" clId="{E6D15754-9A9E-5308-9947-0AAFEAAF9F3D}" dt="2025-11-05T21:27:55.871" v="882" actId="2696"/>
        <pc:sldMkLst>
          <pc:docMk/>
          <pc:sldMk cId="2893008927" sldId="264"/>
        </pc:sldMkLst>
      </pc:sldChg>
      <pc:sldChg chg="modSp add mod">
        <pc:chgData name="Stephen Emrich" userId="e6abd74e-3da0-4635-b6e2-0dc330156f74" providerId="ADAL" clId="{E6D15754-9A9E-5308-9947-0AAFEAAF9F3D}" dt="2025-11-05T21:28:41.341" v="884" actId="20577"/>
        <pc:sldMkLst>
          <pc:docMk/>
          <pc:sldMk cId="2575360809" sldId="265"/>
        </pc:sldMkLst>
        <pc:spChg chg="mod">
          <ac:chgData name="Stephen Emrich" userId="e6abd74e-3da0-4635-b6e2-0dc330156f74" providerId="ADAL" clId="{E6D15754-9A9E-5308-9947-0AAFEAAF9F3D}" dt="2025-11-05T21:28:41.341" v="884" actId="20577"/>
          <ac:spMkLst>
            <pc:docMk/>
            <pc:sldMk cId="2575360809" sldId="265"/>
            <ac:spMk id="3" creationId="{DADB0C4E-CF0F-15FD-AB86-F4700B520A5A}"/>
          </ac:spMkLst>
        </pc:spChg>
      </pc:sldChg>
      <pc:sldChg chg="del">
        <pc:chgData name="Stephen Emrich" userId="e6abd74e-3da0-4635-b6e2-0dc330156f74" providerId="ADAL" clId="{E6D15754-9A9E-5308-9947-0AAFEAAF9F3D}" dt="2025-11-05T21:27:55.871" v="882" actId="2696"/>
        <pc:sldMkLst>
          <pc:docMk/>
          <pc:sldMk cId="2994305115" sldId="265"/>
        </pc:sldMkLst>
      </pc:sldChg>
      <pc:sldChg chg="addSp delSp modSp mod ord">
        <pc:chgData name="Stephen Emrich" userId="e6abd74e-3da0-4635-b6e2-0dc330156f74" providerId="ADAL" clId="{E6D15754-9A9E-5308-9947-0AAFEAAF9F3D}" dt="2025-11-05T21:29:05.462" v="885" actId="20578"/>
        <pc:sldMkLst>
          <pc:docMk/>
          <pc:sldMk cId="2487769579" sldId="266"/>
        </pc:sldMkLst>
        <pc:spChg chg="mod">
          <ac:chgData name="Stephen Emrich" userId="e6abd74e-3da0-4635-b6e2-0dc330156f74" providerId="ADAL" clId="{E6D15754-9A9E-5308-9947-0AAFEAAF9F3D}" dt="2025-11-05T21:27:34.038" v="879" actId="20577"/>
          <ac:spMkLst>
            <pc:docMk/>
            <pc:sldMk cId="2487769579" sldId="266"/>
            <ac:spMk id="2" creationId="{A3E8A804-1D2E-EFCD-270F-8C1844BB58B3}"/>
          </ac:spMkLst>
        </pc:spChg>
        <pc:spChg chg="add del mod">
          <ac:chgData name="Stephen Emrich" userId="e6abd74e-3da0-4635-b6e2-0dc330156f74" providerId="ADAL" clId="{E6D15754-9A9E-5308-9947-0AAFEAAF9F3D}" dt="2025-11-05T21:27:37.105" v="881"/>
          <ac:spMkLst>
            <pc:docMk/>
            <pc:sldMk cId="2487769579" sldId="266"/>
            <ac:spMk id="4" creationId="{2F6A9CD0-4779-C6C0-AB6A-ABC7C6E867C2}"/>
          </ac:spMkLst>
        </pc:spChg>
      </pc:sldChg>
      <pc:sldChg chg="ord">
        <pc:chgData name="Stephen Emrich" userId="e6abd74e-3da0-4635-b6e2-0dc330156f74" providerId="ADAL" clId="{E6D15754-9A9E-5308-9947-0AAFEAAF9F3D}" dt="2025-11-06T16:50:21.749" v="1149" actId="20578"/>
        <pc:sldMkLst>
          <pc:docMk/>
          <pc:sldMk cId="2227271847" sldId="268"/>
        </pc:sldMkLst>
      </pc:sldChg>
      <pc:sldChg chg="modSp add mod ord">
        <pc:chgData name="Stephen Emrich" userId="e6abd74e-3da0-4635-b6e2-0dc330156f74" providerId="ADAL" clId="{E6D15754-9A9E-5308-9947-0AAFEAAF9F3D}" dt="2025-11-06T17:04:48.930" v="1161" actId="20577"/>
        <pc:sldMkLst>
          <pc:docMk/>
          <pc:sldMk cId="156342394" sldId="270"/>
        </pc:sldMkLst>
        <pc:spChg chg="mod">
          <ac:chgData name="Stephen Emrich" userId="e6abd74e-3da0-4635-b6e2-0dc330156f74" providerId="ADAL" clId="{E6D15754-9A9E-5308-9947-0AAFEAAF9F3D}" dt="2025-11-06T17:04:48.930" v="1161" actId="20577"/>
          <ac:spMkLst>
            <pc:docMk/>
            <pc:sldMk cId="156342394" sldId="270"/>
            <ac:spMk id="3" creationId="{C73F71AD-AB27-DBB0-3004-34E7F4751BA6}"/>
          </ac:spMkLst>
        </pc:spChg>
      </pc:sldChg>
      <pc:sldChg chg="modSp add del mod">
        <pc:chgData name="Stephen Emrich" userId="e6abd74e-3da0-4635-b6e2-0dc330156f74" providerId="ADAL" clId="{E6D15754-9A9E-5308-9947-0AAFEAAF9F3D}" dt="2025-11-06T16:50:05.416" v="1147" actId="2696"/>
        <pc:sldMkLst>
          <pc:docMk/>
          <pc:sldMk cId="3887936733" sldId="270"/>
        </pc:sldMkLst>
        <pc:spChg chg="mod">
          <ac:chgData name="Stephen Emrich" userId="e6abd74e-3da0-4635-b6e2-0dc330156f74" providerId="ADAL" clId="{E6D15754-9A9E-5308-9947-0AAFEAAF9F3D}" dt="2025-11-05T21:29:13.580" v="887" actId="27636"/>
          <ac:spMkLst>
            <pc:docMk/>
            <pc:sldMk cId="3887936733" sldId="270"/>
            <ac:spMk id="3" creationId="{C73F71AD-AB27-DBB0-3004-34E7F4751BA6}"/>
          </ac:spMkLst>
        </pc:spChg>
      </pc:sldChg>
      <pc:sldChg chg="del">
        <pc:chgData name="Stephen Emrich" userId="e6abd74e-3da0-4635-b6e2-0dc330156f74" providerId="ADAL" clId="{E6D15754-9A9E-5308-9947-0AAFEAAF9F3D}" dt="2025-11-05T17:49:03.434" v="2" actId="2696"/>
        <pc:sldMkLst>
          <pc:docMk/>
          <pc:sldMk cId="1514561109" sldId="275"/>
        </pc:sldMkLst>
      </pc:sldChg>
      <pc:sldChg chg="add ord">
        <pc:chgData name="Stephen Emrich" userId="e6abd74e-3da0-4635-b6e2-0dc330156f74" providerId="ADAL" clId="{E6D15754-9A9E-5308-9947-0AAFEAAF9F3D}" dt="2025-11-05T21:06:21.024" v="5" actId="20578"/>
        <pc:sldMkLst>
          <pc:docMk/>
          <pc:sldMk cId="2767783569" sldId="275"/>
        </pc:sldMkLst>
      </pc:sldChg>
      <pc:sldChg chg="modSp mod">
        <pc:chgData name="Stephen Emrich" userId="e6abd74e-3da0-4635-b6e2-0dc330156f74" providerId="ADAL" clId="{E6D15754-9A9E-5308-9947-0AAFEAAF9F3D}" dt="2025-11-06T16:51:12.512" v="1154" actId="20577"/>
        <pc:sldMkLst>
          <pc:docMk/>
          <pc:sldMk cId="2519986425" sldId="276"/>
        </pc:sldMkLst>
        <pc:spChg chg="mod">
          <ac:chgData name="Stephen Emrich" userId="e6abd74e-3da0-4635-b6e2-0dc330156f74" providerId="ADAL" clId="{E6D15754-9A9E-5308-9947-0AAFEAAF9F3D}" dt="2025-11-06T16:51:12.512" v="1154" actId="20577"/>
          <ac:spMkLst>
            <pc:docMk/>
            <pc:sldMk cId="2519986425" sldId="276"/>
            <ac:spMk id="3" creationId="{088F4702-23D6-4017-A7FE-6A11D0E39BC3}"/>
          </ac:spMkLst>
        </pc:spChg>
      </pc:sldChg>
      <pc:sldChg chg="modSp mod">
        <pc:chgData name="Stephen Emrich" userId="e6abd74e-3da0-4635-b6e2-0dc330156f74" providerId="ADAL" clId="{E6D15754-9A9E-5308-9947-0AAFEAAF9F3D}" dt="2025-10-29T15:13:30.730" v="0" actId="20577"/>
        <pc:sldMkLst>
          <pc:docMk/>
          <pc:sldMk cId="2464771312" sldId="277"/>
        </pc:sldMkLst>
        <pc:spChg chg="mod">
          <ac:chgData name="Stephen Emrich" userId="e6abd74e-3da0-4635-b6e2-0dc330156f74" providerId="ADAL" clId="{E6D15754-9A9E-5308-9947-0AAFEAAF9F3D}" dt="2025-10-29T15:13:30.730" v="0" actId="20577"/>
          <ac:spMkLst>
            <pc:docMk/>
            <pc:sldMk cId="2464771312" sldId="277"/>
            <ac:spMk id="3" creationId="{89744C1B-EA2D-D2DE-B10A-0972F8EB89C1}"/>
          </ac:spMkLst>
        </pc:spChg>
      </pc:sldChg>
      <pc:sldChg chg="modSp mod">
        <pc:chgData name="Stephen Emrich" userId="e6abd74e-3da0-4635-b6e2-0dc330156f74" providerId="ADAL" clId="{E6D15754-9A9E-5308-9947-0AAFEAAF9F3D}" dt="2025-11-06T17:06:55.294" v="1169" actId="20577"/>
        <pc:sldMkLst>
          <pc:docMk/>
          <pc:sldMk cId="3842672575" sldId="280"/>
        </pc:sldMkLst>
        <pc:spChg chg="mod">
          <ac:chgData name="Stephen Emrich" userId="e6abd74e-3da0-4635-b6e2-0dc330156f74" providerId="ADAL" clId="{E6D15754-9A9E-5308-9947-0AAFEAAF9F3D}" dt="2025-11-06T17:06:55.294" v="1169" actId="20577"/>
          <ac:spMkLst>
            <pc:docMk/>
            <pc:sldMk cId="3842672575" sldId="280"/>
            <ac:spMk id="3" creationId="{EF0DE569-37A4-9E01-E4B7-15BE4282C071}"/>
          </ac:spMkLst>
        </pc:spChg>
      </pc:sldChg>
      <pc:sldChg chg="mod modShow">
        <pc:chgData name="Stephen Emrich" userId="e6abd74e-3da0-4635-b6e2-0dc330156f74" providerId="ADAL" clId="{E6D15754-9A9E-5308-9947-0AAFEAAF9F3D}" dt="2025-11-06T16:54:15.814" v="1158" actId="729"/>
        <pc:sldMkLst>
          <pc:docMk/>
          <pc:sldMk cId="3184767086" sldId="285"/>
        </pc:sldMkLst>
      </pc:sldChg>
      <pc:sldChg chg="new del">
        <pc:chgData name="Stephen Emrich" userId="e6abd74e-3da0-4635-b6e2-0dc330156f74" providerId="ADAL" clId="{E6D15754-9A9E-5308-9947-0AAFEAAF9F3D}" dt="2025-11-05T17:55:18.237" v="4" actId="2696"/>
        <pc:sldMkLst>
          <pc:docMk/>
          <pc:sldMk cId="544750437" sldId="286"/>
        </pc:sldMkLst>
      </pc:sldChg>
      <pc:sldChg chg="modSp new mod">
        <pc:chgData name="Stephen Emrich" userId="e6abd74e-3da0-4635-b6e2-0dc330156f74" providerId="ADAL" clId="{E6D15754-9A9E-5308-9947-0AAFEAAF9F3D}" dt="2025-11-05T21:17:43.447" v="232" actId="20577"/>
        <pc:sldMkLst>
          <pc:docMk/>
          <pc:sldMk cId="2407985622" sldId="286"/>
        </pc:sldMkLst>
        <pc:spChg chg="mod">
          <ac:chgData name="Stephen Emrich" userId="e6abd74e-3da0-4635-b6e2-0dc330156f74" providerId="ADAL" clId="{E6D15754-9A9E-5308-9947-0AAFEAAF9F3D}" dt="2025-11-05T21:06:59.897" v="30" actId="20577"/>
          <ac:spMkLst>
            <pc:docMk/>
            <pc:sldMk cId="2407985622" sldId="286"/>
            <ac:spMk id="2" creationId="{94E3B73A-6F72-3E6B-9770-A6198D7177C4}"/>
          </ac:spMkLst>
        </pc:spChg>
        <pc:spChg chg="mod">
          <ac:chgData name="Stephen Emrich" userId="e6abd74e-3da0-4635-b6e2-0dc330156f74" providerId="ADAL" clId="{E6D15754-9A9E-5308-9947-0AAFEAAF9F3D}" dt="2025-11-05T21:17:43.447" v="232" actId="20577"/>
          <ac:spMkLst>
            <pc:docMk/>
            <pc:sldMk cId="2407985622" sldId="286"/>
            <ac:spMk id="3" creationId="{654E0A0F-DFB8-4E8C-97E8-4CBC5A6B6203}"/>
          </ac:spMkLst>
        </pc:spChg>
      </pc:sldChg>
      <pc:sldChg chg="modSp new mod">
        <pc:chgData name="Stephen Emrich" userId="e6abd74e-3da0-4635-b6e2-0dc330156f74" providerId="ADAL" clId="{E6D15754-9A9E-5308-9947-0AAFEAAF9F3D}" dt="2025-11-05T21:24:49.974" v="867" actId="20577"/>
        <pc:sldMkLst>
          <pc:docMk/>
          <pc:sldMk cId="920083151" sldId="287"/>
        </pc:sldMkLst>
        <pc:spChg chg="mod">
          <ac:chgData name="Stephen Emrich" userId="e6abd74e-3da0-4635-b6e2-0dc330156f74" providerId="ADAL" clId="{E6D15754-9A9E-5308-9947-0AAFEAAF9F3D}" dt="2025-11-05T21:17:52.532" v="245" actId="20577"/>
          <ac:spMkLst>
            <pc:docMk/>
            <pc:sldMk cId="920083151" sldId="287"/>
            <ac:spMk id="2" creationId="{15CFC828-620D-28E3-678D-96A429EBB442}"/>
          </ac:spMkLst>
        </pc:spChg>
        <pc:spChg chg="mod">
          <ac:chgData name="Stephen Emrich" userId="e6abd74e-3da0-4635-b6e2-0dc330156f74" providerId="ADAL" clId="{E6D15754-9A9E-5308-9947-0AAFEAAF9F3D}" dt="2025-11-05T21:24:49.974" v="867" actId="20577"/>
          <ac:spMkLst>
            <pc:docMk/>
            <pc:sldMk cId="920083151" sldId="287"/>
            <ac:spMk id="3" creationId="{39D1513B-8393-D8F9-C5A7-A574C9A4F287}"/>
          </ac:spMkLst>
        </pc:spChg>
      </pc:sldChg>
      <pc:sldChg chg="modSp new mod">
        <pc:chgData name="Stephen Emrich" userId="e6abd74e-3da0-4635-b6e2-0dc330156f74" providerId="ADAL" clId="{E6D15754-9A9E-5308-9947-0AAFEAAF9F3D}" dt="2025-11-06T16:49:52.411" v="1146" actId="15"/>
        <pc:sldMkLst>
          <pc:docMk/>
          <pc:sldMk cId="3408291825" sldId="288"/>
        </pc:sldMkLst>
        <pc:spChg chg="mod">
          <ac:chgData name="Stephen Emrich" userId="e6abd74e-3da0-4635-b6e2-0dc330156f74" providerId="ADAL" clId="{E6D15754-9A9E-5308-9947-0AAFEAAF9F3D}" dt="2025-11-05T21:29:24.258" v="895" actId="20577"/>
          <ac:spMkLst>
            <pc:docMk/>
            <pc:sldMk cId="3408291825" sldId="288"/>
            <ac:spMk id="2" creationId="{0C00FAC5-EE3E-E3F6-9F24-1A0902C49687}"/>
          </ac:spMkLst>
        </pc:spChg>
        <pc:spChg chg="mod">
          <ac:chgData name="Stephen Emrich" userId="e6abd74e-3da0-4635-b6e2-0dc330156f74" providerId="ADAL" clId="{E6D15754-9A9E-5308-9947-0AAFEAAF9F3D}" dt="2025-11-06T16:49:52.411" v="1146" actId="15"/>
          <ac:spMkLst>
            <pc:docMk/>
            <pc:sldMk cId="3408291825" sldId="288"/>
            <ac:spMk id="3" creationId="{37D24775-360B-DBA9-D932-9721A44A10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FDE3-4BD0-892F-D859-852DAE877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8B503-87D1-9617-52C8-FC0BF9FCD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CF9BA-3CE1-20F4-376C-DB550B3F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ACB5A-0784-A43D-3C5D-C796A4A24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FD39E-6AFA-1325-8D07-789B8B55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23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D18A-B4AA-43B0-C969-338F95099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F0CA1-9ADA-401F-D663-3C60BEE2B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5F3B8-5835-E6D5-D280-BFCB2E4EA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958CA-DCE5-28F0-6018-F5F4926D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D857E-5449-A6D7-D01D-D01DC6CB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24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B5E5-6614-01DB-D236-9A9C36CD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24C97-A281-AE59-66E4-6D2680E2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276D7-9A2E-BB50-85ED-0CEA05FE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D79A9-EC8C-7014-42E4-B8DB5DBDD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89D10-AA80-3609-65C8-593CF305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9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8D33-C760-4E56-347F-9F555C43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CD015-EDDC-6621-FB24-623919581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A507A-1B0E-7BC9-2E90-4CAB52219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765DE-E49C-9032-CDB1-9A9EFCB03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1FA66-7077-9C37-F9C7-07AE1F478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9678C-B167-BCC3-8F71-E1D5020D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3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22CFD-8498-152A-E3E1-0B440A5A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1DBB2-41DE-1044-D342-119136F41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120F8-790C-ED9B-C535-03658131B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64777-FBCB-04D9-92C4-D9EBB5CF1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91F8A-7446-4D64-AB3C-25E70027B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58019E-EC59-0173-8597-90D9F7F3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A5675A-ED54-1201-59FF-2A6DBBA3F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975E5-4CE9-2B6D-B90F-DD974D7F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9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877C-106C-1FB1-9C7D-E7A0E855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F33050-AEF4-0F6A-B8B2-251F045B0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2A1E1-A072-5184-D70F-7E3A3D90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9C9EE-AAD8-9F1B-CEF9-696E47D2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6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4ACBB8-487A-5B42-E062-FC75B6AA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214C50-5DC4-DA0C-19E8-E2F6F85E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69871-731D-6175-8CE0-0604B521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4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415-B504-07F3-B533-ADF24111A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2DC37-95C6-68A0-CBEA-B76EEB261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E81DD-3736-EB58-8CB7-6E3D2CFFB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75C1F-EBA0-8805-1FBF-7759F59C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E1E63-FBDB-1431-D8C5-410FA6C4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9210F-672A-8D27-C82D-B32A8B44E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3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2C23D-B3AF-AE62-394C-FF300C2D2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347BF-85B8-B3D3-8C8C-F7ACCAB13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4F178-6BF6-FB4F-9215-367BB3470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11DDB-5124-C618-9E23-7D6B1528E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2D3F6-EC7F-B17C-5237-054418974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2304E-7D56-BE79-6280-AC2AA22B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3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508BD-E12A-F56B-6E99-6CB028D65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628113-E8CE-924E-91D6-C0E1A381A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5885-7B08-11AE-B0AF-6CF35CEE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5966E-DB95-E1DC-A8EB-5EE736D9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B282-607D-28A6-9B2E-0AA04174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3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F85AE-8769-655F-0DC0-A1FC839B4A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6EC26-5A64-AF81-7F24-9B5A9D600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F83CF-916E-ABBA-B4B9-414C45623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1F87F-D23D-F0B3-D4A1-07B86DDD1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CE725-3AB4-ACCA-0727-AACBE4ED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2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D2E552-00CD-673F-C50A-536F794C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EC868-ECFA-F1BC-A882-0ECF09540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C7400-BD4C-9C33-DD79-279854DD5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C89D6-32D7-2747-901C-21F57A3A90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707BB-179D-C0AA-EBFD-6AA5869EA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9F0D3-51A5-741E-BACC-39A861338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A43C9-9D2F-3640-A2BC-4C7A31E7A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13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numpy.org/doc/2.1/index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wcarpentry.github.io/python-novice-gapminder/07-reading-tabular.html" TargetMode="External"/><Relationship Id="rId2" Type="http://schemas.openxmlformats.org/officeDocument/2006/relationships/hyperlink" Target="https://swcarpentry.github.io/python-novice-inflammation/02-numpy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andas.pydata.org/docs/getting_started/intro_tutorials/10_text_data.html" TargetMode="External"/><Relationship Id="rId4" Type="http://schemas.openxmlformats.org/officeDocument/2006/relationships/hyperlink" Target="https://www.w3schools.com/python/numpy/default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4498C-E63D-664D-DA34-3857D716E7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Handling and Analysis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2FE21-B61F-C6E0-E008-D4EE877038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PSYC 5P02</a:t>
            </a:r>
          </a:p>
          <a:p>
            <a:r>
              <a:rPr lang="en-US" dirty="0"/>
              <a:t>Computer Programming for Experimental Psychology</a:t>
            </a:r>
          </a:p>
          <a:p>
            <a:r>
              <a:rPr lang="en-US" dirty="0"/>
              <a:t>Stephen Emrich</a:t>
            </a:r>
          </a:p>
          <a:p>
            <a:r>
              <a:rPr lang="en-US" dirty="0"/>
              <a:t>Brock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059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6B064-6898-4974-47EF-1806DC3D1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EF73A-A4D7-CFC4-1485-7F8DAFB59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Often in psychology we need to deal with multi-dimensional data </a:t>
            </a:r>
          </a:p>
          <a:p>
            <a:pPr lvl="1"/>
            <a:r>
              <a:rPr lang="en-US" dirty="0"/>
              <a:t>fMRI: Voxels x time</a:t>
            </a:r>
          </a:p>
          <a:p>
            <a:pPr lvl="1"/>
            <a:r>
              <a:rPr lang="en-US" dirty="0"/>
              <a:t>EEG: Electrodes x time</a:t>
            </a:r>
          </a:p>
          <a:p>
            <a:pPr lvl="1"/>
            <a:r>
              <a:rPr lang="en-US" dirty="0"/>
              <a:t>Questionnaires: Subjects x responses</a:t>
            </a:r>
          </a:p>
          <a:p>
            <a:endParaRPr lang="en-US" dirty="0"/>
          </a:p>
          <a:p>
            <a:r>
              <a:rPr lang="en-US" dirty="0"/>
              <a:t>Lists are not inherently multi-dimensional, although you can embed lists within lists (or tuples within lists)</a:t>
            </a:r>
          </a:p>
          <a:p>
            <a:endParaRPr lang="en-US" dirty="0"/>
          </a:p>
          <a:p>
            <a:r>
              <a:rPr lang="en-US" b="1" dirty="0"/>
              <a:t>Exercise: create a multidimensional list of x + y coordinate pairs (as tuples)</a:t>
            </a:r>
          </a:p>
        </p:txBody>
      </p:sp>
    </p:spTree>
    <p:extLst>
      <p:ext uri="{BB962C8B-B14F-4D97-AF65-F5344CB8AC3E}">
        <p14:creationId xmlns:p14="http://schemas.microsoft.com/office/powerpoint/2010/main" val="1572719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9272-5114-7240-34AA-0D1F5C7F8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7ED3-1C74-8C6F-680C-5608AE6EE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Dictionaries are a type of data structure in python that allows you to store items in key-value pairs. </a:t>
            </a:r>
          </a:p>
          <a:p>
            <a:endParaRPr lang="en-CA" b="0" dirty="0">
              <a:effectLst/>
            </a:endParaRPr>
          </a:p>
          <a:p>
            <a:r>
              <a:rPr lang="en-CA" dirty="0"/>
              <a:t>They are like a List but instead of using a numerical index it uses an assigned key to reference an item.</a:t>
            </a:r>
          </a:p>
          <a:p>
            <a:endParaRPr lang="en-CA" b="0" dirty="0">
              <a:effectLst/>
            </a:endParaRPr>
          </a:p>
          <a:p>
            <a:r>
              <a:rPr lang="en-CA" dirty="0"/>
              <a:t>Dictionaries are usually declared by curly brackets </a:t>
            </a:r>
            <a:r>
              <a:rPr lang="en-CA" b="1" dirty="0"/>
              <a:t>{ }</a:t>
            </a:r>
            <a:r>
              <a:rPr lang="en-CA" dirty="0"/>
              <a:t> and each element has a </a:t>
            </a:r>
            <a:r>
              <a:rPr lang="en-CA" b="1" dirty="0"/>
              <a:t>&lt;key&gt; : &lt;value&gt;</a:t>
            </a:r>
            <a:r>
              <a:rPr lang="en-CA" dirty="0"/>
              <a:t> pair.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06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B79B7-C1F2-1354-2B8B-BD8707C5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1EB6D-F80B-D76D-964F-550FBADEA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1828800" rtl="0">
              <a:buNone/>
            </a:pPr>
            <a:r>
              <a:rPr lang="en-CA" sz="2800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nbaTeams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 = {</a:t>
            </a:r>
            <a:endParaRPr lang="en-CA" b="0" dirty="0">
              <a:effectLst/>
            </a:endParaRPr>
          </a:p>
          <a:p>
            <a:pPr marL="1828800" rtl="0">
              <a:buNone/>
            </a:pP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'Los </a:t>
            </a:r>
            <a:r>
              <a:rPr lang="en-CA" sz="28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Angeles'</a:t>
            </a:r>
            <a:r>
              <a:rPr lang="en-CA" sz="2800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:</a:t>
            </a:r>
            <a:r>
              <a:rPr lang="en-CA" sz="28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'Lakers</a:t>
            </a: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endParaRPr lang="en-CA" b="0" dirty="0">
              <a:effectLst/>
            </a:endParaRPr>
          </a:p>
          <a:p>
            <a:pPr marL="1828800" rtl="0">
              <a:buNone/>
            </a:pP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</a:t>
            </a:r>
            <a:r>
              <a:rPr lang="en-CA" sz="28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Toronto'</a:t>
            </a:r>
            <a:r>
              <a:rPr lang="en-CA" sz="2800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:</a:t>
            </a:r>
            <a:r>
              <a:rPr lang="en-CA" sz="28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'Raptors</a:t>
            </a: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endParaRPr lang="en-CA" b="0" dirty="0">
              <a:effectLst/>
            </a:endParaRPr>
          </a:p>
          <a:p>
            <a:pPr marL="1828800" rtl="0">
              <a:buNone/>
            </a:pP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</a:t>
            </a:r>
            <a:r>
              <a:rPr lang="en-CA" sz="28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Chicago'</a:t>
            </a:r>
            <a:r>
              <a:rPr lang="en-CA" sz="2800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:</a:t>
            </a:r>
            <a:r>
              <a:rPr lang="en-CA" sz="28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'Bulls</a:t>
            </a: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</a:t>
            </a:r>
            <a:endParaRPr lang="en-CA" b="0" dirty="0">
              <a:effectLst/>
            </a:endParaRPr>
          </a:p>
          <a:p>
            <a:pPr marL="1828800" rtl="0">
              <a:buNone/>
            </a:pP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}</a:t>
            </a:r>
            <a:endParaRPr lang="en-CA" b="0" dirty="0">
              <a:effectLst/>
            </a:endParaRPr>
          </a:p>
          <a:p>
            <a:pPr>
              <a:buNone/>
            </a:pP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022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4B826-CAB1-693E-0644-516773FA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23808-5AA6-1442-1C63-F96551403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1600"/>
              </a:spcAft>
            </a:pPr>
            <a:r>
              <a:rPr lang="en-CA" sz="2800" b="0" i="0" u="none" strike="noStrike" dirty="0">
                <a:solidFill>
                  <a:srgbClr val="424242"/>
                </a:solidFill>
                <a:effectLst/>
              </a:rPr>
              <a:t>Unlike sequences, which are indexed by a range of numbers, dictionaries are indexed by </a:t>
            </a:r>
            <a:r>
              <a:rPr lang="en-CA" sz="2800" b="1" i="0" u="none" strike="noStrike" dirty="0">
                <a:solidFill>
                  <a:srgbClr val="424242"/>
                </a:solidFill>
                <a:effectLst/>
              </a:rPr>
              <a:t>keys</a:t>
            </a:r>
            <a:r>
              <a:rPr lang="en-CA" sz="2800" b="0" i="0" u="none" strike="noStrike" dirty="0">
                <a:solidFill>
                  <a:srgbClr val="424242"/>
                </a:solidFill>
                <a:effectLst/>
              </a:rPr>
              <a:t>, which can be any immutable type; strings and numbers can always be keys.</a:t>
            </a:r>
            <a:endParaRPr lang="en-CA" b="0" dirty="0">
              <a:effectLst/>
            </a:endParaRPr>
          </a:p>
          <a:p>
            <a:pPr>
              <a:spcAft>
                <a:spcPts val="1600"/>
              </a:spcAft>
            </a:pPr>
            <a:r>
              <a:rPr lang="en-CA" sz="2800" b="0" i="0" u="none" strike="noStrike" dirty="0">
                <a:solidFill>
                  <a:srgbClr val="424242"/>
                </a:solidFill>
                <a:effectLst/>
              </a:rPr>
              <a:t>Think of a dictionary as a set of key: value pairs, with the requirement that the keys are unique (within one dictionary).</a:t>
            </a:r>
            <a:endParaRPr lang="en-CA" dirty="0">
              <a:solidFill>
                <a:srgbClr val="424242"/>
              </a:solidFill>
            </a:endParaRPr>
          </a:p>
          <a:p>
            <a:pPr>
              <a:spcAft>
                <a:spcPts val="1600"/>
              </a:spcAft>
            </a:pPr>
            <a:r>
              <a:rPr lang="en-CA" sz="2800" b="0" i="0" u="none" strike="noStrike" dirty="0">
                <a:solidFill>
                  <a:srgbClr val="424242"/>
                </a:solidFill>
                <a:effectLst/>
              </a:rPr>
              <a:t>You can also use the </a:t>
            </a:r>
            <a:r>
              <a:rPr lang="en-CA" sz="2800" b="1" i="0" u="none" strike="noStrike" dirty="0" err="1">
                <a:solidFill>
                  <a:srgbClr val="424242"/>
                </a:solidFill>
                <a:effectLst/>
              </a:rPr>
              <a:t>dict</a:t>
            </a:r>
            <a:r>
              <a:rPr lang="en-CA" sz="2800" b="1" i="0" u="none" strike="noStrike" dirty="0">
                <a:solidFill>
                  <a:srgbClr val="424242"/>
                </a:solidFill>
                <a:effectLst/>
              </a:rPr>
              <a:t>()</a:t>
            </a:r>
            <a:r>
              <a:rPr lang="en-CA" sz="2800" b="0" i="0" u="none" strike="noStrike" dirty="0">
                <a:solidFill>
                  <a:srgbClr val="424242"/>
                </a:solidFill>
                <a:effectLst/>
              </a:rPr>
              <a:t> function to construct a dictionary. Takes in a sequence of key-value pairs but slightly different syntax:</a:t>
            </a:r>
            <a:br>
              <a:rPr lang="en-CA" b="0" dirty="0">
                <a:effectLst/>
              </a:rPr>
            </a:br>
            <a:endParaRPr lang="en-CA" b="0" dirty="0">
              <a:effectLst/>
            </a:endParaRPr>
          </a:p>
          <a:p>
            <a:pPr rtl="0">
              <a:buNone/>
            </a:pPr>
            <a:r>
              <a:rPr lang="en-CA" sz="2000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nbaTeams</a:t>
            </a:r>
            <a:r>
              <a:rPr lang="en-CA" sz="20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 = </a:t>
            </a:r>
            <a:endParaRPr lang="en-CA" b="0" dirty="0">
              <a:effectLst/>
            </a:endParaRPr>
          </a:p>
          <a:p>
            <a:pPr>
              <a:buNone/>
            </a:pPr>
            <a:r>
              <a:rPr lang="en-CA" sz="2000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dict</a:t>
            </a:r>
            <a:r>
              <a:rPr lang="en-CA" sz="20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([(</a:t>
            </a:r>
            <a:r>
              <a:rPr lang="en-CA" sz="20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'Los </a:t>
            </a:r>
            <a:r>
              <a:rPr lang="en-CA" sz="20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Angeles'</a:t>
            </a:r>
            <a:r>
              <a:rPr lang="en-CA" sz="2000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sz="20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'Lakers</a:t>
            </a:r>
            <a:r>
              <a:rPr lang="en-CA" sz="20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</a:t>
            </a:r>
            <a:r>
              <a:rPr lang="en-CA" sz="20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),(</a:t>
            </a:r>
            <a:r>
              <a:rPr lang="en-CA" sz="20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</a:t>
            </a:r>
            <a:r>
              <a:rPr lang="en-CA" sz="20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Toronto'</a:t>
            </a:r>
            <a:r>
              <a:rPr lang="en-CA" sz="2000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sz="20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'Raptors</a:t>
            </a:r>
            <a:r>
              <a:rPr lang="en-CA" sz="20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</a:t>
            </a:r>
            <a:r>
              <a:rPr lang="en-CA" sz="20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),(</a:t>
            </a:r>
            <a:r>
              <a:rPr lang="en-CA" sz="20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</a:t>
            </a:r>
            <a:r>
              <a:rPr lang="en-CA" sz="20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Miami'</a:t>
            </a:r>
            <a:r>
              <a:rPr lang="en-CA" sz="2000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sz="2000" b="0" i="0" u="none" strike="noStrike" dirty="0" err="1">
                <a:solidFill>
                  <a:srgbClr val="388E3C"/>
                </a:solidFill>
                <a:effectLst/>
                <a:latin typeface="Roboto Mono" pitchFamily="49" charset="0"/>
              </a:rPr>
              <a:t>'Heat</a:t>
            </a:r>
            <a:r>
              <a:rPr lang="en-CA" sz="20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</a:t>
            </a:r>
            <a:r>
              <a:rPr lang="en-CA" sz="20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)])</a:t>
            </a: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793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522C-F746-DF0B-5577-A2AF552B6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EF427-568B-7F1B-5DAE-881B527FB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b="0" i="0" u="none" strike="noStrike" dirty="0">
                <a:solidFill>
                  <a:srgbClr val="424242"/>
                </a:solidFill>
                <a:effectLst/>
              </a:rPr>
              <a:t>Retrieve a dictionary item by key:</a:t>
            </a:r>
            <a:br>
              <a:rPr lang="en-CA" sz="2800" b="0" i="0" u="none" strike="noStrike" dirty="0">
                <a:solidFill>
                  <a:srgbClr val="424242"/>
                </a:solidFill>
                <a:effectLst/>
                <a:latin typeface="Nunito" pitchFamily="2" charset="77"/>
              </a:rPr>
            </a:br>
            <a:br>
              <a:rPr lang="en-CA" sz="2800" b="0" i="0" u="none" strike="noStrike" dirty="0">
                <a:solidFill>
                  <a:srgbClr val="424242"/>
                </a:solidFill>
                <a:effectLst/>
                <a:latin typeface="Nunito" pitchFamily="2" charset="77"/>
              </a:rPr>
            </a:br>
            <a:r>
              <a:rPr lang="en-CA" sz="2400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nbaTeams</a:t>
            </a:r>
            <a:r>
              <a:rPr lang="en-CA" sz="24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[</a:t>
            </a:r>
            <a:r>
              <a:rPr lang="en-CA" sz="24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"Toronto"</a:t>
            </a:r>
            <a:r>
              <a:rPr lang="en-CA" sz="24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]</a:t>
            </a:r>
            <a:br>
              <a:rPr lang="en-CA" sz="24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</a:br>
            <a:r>
              <a:rPr lang="en-CA" sz="2400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nbaTeams.get</a:t>
            </a:r>
            <a:r>
              <a:rPr lang="en-CA" sz="24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(</a:t>
            </a:r>
            <a:r>
              <a:rPr lang="en-CA" sz="2400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"Toronto"</a:t>
            </a:r>
            <a:r>
              <a:rPr lang="en-CA" sz="24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845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40C97-F701-1DD8-6573-26867270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28E1E-5905-1611-0670-81589072B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While lists and libraries have their use cases, can be kind of clunky and limiting</a:t>
            </a:r>
          </a:p>
          <a:p>
            <a:endParaRPr lang="en-US" dirty="0"/>
          </a:p>
          <a:p>
            <a:r>
              <a:rPr lang="en-US" dirty="0"/>
              <a:t>Python has a number of libraries commonly used in (data)science to deal with n-dimensional arrays</a:t>
            </a:r>
          </a:p>
          <a:p>
            <a:endParaRPr lang="en-US" dirty="0"/>
          </a:p>
          <a:p>
            <a:r>
              <a:rPr lang="en-US" dirty="0"/>
              <a:t>One such library is NumPy (Numerical Python)</a:t>
            </a:r>
          </a:p>
          <a:p>
            <a:endParaRPr lang="en-US" dirty="0"/>
          </a:p>
          <a:p>
            <a:r>
              <a:rPr lang="en-US" dirty="0"/>
              <a:t>Import using: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np</a:t>
            </a:r>
          </a:p>
        </p:txBody>
      </p:sp>
    </p:spTree>
    <p:extLst>
      <p:ext uri="{BB962C8B-B14F-4D97-AF65-F5344CB8AC3E}">
        <p14:creationId xmlns:p14="http://schemas.microsoft.com/office/powerpoint/2010/main" val="2578718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097A5-023F-10CD-4640-E472EEC3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AAE5-EB5E-8306-4EF8-283E287FE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 create an array, you can have to call the array method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CA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/>
              <a:t>You can separate different dimensions of an array using ,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([[[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[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]], [[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[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CA" b="0" i="0" dirty="0">
                <a:solidFill>
                  <a:srgbClr val="99005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]]])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b="1" dirty="0"/>
              <a:t>Exercise: try making a 3D array. Check the number of dimensions of the array using </a:t>
            </a:r>
            <a:r>
              <a:rPr lang="en-US" b="1" dirty="0" err="1"/>
              <a:t>ndim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26201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7844-0966-37C5-21B1-47CFA341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F71AD-AB27-DBB0-3004-34E7F4751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arr.reshape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(4,3)</a:t>
            </a:r>
            <a:r>
              <a:rPr lang="en-US" dirty="0"/>
              <a:t>: reshapes an existing 1 x 12 array into a 4 x 3 array</a:t>
            </a:r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np.vsstack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(arr1,arr2)</a:t>
            </a:r>
            <a:r>
              <a:rPr lang="en-US" dirty="0">
                <a:cs typeface="Courier New" panose="02070309020205020404" pitchFamily="49" charset="0"/>
              </a:rPr>
              <a:t>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stacks the two 1D arrays arr1 and arr2 </a:t>
            </a:r>
            <a:r>
              <a:rPr lang="en-US" dirty="0" err="1"/>
              <a:t>ontop</a:t>
            </a:r>
            <a:r>
              <a:rPr lang="en-US" dirty="0"/>
              <a:t> of each other, making a 2d array</a:t>
            </a:r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np.array_split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(arr,3)</a:t>
            </a:r>
            <a:r>
              <a:rPr lang="en-US" dirty="0"/>
              <a:t>: splits an existing 1D array </a:t>
            </a:r>
            <a:r>
              <a:rPr lang="en-US" dirty="0" err="1"/>
              <a:t>arr</a:t>
            </a:r>
            <a:r>
              <a:rPr lang="en-US" dirty="0"/>
              <a:t> into 3 separate parts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42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FE2EA-8727-8A93-D3E4-8D9CF11F3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through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1FDCD-C6BC-35D7-A029-9F2653DEE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 fontScale="77500" lnSpcReduction="20000"/>
          </a:bodyPr>
          <a:lstStyle/>
          <a:p>
            <a:r>
              <a:rPr lang="en-US" dirty="0"/>
              <a:t>Sometimes you may want to loop through arrays (e.g., trials, conditions, etc.)</a:t>
            </a:r>
          </a:p>
          <a:p>
            <a:endParaRPr lang="en-US" dirty="0"/>
          </a:p>
          <a:p>
            <a:r>
              <a:rPr lang="en-US" dirty="0"/>
              <a:t>Iterate through this array: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([[1, 2, 3], [4, 5, 6]])</a:t>
            </a:r>
          </a:p>
          <a:p>
            <a:endParaRPr lang="en-US" dirty="0"/>
          </a:p>
          <a:p>
            <a:r>
              <a:rPr lang="en-US" dirty="0"/>
              <a:t>Compare</a:t>
            </a:r>
          </a:p>
          <a:p>
            <a:pPr marL="0" indent="0">
              <a:buNone/>
            </a:pPr>
            <a:r>
              <a:rPr lang="en-CA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x </a:t>
            </a:r>
            <a:r>
              <a:rPr lang="en-CA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CA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pPr marL="0" indent="0">
              <a:buNone/>
            </a:pPr>
            <a:endParaRPr lang="en-C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000000"/>
                </a:solidFill>
                <a:latin typeface="Consolas" panose="020B0609020204030204" pitchFamily="49" charset="0"/>
              </a:rPr>
              <a:t>To:</a:t>
            </a:r>
          </a:p>
          <a:p>
            <a:pPr marL="0" indent="0">
              <a:buNone/>
            </a:pPr>
            <a:r>
              <a:rPr lang="en-CA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x </a:t>
            </a:r>
            <a:r>
              <a:rPr lang="en-CA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CA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CA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y </a:t>
            </a:r>
            <a:r>
              <a:rPr lang="en-CA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x:</a:t>
            </a:r>
            <a:b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CA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CA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  <a:endParaRPr lang="en-CA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CA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271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C315-6B1F-4D00-214F-E285CCAFB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masking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5C62-2A39-3747-5D24-DD14B889A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specific values in your data is one of the most common things you will need to do (e.g., RTs &lt; 2.5SD, acc == True, </a:t>
            </a:r>
            <a:r>
              <a:rPr lang="en-US" dirty="0" err="1"/>
              <a:t>cond</a:t>
            </a:r>
            <a:r>
              <a:rPr lang="en-US" dirty="0"/>
              <a:t> ==1)</a:t>
            </a:r>
          </a:p>
          <a:p>
            <a:endParaRPr lang="en-US" dirty="0"/>
          </a:p>
          <a:p>
            <a:r>
              <a:rPr lang="en-US" dirty="0"/>
              <a:t>Can index the specific values using a Boolean in a few different ways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mask = data &gt;=2</a:t>
            </a:r>
          </a:p>
          <a:p>
            <a:pPr marL="914400" lvl="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data.mask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(mask)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data[data&gt;=2]</a:t>
            </a:r>
          </a:p>
        </p:txBody>
      </p:sp>
    </p:spTree>
    <p:extLst>
      <p:ext uri="{BB962C8B-B14F-4D97-AF65-F5344CB8AC3E}">
        <p14:creationId xmlns:p14="http://schemas.microsoft.com/office/powerpoint/2010/main" val="2767783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B73A-6F72-3E6B-9770-A6198D71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ways of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0A0F-DFB8-4E8C-97E8-4CBC5A6B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np.nonzero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(a) </a:t>
            </a:r>
            <a:r>
              <a:rPr lang="en-US" dirty="0"/>
              <a:t>returns all the non-zero elements</a:t>
            </a:r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np.where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(condition,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], /) </a:t>
            </a:r>
            <a:r>
              <a:rPr lang="en-US" dirty="0"/>
              <a:t>returns elements from x or y depending on condition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985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501F2-D5E2-D857-317B-B5C0A833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68D2B-7FF6-E9D7-A623-98B57E4C4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Let’s create a large array by loading in some large data sets from the inflammation study</a:t>
            </a:r>
          </a:p>
          <a:p>
            <a:pPr algn="l">
              <a:lnSpc>
                <a:spcPts val="1800"/>
              </a:lnSpc>
              <a:buNone/>
            </a:pPr>
            <a:br>
              <a:rPr lang="en-CA" b="0" i="0" dirty="0">
                <a:solidFill>
                  <a:srgbClr val="383838"/>
                </a:solidFill>
                <a:effectLst/>
                <a:latin typeface="inherit"/>
              </a:rPr>
            </a:br>
            <a:br>
              <a:rPr lang="en-CA" b="0" i="0" dirty="0">
                <a:solidFill>
                  <a:srgbClr val="383838"/>
                </a:solidFill>
                <a:effectLst/>
                <a:latin typeface="inherit"/>
              </a:rPr>
            </a:b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	data = </a:t>
            </a:r>
            <a:r>
              <a:rPr lang="en-CA" b="0" i="0" dirty="0" err="1">
                <a:solidFill>
                  <a:srgbClr val="383838"/>
                </a:solidFill>
                <a:effectLst/>
                <a:latin typeface="inherit"/>
              </a:rPr>
              <a:t>np.loadtxt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(</a:t>
            </a:r>
            <a:r>
              <a:rPr lang="en-CA" b="0" i="0" dirty="0" err="1">
                <a:solidFill>
                  <a:srgbClr val="383838"/>
                </a:solidFill>
                <a:effectLst/>
                <a:latin typeface="inherit"/>
              </a:rPr>
              <a:t>fname</a:t>
            </a:r>
            <a:r>
              <a:rPr lang="en-CA" b="0" i="0" dirty="0">
                <a:solidFill>
                  <a:srgbClr val="5E5E5E"/>
                </a:solidFill>
                <a:effectLst/>
                <a:latin typeface="inherit"/>
              </a:rPr>
              <a:t>=</a:t>
            </a:r>
            <a:r>
              <a:rPr lang="en-CA" b="0" i="0" dirty="0">
                <a:solidFill>
                  <a:srgbClr val="20794D"/>
                </a:solidFill>
                <a:effectLst/>
                <a:latin typeface="inherit"/>
              </a:rPr>
              <a:t>'inflammation-01.csv'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, delimiter</a:t>
            </a:r>
            <a:r>
              <a:rPr lang="en-CA" b="0" i="0" dirty="0">
                <a:solidFill>
                  <a:srgbClr val="5E5E5E"/>
                </a:solidFill>
                <a:effectLst/>
                <a:latin typeface="inherit"/>
              </a:rPr>
              <a:t>=</a:t>
            </a:r>
            <a:r>
              <a:rPr lang="en-CA" b="0" i="0" dirty="0">
                <a:solidFill>
                  <a:srgbClr val="20794D"/>
                </a:solidFill>
                <a:effectLst/>
                <a:latin typeface="inherit"/>
              </a:rPr>
              <a:t>',’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)</a:t>
            </a:r>
            <a:endParaRPr lang="en-CA" b="0" i="0" dirty="0">
              <a:solidFill>
                <a:srgbClr val="383838"/>
              </a:solidFill>
              <a:effectLst/>
              <a:latin typeface="Source Code Pro" panose="020B050903040302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Note this is a </a:t>
            </a:r>
            <a:r>
              <a:rPr lang="en-US" b="1" dirty="0"/>
              <a:t>comma-separated values</a:t>
            </a:r>
            <a:r>
              <a:rPr lang="en-US" dirty="0"/>
              <a:t> file (.csv)</a:t>
            </a:r>
          </a:p>
          <a:p>
            <a:pPr lvl="1"/>
            <a:r>
              <a:rPr lang="en-US" dirty="0"/>
              <a:t>Indicate what the delimiter is (files can also be tab or character delimited</a:t>
            </a:r>
          </a:p>
          <a:p>
            <a:endParaRPr lang="en-US" dirty="0"/>
          </a:p>
          <a:p>
            <a:r>
              <a:rPr lang="en-US" dirty="0"/>
              <a:t>If you’re using Spyder you should be able to see the size and type of your variable using the variable explorer</a:t>
            </a:r>
          </a:p>
          <a:p>
            <a:pPr lvl="1"/>
            <a:r>
              <a:rPr lang="en-US" dirty="0"/>
              <a:t>If not,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data.shape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8758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9D04-8D11-151A-32BC-0159DC692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Multi-dimensional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B0C4E-CF0F-15FD-AB86-F4700B520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Our data is in an </a:t>
            </a:r>
            <a:r>
              <a:rPr lang="en-US" b="1" dirty="0"/>
              <a:t>m x n </a:t>
            </a:r>
            <a:r>
              <a:rPr lang="en-US" dirty="0"/>
              <a:t>array (60 x 40)</a:t>
            </a:r>
          </a:p>
          <a:p>
            <a:endParaRPr lang="en-US" dirty="0"/>
          </a:p>
          <a:p>
            <a:r>
              <a:rPr lang="en-US" dirty="0"/>
              <a:t>Also called an r x c array as it’s rows followed by columns</a:t>
            </a:r>
          </a:p>
          <a:p>
            <a:endParaRPr lang="en-US" dirty="0"/>
          </a:p>
          <a:p>
            <a:r>
              <a:rPr lang="en-US" dirty="0"/>
              <a:t>We can index the location of the value in the 1</a:t>
            </a:r>
            <a:r>
              <a:rPr lang="en-US" baseline="30000" dirty="0"/>
              <a:t>st</a:t>
            </a:r>
            <a:r>
              <a:rPr lang="en-US" dirty="0"/>
              <a:t> row and 1</a:t>
            </a:r>
            <a:r>
              <a:rPr lang="en-US" baseline="30000" dirty="0"/>
              <a:t>st</a:t>
            </a:r>
            <a:r>
              <a:rPr lang="en-US" dirty="0"/>
              <a:t> column using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data[0,0]</a:t>
            </a:r>
          </a:p>
          <a:p>
            <a:endParaRPr lang="en-US" dirty="0"/>
          </a:p>
          <a:p>
            <a:pPr>
              <a:lnSpc>
                <a:spcPts val="1800"/>
              </a:lnSpc>
            </a:pPr>
            <a:r>
              <a:rPr lang="en-US" dirty="0"/>
              <a:t>We can get slices of data using, e.g.: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print(data[</a:t>
            </a:r>
            <a:r>
              <a:rPr lang="en-CA" b="0" i="0" dirty="0">
                <a:solidFill>
                  <a:srgbClr val="AD0000"/>
                </a:solidFill>
                <a:effectLst/>
                <a:latin typeface="inherit"/>
              </a:rPr>
              <a:t>0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:</a:t>
            </a:r>
            <a:r>
              <a:rPr lang="en-CA" b="0" i="0" dirty="0">
                <a:solidFill>
                  <a:srgbClr val="AD0000"/>
                </a:solidFill>
                <a:effectLst/>
                <a:latin typeface="inherit"/>
              </a:rPr>
              <a:t>4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, </a:t>
            </a:r>
            <a:r>
              <a:rPr lang="en-CA" b="0" i="0" dirty="0">
                <a:solidFill>
                  <a:srgbClr val="AD0000"/>
                </a:solidFill>
                <a:effectLst/>
                <a:latin typeface="inherit"/>
              </a:rPr>
              <a:t>0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:</a:t>
            </a:r>
            <a:r>
              <a:rPr lang="en-CA" b="0" i="0" dirty="0">
                <a:solidFill>
                  <a:srgbClr val="AD0000"/>
                </a:solidFill>
                <a:effectLst/>
                <a:latin typeface="inherit"/>
              </a:rPr>
              <a:t>10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])</a:t>
            </a:r>
          </a:p>
          <a:p>
            <a:pPr>
              <a:lnSpc>
                <a:spcPts val="1800"/>
              </a:lnSpc>
            </a:pPr>
            <a:endParaRPr lang="en-CA" dirty="0">
              <a:solidFill>
                <a:srgbClr val="383838"/>
              </a:solidFill>
              <a:latin typeface="inherit"/>
            </a:endParaRPr>
          </a:p>
          <a:p>
            <a:pPr>
              <a:lnSpc>
                <a:spcPts val="1800"/>
              </a:lnSpc>
            </a:pPr>
            <a:r>
              <a:rPr lang="en-CA" b="0" i="0" dirty="0">
                <a:solidFill>
                  <a:srgbClr val="383838"/>
                </a:solidFill>
                <a:effectLst/>
              </a:rPr>
              <a:t>The slice 0:4 says “start at index zero and go up to </a:t>
            </a:r>
            <a:r>
              <a:rPr lang="en-CA" b="1" dirty="0">
                <a:solidFill>
                  <a:srgbClr val="383838"/>
                </a:solidFill>
              </a:rPr>
              <a:t>but not including</a:t>
            </a:r>
            <a:r>
              <a:rPr lang="en-CA" dirty="0">
                <a:solidFill>
                  <a:srgbClr val="383838"/>
                </a:solidFill>
              </a:rPr>
              <a:t> index 4”</a:t>
            </a:r>
            <a:endParaRPr lang="en-CA" b="0" i="0" dirty="0">
              <a:solidFill>
                <a:srgbClr val="383838"/>
              </a:solidFill>
              <a:effectLst/>
            </a:endParaRPr>
          </a:p>
          <a:p>
            <a:pPr algn="l">
              <a:lnSpc>
                <a:spcPts val="1800"/>
              </a:lnSpc>
              <a:buNone/>
            </a:pPr>
            <a:endParaRPr lang="en-CA" dirty="0">
              <a:solidFill>
                <a:srgbClr val="383838"/>
              </a:solidFill>
              <a:latin typeface="inherit"/>
            </a:endParaRPr>
          </a:p>
          <a:p>
            <a:pPr algn="l">
              <a:lnSpc>
                <a:spcPts val="1800"/>
              </a:lnSpc>
              <a:buNone/>
            </a:pPr>
            <a:endParaRPr lang="en-CA" b="0" i="0" dirty="0">
              <a:solidFill>
                <a:srgbClr val="383838"/>
              </a:solidFill>
              <a:effectLst/>
              <a:latin typeface="Source Code Pro" panose="020B050903040302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360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A804-1D2E-EFCD-270F-8C1844BB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using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48266-8A19-2738-FADC-1DA062D78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Numpy</a:t>
            </a:r>
            <a:r>
              <a:rPr lang="en-US" dirty="0"/>
              <a:t> also includes a number of functions for analyzing data. Let’s try a few using multiple assignment:</a:t>
            </a:r>
          </a:p>
          <a:p>
            <a:endParaRPr lang="en-US" dirty="0"/>
          </a:p>
          <a:p>
            <a:pPr lvl="1">
              <a:lnSpc>
                <a:spcPts val="1800"/>
              </a:lnSpc>
              <a:buNone/>
            </a:pP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	</a:t>
            </a:r>
            <a:r>
              <a:rPr lang="en-CA" b="0" i="0" dirty="0" err="1">
                <a:solidFill>
                  <a:srgbClr val="383838"/>
                </a:solidFill>
                <a:effectLst/>
                <a:latin typeface="inherit"/>
              </a:rPr>
              <a:t>meanval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, </a:t>
            </a:r>
            <a:r>
              <a:rPr lang="en-CA" b="0" i="0" dirty="0" err="1">
                <a:solidFill>
                  <a:srgbClr val="383838"/>
                </a:solidFill>
                <a:effectLst/>
                <a:latin typeface="inherit"/>
              </a:rPr>
              <a:t>maxval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, </a:t>
            </a:r>
            <a:r>
              <a:rPr lang="en-CA" b="0" i="0" dirty="0" err="1">
                <a:solidFill>
                  <a:srgbClr val="383838"/>
                </a:solidFill>
                <a:effectLst/>
                <a:latin typeface="inherit"/>
              </a:rPr>
              <a:t>minval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, </a:t>
            </a:r>
            <a:r>
              <a:rPr lang="en-CA" b="0" i="0" dirty="0" err="1">
                <a:solidFill>
                  <a:srgbClr val="383838"/>
                </a:solidFill>
                <a:effectLst/>
                <a:latin typeface="inherit"/>
              </a:rPr>
              <a:t>stdval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 </a:t>
            </a:r>
            <a:r>
              <a:rPr lang="en-CA" b="0" i="0" dirty="0">
                <a:solidFill>
                  <a:srgbClr val="5E5E5E"/>
                </a:solidFill>
                <a:effectLst/>
                <a:latin typeface="inherit"/>
              </a:rPr>
              <a:t>=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 </a:t>
            </a:r>
            <a:r>
              <a:rPr lang="en-CA" b="0" i="0" dirty="0" err="1">
                <a:solidFill>
                  <a:srgbClr val="383838"/>
                </a:solidFill>
                <a:effectLst/>
                <a:latin typeface="inherit"/>
              </a:rPr>
              <a:t>np.mean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(data), </a:t>
            </a:r>
            <a:r>
              <a:rPr lang="en-CA" b="0" i="0" dirty="0" err="1">
                <a:solidFill>
                  <a:srgbClr val="383838"/>
                </a:solidFill>
                <a:effectLst/>
                <a:latin typeface="inherit"/>
              </a:rPr>
              <a:t>np.amax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(data), </a:t>
            </a:r>
            <a:r>
              <a:rPr lang="en-CA" b="0" i="0" dirty="0" err="1">
                <a:solidFill>
                  <a:srgbClr val="383838"/>
                </a:solidFill>
                <a:effectLst/>
                <a:latin typeface="inherit"/>
              </a:rPr>
              <a:t>np.amin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(data), </a:t>
            </a:r>
            <a:r>
              <a:rPr lang="en-CA" b="0" i="0" dirty="0" err="1">
                <a:solidFill>
                  <a:srgbClr val="383838"/>
                </a:solidFill>
                <a:effectLst/>
                <a:latin typeface="inherit"/>
              </a:rPr>
              <a:t>np.std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(data)</a:t>
            </a:r>
            <a:endParaRPr lang="en-CA" b="0" i="0" dirty="0">
              <a:solidFill>
                <a:srgbClr val="383838"/>
              </a:solidFill>
              <a:effectLst/>
              <a:latin typeface="Source Code Pro" panose="020B0509030403020204" pitchFamily="49" charset="0"/>
            </a:endParaRPr>
          </a:p>
          <a:p>
            <a:pPr lvl="1">
              <a:lnSpc>
                <a:spcPts val="1800"/>
              </a:lnSpc>
              <a:buNone/>
            </a:pPr>
            <a:endParaRPr lang="en-CA" b="0" i="0" dirty="0">
              <a:solidFill>
                <a:srgbClr val="383838"/>
              </a:solidFill>
              <a:effectLst/>
              <a:latin typeface="Source Code Pro" panose="020B0509030403020204" pitchFamily="49" charset="0"/>
            </a:endParaRPr>
          </a:p>
          <a:p>
            <a:pPr lvl="1">
              <a:lnSpc>
                <a:spcPct val="110000"/>
              </a:lnSpc>
              <a:buNone/>
            </a:pP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	</a:t>
            </a:r>
            <a:r>
              <a:rPr lang="en-CA" dirty="0">
                <a:solidFill>
                  <a:srgbClr val="383838"/>
                </a:solidFill>
                <a:latin typeface="inherit"/>
              </a:rPr>
              <a:t>print(mean inflammation:’, </a:t>
            </a:r>
            <a:r>
              <a:rPr lang="en-CA" dirty="0" err="1">
                <a:solidFill>
                  <a:srgbClr val="383838"/>
                </a:solidFill>
                <a:latin typeface="inherit"/>
              </a:rPr>
              <a:t>meanval</a:t>
            </a:r>
            <a:r>
              <a:rPr lang="en-CA" dirty="0">
                <a:solidFill>
                  <a:srgbClr val="383838"/>
                </a:solidFill>
                <a:latin typeface="inherit"/>
              </a:rPr>
              <a:t>)</a:t>
            </a:r>
            <a:br>
              <a:rPr lang="en-CA" dirty="0">
                <a:solidFill>
                  <a:srgbClr val="383838"/>
                </a:solidFill>
                <a:latin typeface="inherit"/>
              </a:rPr>
            </a:br>
            <a:r>
              <a:rPr lang="en-CA" dirty="0">
                <a:solidFill>
                  <a:srgbClr val="383838"/>
                </a:solidFill>
                <a:latin typeface="inherit"/>
              </a:rPr>
              <a:t>print('maximum inflammation:', </a:t>
            </a:r>
            <a:r>
              <a:rPr lang="en-CA" dirty="0" err="1">
                <a:solidFill>
                  <a:srgbClr val="383838"/>
                </a:solidFill>
                <a:latin typeface="inherit"/>
              </a:rPr>
              <a:t>maxval</a:t>
            </a:r>
            <a:r>
              <a:rPr lang="en-CA" dirty="0">
                <a:solidFill>
                  <a:srgbClr val="383838"/>
                </a:solidFill>
                <a:latin typeface="inherit"/>
              </a:rPr>
              <a:t>)</a:t>
            </a:r>
          </a:p>
          <a:p>
            <a:pPr lvl="1">
              <a:lnSpc>
                <a:spcPct val="110000"/>
              </a:lnSpc>
              <a:buNone/>
            </a:pPr>
            <a:r>
              <a:rPr lang="en-CA" dirty="0">
                <a:solidFill>
                  <a:srgbClr val="383838"/>
                </a:solidFill>
                <a:latin typeface="inherit"/>
              </a:rPr>
              <a:t>	print('minimum inflammation:', </a:t>
            </a:r>
            <a:r>
              <a:rPr lang="en-CA" dirty="0" err="1">
                <a:solidFill>
                  <a:srgbClr val="383838"/>
                </a:solidFill>
                <a:latin typeface="inherit"/>
              </a:rPr>
              <a:t>minval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)</a:t>
            </a:r>
            <a:endParaRPr lang="en-CA" b="0" i="0" dirty="0">
              <a:solidFill>
                <a:srgbClr val="383838"/>
              </a:solidFill>
              <a:effectLst/>
              <a:latin typeface="Source Code Pro" panose="020B0509030403020204" pitchFamily="49" charset="0"/>
            </a:endParaRPr>
          </a:p>
          <a:p>
            <a:pPr lvl="1">
              <a:lnSpc>
                <a:spcPct val="100000"/>
              </a:lnSpc>
              <a:buNone/>
            </a:pP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	print(</a:t>
            </a:r>
            <a:r>
              <a:rPr lang="en-CA" b="0" i="0" dirty="0">
                <a:solidFill>
                  <a:srgbClr val="20794D"/>
                </a:solidFill>
                <a:effectLst/>
                <a:latin typeface="inherit"/>
              </a:rPr>
              <a:t>'standard deviation:'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, </a:t>
            </a:r>
            <a:r>
              <a:rPr lang="en-CA" b="0" i="0" dirty="0" err="1">
                <a:solidFill>
                  <a:srgbClr val="383838"/>
                </a:solidFill>
                <a:effectLst/>
                <a:latin typeface="inherit"/>
              </a:rPr>
              <a:t>stdval</a:t>
            </a:r>
            <a:r>
              <a:rPr lang="en-CA" b="0" i="0" dirty="0">
                <a:solidFill>
                  <a:srgbClr val="383838"/>
                </a:solidFill>
                <a:effectLst/>
                <a:latin typeface="inherit"/>
              </a:rPr>
              <a:t>)</a:t>
            </a:r>
            <a:endParaRPr lang="en-CA" b="0" i="0" dirty="0">
              <a:solidFill>
                <a:srgbClr val="383838"/>
              </a:solidFill>
              <a:effectLst/>
              <a:latin typeface="Source Code Pro" panose="020B0509030403020204" pitchFamily="49" charset="0"/>
            </a:endParaRPr>
          </a:p>
          <a:p>
            <a:endParaRPr lang="en-US" dirty="0"/>
          </a:p>
          <a:p>
            <a:r>
              <a:rPr lang="en-US" b="1" dirty="0"/>
              <a:t>Exercise: obtain the maximum inflation value for patient 1, the mean mean value for day 10</a:t>
            </a:r>
          </a:p>
          <a:p>
            <a:r>
              <a:rPr lang="en-US" b="1" dirty="0"/>
              <a:t>Obtain values for each patient/day using the axis option</a:t>
            </a:r>
          </a:p>
        </p:txBody>
      </p:sp>
    </p:spTree>
    <p:extLst>
      <p:ext uri="{BB962C8B-B14F-4D97-AF65-F5344CB8AC3E}">
        <p14:creationId xmlns:p14="http://schemas.microsoft.com/office/powerpoint/2010/main" val="2487769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C828-620D-28E3-678D-96A429EB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random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1513B-8393-D8F9-C5A7-A574C9A4F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Numpy</a:t>
            </a:r>
            <a:r>
              <a:rPr lang="en-US" dirty="0"/>
              <a:t> has a number of useful random methods. Can import directly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random</a:t>
            </a:r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random.randint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(100): </a:t>
            </a:r>
            <a:r>
              <a:rPr lang="en-US" dirty="0"/>
              <a:t>generates a random integer form 0 to 100</a:t>
            </a:r>
          </a:p>
          <a:p>
            <a:pPr lvl="1"/>
            <a:r>
              <a:rPr lang="en-US" dirty="0"/>
              <a:t>Can include optional size size argument</a:t>
            </a:r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random.rand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cs typeface="Courier New" panose="02070309020205020404" pitchFamily="49" charset="0"/>
              </a:rPr>
              <a:t>generates a random float from 0 to 1</a:t>
            </a:r>
            <a:endParaRPr lang="en-US" dirty="0"/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random.choice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: selects a random value from an array</a:t>
            </a:r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random.shuffle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random.permutation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create random permutations of an array, either on the original or on a new object</a:t>
            </a:r>
          </a:p>
          <a:p>
            <a:endParaRPr lang="en-US" dirty="0"/>
          </a:p>
          <a:p>
            <a:r>
              <a:rPr lang="en-US" dirty="0"/>
              <a:t>Have methods for creating random values with normal, binomial, </a:t>
            </a:r>
            <a:r>
              <a:rPr lang="en-US" dirty="0" err="1"/>
              <a:t>poisson</a:t>
            </a:r>
            <a:r>
              <a:rPr lang="en-US" dirty="0"/>
              <a:t>, uniform, or custom distributions</a:t>
            </a:r>
          </a:p>
        </p:txBody>
      </p:sp>
    </p:spTree>
    <p:extLst>
      <p:ext uri="{BB962C8B-B14F-4D97-AF65-F5344CB8AC3E}">
        <p14:creationId xmlns:p14="http://schemas.microsoft.com/office/powerpoint/2010/main" val="920083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FAC5-EE3E-E3F6-9F24-1A0902C49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24775-360B-DBA9-D932-9721A44A1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also has a number of other useful methods for analyzing data including:</a:t>
            </a:r>
          </a:p>
          <a:p>
            <a:pPr lvl="1"/>
            <a:r>
              <a:rPr lang="en-US" dirty="0"/>
              <a:t>Mathematical functions</a:t>
            </a:r>
          </a:p>
          <a:p>
            <a:pPr lvl="1"/>
            <a:r>
              <a:rPr lang="en-US" dirty="0"/>
              <a:t>Linear algebra</a:t>
            </a:r>
          </a:p>
          <a:p>
            <a:pPr lvl="1"/>
            <a:r>
              <a:rPr lang="en-US" dirty="0"/>
              <a:t>Fourier transform (time-series analysis)</a:t>
            </a:r>
          </a:p>
          <a:p>
            <a:pPr lvl="1"/>
            <a:r>
              <a:rPr lang="en-US" dirty="0"/>
              <a:t>Strings</a:t>
            </a:r>
          </a:p>
          <a:p>
            <a:endParaRPr lang="en-US" dirty="0"/>
          </a:p>
          <a:p>
            <a:r>
              <a:rPr lang="en-US" dirty="0"/>
              <a:t>Full documentation here:</a:t>
            </a:r>
          </a:p>
          <a:p>
            <a:pPr lvl="1"/>
            <a:r>
              <a:rPr lang="en-US" dirty="0">
                <a:hlinkClick r:id="rId2"/>
              </a:rPr>
              <a:t>https://numpy.org/doc/2.1/index.html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291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88CC-A143-B5FF-809B-62E59010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5715A-990B-0917-F95B-F06BC451C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pandas</a:t>
            </a:r>
            <a:r>
              <a:rPr lang="en-CA" dirty="0"/>
              <a:t> is a software library written for the Python programming language for data manipulation and analysis. </a:t>
            </a:r>
          </a:p>
          <a:p>
            <a:endParaRPr lang="en-CA" b="0" dirty="0">
              <a:effectLst/>
            </a:endParaRPr>
          </a:p>
          <a:p>
            <a:r>
              <a:rPr lang="en-CA" dirty="0"/>
              <a:t>It aims to be the fundamental high-level building block for doing practical, real world data analysis in Python. </a:t>
            </a:r>
          </a:p>
          <a:p>
            <a:endParaRPr lang="en-CA" b="0" dirty="0">
              <a:effectLst/>
            </a:endParaRPr>
          </a:p>
          <a:p>
            <a:r>
              <a:rPr lang="en-CA" b="0" dirty="0">
                <a:effectLst/>
              </a:rPr>
              <a:t>Built on top of the </a:t>
            </a:r>
            <a:r>
              <a:rPr lang="en-CA" b="0" dirty="0" err="1">
                <a:effectLst/>
              </a:rPr>
              <a:t>Numpy</a:t>
            </a:r>
            <a:r>
              <a:rPr lang="en-CA" b="0" dirty="0">
                <a:effectLst/>
              </a:rPr>
              <a:t> library, which means that most of the methods defined for </a:t>
            </a:r>
            <a:r>
              <a:rPr lang="en-CA" b="0" dirty="0" err="1">
                <a:effectLst/>
              </a:rPr>
              <a:t>Numpy</a:t>
            </a:r>
            <a:r>
              <a:rPr lang="en-CA" b="0" dirty="0">
                <a:effectLst/>
              </a:rPr>
              <a:t> arrays apply to Panda data structures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4469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8CC27-28A0-B0CB-52C7-B46C2888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EFA9F-6D4A-91F8-669B-938368FFF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Panda has two main data structures:</a:t>
            </a:r>
          </a:p>
          <a:p>
            <a:pPr lvl="1" fontAlgn="base"/>
            <a:r>
              <a:rPr lang="en-CA" b="1" dirty="0"/>
              <a:t>Series</a:t>
            </a:r>
            <a:r>
              <a:rPr lang="en-CA" dirty="0"/>
              <a:t>: A pandas Series is a one-dimensional labeled array capable of holding data of any type (integer, string, float, python objects, etc.). </a:t>
            </a:r>
          </a:p>
          <a:p>
            <a:pPr lvl="1"/>
            <a:endParaRPr lang="en-CA" b="1" dirty="0"/>
          </a:p>
          <a:p>
            <a:pPr lvl="1"/>
            <a:r>
              <a:rPr lang="en-CA" b="1" dirty="0" err="1"/>
              <a:t>DataFrame</a:t>
            </a:r>
            <a:r>
              <a:rPr lang="en-CA" dirty="0"/>
              <a:t>: The primary data structure in pandas, the </a:t>
            </a:r>
            <a:r>
              <a:rPr lang="en-CA" dirty="0" err="1"/>
              <a:t>DataFrame</a:t>
            </a:r>
            <a:r>
              <a:rPr lang="en-CA" dirty="0"/>
              <a:t> is a two-dimensional, mutable, and potentially heterogeneous tabular data structure with labeled axes (rows and columns).</a:t>
            </a:r>
            <a:br>
              <a:rPr lang="en-CA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433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A8A3-1D49-E357-09B0-A369A651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-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596E6-0CE7-23E6-0003-5C82BC312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Getting started: import panda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sz="2800" b="0" i="0" u="none" strike="noStrike" dirty="0">
                <a:solidFill>
                  <a:srgbClr val="3F51B5"/>
                </a:solidFill>
                <a:effectLst/>
                <a:latin typeface="Roboto Mono" pitchFamily="49" charset="0"/>
              </a:rPr>
              <a:t>	import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 pandas </a:t>
            </a:r>
            <a:r>
              <a:rPr lang="en-CA" sz="2800" b="0" i="0" u="none" strike="noStrike" dirty="0">
                <a:solidFill>
                  <a:srgbClr val="3F51B5"/>
                </a:solidFill>
                <a:effectLst/>
                <a:latin typeface="Roboto Mono" pitchFamily="49" charset="0"/>
              </a:rPr>
              <a:t>as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 pd</a:t>
            </a:r>
            <a:endParaRPr lang="en-US" dirty="0"/>
          </a:p>
          <a:p>
            <a:endParaRPr lang="en-US" dirty="0"/>
          </a:p>
          <a:p>
            <a:pPr>
              <a:spcAft>
                <a:spcPts val="1600"/>
              </a:spcAft>
            </a:pPr>
            <a:r>
              <a:rPr lang="en-CA" sz="2800" b="0" i="0" u="none" strike="noStrike" dirty="0">
                <a:solidFill>
                  <a:srgbClr val="424242"/>
                </a:solidFill>
                <a:effectLst/>
              </a:rPr>
              <a:t>A Series in pandas is simply a 1 dimensional list, e.g., a list with only 1 column.</a:t>
            </a:r>
            <a:br>
              <a:rPr lang="en-CA" b="0" dirty="0">
                <a:effectLst/>
              </a:rPr>
            </a:br>
            <a:endParaRPr lang="en-CA" b="0" dirty="0">
              <a:effectLst/>
            </a:endParaRPr>
          </a:p>
          <a:p>
            <a:pPr rtl="0">
              <a:spcAft>
                <a:spcPts val="1600"/>
              </a:spcAft>
              <a:buNone/>
            </a:pP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		</a:t>
            </a:r>
            <a:r>
              <a:rPr lang="en-CA" sz="2800" b="0" i="0" u="none" strike="noStrike" dirty="0" err="1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CA" sz="2800" b="0" i="0" u="none" strike="noStrike" dirty="0" err="1">
                <a:solidFill>
                  <a:srgbClr val="9C27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Series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'4 cups'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'1 cup'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'2 large'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'1 can'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CA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b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800" b="0" i="0" u="none" strike="noStrike" dirty="0" err="1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pd.</a:t>
            </a:r>
            <a:r>
              <a:rPr lang="en-CA" sz="2800" b="0" i="0" u="none" strike="noStrike" dirty="0" err="1">
                <a:solidFill>
                  <a:srgbClr val="9C27B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Series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(data=[</a:t>
            </a: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'4 cups'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'1 cup'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'2 large'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CA" sz="2800" b="0" i="0" u="none" strike="noStrike" dirty="0">
                <a:solidFill>
                  <a:srgbClr val="388E3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'1 can'</a:t>
            </a:r>
            <a:r>
              <a:rPr lang="en-CA" sz="2800" b="0" i="0" u="none" strike="noStrike" dirty="0">
                <a:solidFill>
                  <a:srgbClr val="3747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389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E38C-6869-C5D8-F3B1-FD0E56D4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 -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F721-7DA4-BA87-86B5-18BC80ECD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Pandas can convert easily between data types (str, int, float, </a:t>
            </a:r>
            <a:r>
              <a:rPr lang="en-US" dirty="0" err="1"/>
              <a:t>etc</a:t>
            </a:r>
            <a:r>
              <a:rPr lang="en-US" dirty="0"/>
              <a:t>), which can be useful for cleaning data</a:t>
            </a:r>
          </a:p>
          <a:p>
            <a:endParaRPr lang="en-US" dirty="0"/>
          </a:p>
          <a:p>
            <a:pPr lvl="2">
              <a:buNone/>
            </a:pP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s = </a:t>
            </a:r>
            <a:r>
              <a:rPr lang="en-CA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pd.</a:t>
            </a:r>
            <a:r>
              <a:rPr lang="en-CA" b="0" i="0" u="none" strike="noStrike" dirty="0" err="1">
                <a:solidFill>
                  <a:srgbClr val="9C27B0"/>
                </a:solidFill>
                <a:effectLst/>
                <a:latin typeface="Roboto Mono" pitchFamily="49" charset="0"/>
              </a:rPr>
              <a:t>Series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(data = [</a:t>
            </a:r>
            <a:r>
              <a:rPr lang="en-CA" b="0" i="0" u="none" strike="noStrike" dirty="0">
                <a:solidFill>
                  <a:srgbClr val="C53929"/>
                </a:solidFill>
                <a:effectLst/>
                <a:latin typeface="Roboto Mono" pitchFamily="49" charset="0"/>
              </a:rPr>
              <a:t>1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'2'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b="0" i="0" u="none" strike="noStrike" dirty="0">
                <a:solidFill>
                  <a:srgbClr val="C53929"/>
                </a:solidFill>
                <a:effectLst/>
                <a:latin typeface="Roboto Mono" pitchFamily="49" charset="0"/>
              </a:rPr>
              <a:t>3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b="0" i="0" u="none" strike="noStrike" dirty="0">
                <a:solidFill>
                  <a:srgbClr val="C53929"/>
                </a:solidFill>
                <a:effectLst/>
                <a:latin typeface="Roboto Mono" pitchFamily="49" charset="0"/>
              </a:rPr>
              <a:t>4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'5'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b="0" i="0" u="none" strike="noStrike" dirty="0">
                <a:solidFill>
                  <a:srgbClr val="C53929"/>
                </a:solidFill>
                <a:effectLst/>
                <a:latin typeface="Roboto Mono" pitchFamily="49" charset="0"/>
              </a:rPr>
              <a:t>6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b="0" i="0" u="none" strike="noStrike" dirty="0">
                <a:solidFill>
                  <a:srgbClr val="C53929"/>
                </a:solidFill>
                <a:effectLst/>
                <a:latin typeface="Roboto Mono" pitchFamily="49" charset="0"/>
              </a:rPr>
              <a:t>7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b="0" i="0" u="none" strike="noStrike" dirty="0">
                <a:solidFill>
                  <a:srgbClr val="C53929"/>
                </a:solidFill>
                <a:effectLst/>
                <a:latin typeface="Roboto Mono" pitchFamily="49" charset="0"/>
              </a:rPr>
              <a:t>8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'99'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,</a:t>
            </a:r>
            <a:r>
              <a:rPr lang="en-CA" b="0" i="0" u="none" strike="noStrike" dirty="0">
                <a:solidFill>
                  <a:srgbClr val="388E3C"/>
                </a:solidFill>
                <a:effectLst/>
                <a:latin typeface="Roboto Mono" pitchFamily="49" charset="0"/>
              </a:rPr>
              <a:t>'1000'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])</a:t>
            </a:r>
            <a:endParaRPr lang="en-CA" b="0" dirty="0">
              <a:effectLst/>
            </a:endParaRPr>
          </a:p>
          <a:p>
            <a:pPr lvl="2">
              <a:buNone/>
            </a:pPr>
            <a:r>
              <a:rPr lang="en-CA" b="0" i="0" u="none" strike="noStrike" dirty="0">
                <a:solidFill>
                  <a:srgbClr val="3F51B5"/>
                </a:solidFill>
                <a:effectLst/>
                <a:latin typeface="Roboto Mono" pitchFamily="49" charset="0"/>
              </a:rPr>
              <a:t>print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(s)</a:t>
            </a:r>
            <a:b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</a:br>
            <a:b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</a:br>
            <a:r>
              <a:rPr lang="en-CA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s.astype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(</a:t>
            </a:r>
            <a:r>
              <a:rPr lang="en-CA" b="0" i="0" u="none" strike="noStrike" dirty="0">
                <a:solidFill>
                  <a:srgbClr val="C53929"/>
                </a:solidFill>
                <a:effectLst/>
                <a:latin typeface="Roboto Mono" pitchFamily="49" charset="0"/>
              </a:rPr>
              <a:t>‘int'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)</a:t>
            </a:r>
            <a:b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</a:br>
            <a:r>
              <a:rPr lang="en-CA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s.mean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()</a:t>
            </a:r>
            <a:b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</a:br>
            <a:r>
              <a:rPr lang="en-CA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s.std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()</a:t>
            </a:r>
            <a:b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</a:br>
            <a:r>
              <a:rPr lang="en-CA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s.max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()</a:t>
            </a:r>
            <a:b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</a:br>
            <a:r>
              <a:rPr lang="en-CA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s.min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()</a:t>
            </a:r>
            <a:b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</a:br>
            <a:r>
              <a:rPr lang="en-CA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s.var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()</a:t>
            </a:r>
            <a:b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</a:br>
            <a:r>
              <a:rPr lang="en-CA" b="0" i="0" u="none" strike="noStrike" dirty="0" err="1">
                <a:solidFill>
                  <a:srgbClr val="37474F"/>
                </a:solidFill>
                <a:effectLst/>
                <a:latin typeface="Roboto Mono" pitchFamily="49" charset="0"/>
              </a:rPr>
              <a:t>s.sum</a:t>
            </a:r>
            <a:r>
              <a:rPr lang="en-CA" b="0" i="0" u="none" strike="noStrike" dirty="0">
                <a:solidFill>
                  <a:srgbClr val="37474F"/>
                </a:solidFill>
                <a:effectLst/>
                <a:latin typeface="Roboto Mono" pitchFamily="49" charset="0"/>
              </a:rPr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00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52F1-54EB-9D30-6A07-48CB9F51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 -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3A786-F762-BE5B-F981-6D818A7D9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also easily remove or replace missing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([1,2,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pd.NA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,4,5])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data.dropna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Can also fill an </a:t>
            </a:r>
            <a:r>
              <a:rPr lang="en-US" dirty="0" err="1"/>
              <a:t>emtpy</a:t>
            </a:r>
            <a:r>
              <a:rPr lang="en-US" dirty="0"/>
              <a:t> cell with a specific value: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data.fillna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(‘Nan’,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True)</a:t>
            </a:r>
          </a:p>
        </p:txBody>
      </p:sp>
    </p:spTree>
    <p:extLst>
      <p:ext uri="{BB962C8B-B14F-4D97-AF65-F5344CB8AC3E}">
        <p14:creationId xmlns:p14="http://schemas.microsoft.com/office/powerpoint/2010/main" val="3388881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8709-1FCC-F845-AF04-EC62AB702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- apply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C0F16-63D2-5BFD-08AC-5DDFAF2B9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apply functions to values inside a Series or Data Frame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data.apply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np.sqrt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also write short anonymous functions to pass to the data using the lambda function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data.apply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(lambda x: x + 1)</a:t>
            </a:r>
          </a:p>
        </p:txBody>
      </p:sp>
    </p:spTree>
    <p:extLst>
      <p:ext uri="{BB962C8B-B14F-4D97-AF65-F5344CB8AC3E}">
        <p14:creationId xmlns:p14="http://schemas.microsoft.com/office/powerpoint/2010/main" val="1011258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9FF5A-BC94-6160-43C3-26FAF1312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-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F4702-23D6-4017-A7FE-6A11D0E39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CA" b="1" dirty="0" err="1"/>
              <a:t>DataFrame</a:t>
            </a:r>
            <a:r>
              <a:rPr lang="en-CA" dirty="0"/>
              <a:t> is the primary data structure in pandas. </a:t>
            </a:r>
          </a:p>
          <a:p>
            <a:pPr fontAlgn="base"/>
            <a:endParaRPr lang="en-CA" dirty="0"/>
          </a:p>
          <a:p>
            <a:pPr fontAlgn="base"/>
            <a:r>
              <a:rPr lang="en-CA" dirty="0"/>
              <a:t>The </a:t>
            </a:r>
            <a:r>
              <a:rPr lang="en-CA" dirty="0" err="1"/>
              <a:t>DataFrame</a:t>
            </a:r>
            <a:r>
              <a:rPr lang="en-CA" dirty="0"/>
              <a:t> is a two-dimensional, mutable, and potentially heterogeneous tabular data structure with labeled axes (rows and columns). </a:t>
            </a:r>
            <a:br>
              <a:rPr lang="en-CA" dirty="0"/>
            </a:br>
            <a:endParaRPr lang="en-CA" dirty="0"/>
          </a:p>
          <a:p>
            <a:r>
              <a:rPr lang="en-CA" dirty="0"/>
              <a:t>You can think of it like a spreadsheet.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86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676F5-8166-6CCC-2DD6-8E73BFC7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-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44C1B-EA2D-D2DE-B10A-0972F8EB8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8715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Import the </a:t>
            </a:r>
            <a:r>
              <a:rPr lang="en-US" dirty="0" err="1"/>
              <a:t>RTdata.csv</a:t>
            </a:r>
            <a:r>
              <a:rPr lang="en-US" dirty="0"/>
              <a:t> file using data pandas </a:t>
            </a:r>
            <a:r>
              <a:rPr lang="en-US" b="1" dirty="0"/>
              <a:t>.</a:t>
            </a:r>
            <a:r>
              <a:rPr lang="en-US" b="1" dirty="0" err="1"/>
              <a:t>read_csv</a:t>
            </a:r>
            <a:r>
              <a:rPr lang="en-US" b="1" dirty="0"/>
              <a:t> </a:t>
            </a:r>
            <a:r>
              <a:rPr lang="en-US" dirty="0"/>
              <a:t>method</a:t>
            </a:r>
          </a:p>
          <a:p>
            <a:endParaRPr lang="en-US" dirty="0"/>
          </a:p>
          <a:p>
            <a:r>
              <a:rPr lang="en-US" dirty="0"/>
              <a:t>Note the column labels are imported from the CSV file. The row labels are the indices </a:t>
            </a:r>
          </a:p>
          <a:p>
            <a:endParaRPr lang="en-US" dirty="0"/>
          </a:p>
          <a:p>
            <a:r>
              <a:rPr lang="en-US" dirty="0"/>
              <a:t>You can use the </a:t>
            </a:r>
            <a:r>
              <a:rPr lang="en-US" b="1" dirty="0" err="1"/>
              <a:t>index_col</a:t>
            </a:r>
            <a:r>
              <a:rPr lang="en-US" b="1" dirty="0"/>
              <a:t> </a:t>
            </a:r>
            <a:r>
              <a:rPr lang="en-US" dirty="0"/>
              <a:t>option to provide a column to use as row headings (e.g., ‘subjs’)</a:t>
            </a:r>
          </a:p>
          <a:p>
            <a:endParaRPr lang="en-US" dirty="0"/>
          </a:p>
          <a:p>
            <a:r>
              <a:rPr lang="en-US" b="1" dirty="0"/>
              <a:t>Exercise:</a:t>
            </a:r>
            <a:r>
              <a:rPr lang="en-US" dirty="0"/>
              <a:t> get the RTs for Caucasian males (might need bool operators for | &amp; and ~)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78897-6A27-2EB2-A431-B554AB6CA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837" y="2005156"/>
            <a:ext cx="45085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1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7E15-4C07-60F5-0932-9F7A76FB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- </a:t>
            </a:r>
            <a:r>
              <a:rPr lang="en-US" dirty="0" err="1"/>
              <a:t>DataFrame</a:t>
            </a:r>
            <a:r>
              <a:rPr lang="en-US" dirty="0"/>
              <a:t>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DE569-37A4-9E01-E4B7-15BE4282C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 with Series, can specify a location within a </a:t>
            </a:r>
            <a:r>
              <a:rPr lang="en-US" dirty="0" err="1"/>
              <a:t>DataFrame</a:t>
            </a:r>
            <a:r>
              <a:rPr lang="en-US" dirty="0"/>
              <a:t> using row x </a:t>
            </a:r>
            <a:r>
              <a:rPr lang="en-US" dirty="0" err="1"/>
              <a:t>colum</a:t>
            </a:r>
            <a:r>
              <a:rPr lang="en-US" dirty="0"/>
              <a:t> indices using the method </a:t>
            </a:r>
            <a:r>
              <a:rPr lang="en-US" b="1" dirty="0" err="1"/>
              <a:t>iloc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[2,5]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data.iloc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[2:5,2:5]</a:t>
            </a:r>
          </a:p>
          <a:p>
            <a:endParaRPr lang="en-US" dirty="0"/>
          </a:p>
          <a:p>
            <a:r>
              <a:rPr lang="en-US" dirty="0"/>
              <a:t>You can also index using names using the method </a:t>
            </a:r>
            <a:r>
              <a:rPr lang="en-US" b="1" dirty="0"/>
              <a:t>loc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[:,’K’]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Exercise: create a mask to find only male RTs</a:t>
            </a:r>
          </a:p>
        </p:txBody>
      </p:sp>
    </p:spTree>
    <p:extLst>
      <p:ext uri="{BB962C8B-B14F-4D97-AF65-F5344CB8AC3E}">
        <p14:creationId xmlns:p14="http://schemas.microsoft.com/office/powerpoint/2010/main" val="3842672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933E-DB14-77AB-3CE7-439655AB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DataFrames</a:t>
            </a:r>
            <a:r>
              <a:rPr lang="en-US" dirty="0"/>
              <a:t> - </a:t>
            </a:r>
            <a:r>
              <a:rPr lang="en-US" dirty="0" err="1"/>
              <a:t>groupby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029EB-2803-B901-0039-1371FD58A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Groupby</a:t>
            </a:r>
            <a:r>
              <a:rPr lang="en-US" dirty="0"/>
              <a:t> creates groupings or categories based on common values in columns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data.groupby</a:t>
            </a:r>
            <a:r>
              <a:rPr lang="en-US" dirty="0"/>
              <a:t>(‘sex’).mean()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Exercise: try grouping for both sex and race</a:t>
            </a:r>
          </a:p>
        </p:txBody>
      </p:sp>
    </p:spTree>
    <p:extLst>
      <p:ext uri="{BB962C8B-B14F-4D97-AF65-F5344CB8AC3E}">
        <p14:creationId xmlns:p14="http://schemas.microsoft.com/office/powerpoint/2010/main" val="4154508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50C4-2E1B-BA14-45C7-752D14FB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- manipulating textual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D3364-B984-5099-4DDA-8BC85F18B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 has a number of methods for dealing with textual (string) data under the </a:t>
            </a:r>
            <a:r>
              <a:rPr lang="en-US" b="1" dirty="0"/>
              <a:t>str</a:t>
            </a:r>
            <a:r>
              <a:rPr lang="en-US" dirty="0"/>
              <a:t> accessor</a:t>
            </a:r>
          </a:p>
          <a:p>
            <a:endParaRPr lang="en-US" dirty="0"/>
          </a:p>
          <a:p>
            <a:r>
              <a:rPr lang="en-US" dirty="0"/>
              <a:t>E.g., import the titanic data set, and change the names of all passengers using the </a:t>
            </a:r>
            <a:r>
              <a:rPr lang="en-US" b="1" dirty="0"/>
              <a:t>lower</a:t>
            </a:r>
            <a:r>
              <a:rPr lang="en-US" dirty="0"/>
              <a:t> method: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titanic[“Name”].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str.lower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90592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DB33-A96F-9BBA-FAD4-941C8E6C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- manipulating textual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EFD63-8F14-6C72-B44F-C99353E0F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dirty="0"/>
              <a:t>You can separate strings of text into new columns using the </a:t>
            </a:r>
            <a:r>
              <a:rPr lang="en-US" b="1" dirty="0"/>
              <a:t>split </a:t>
            </a:r>
            <a:r>
              <a:rPr lang="en-US" dirty="0"/>
              <a:t>method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CA" sz="18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titanic[</a:t>
            </a:r>
            <a:r>
              <a:rPr lang="en-CA" sz="1800" b="0" i="0" dirty="0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"Name"</a:t>
            </a:r>
            <a:r>
              <a:rPr lang="en-CA" sz="18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CA" sz="1800" b="0" i="0" dirty="0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CA" sz="1800" b="0" i="0" dirty="0" err="1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CA" sz="1800" b="0" i="0" dirty="0" err="1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CA" sz="1800" b="0" i="0" dirty="0" err="1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split</a:t>
            </a:r>
            <a:r>
              <a:rPr lang="en-CA" sz="18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800" b="0" i="0" dirty="0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en-CA" sz="18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CA" dirty="0"/>
            </a:br>
            <a:endParaRPr lang="en-US" dirty="0"/>
          </a:p>
          <a:p>
            <a:pPr algn="l">
              <a:lnSpc>
                <a:spcPct val="100000"/>
              </a:lnSpc>
              <a:buNone/>
            </a:pPr>
            <a:r>
              <a:rPr lang="en-US" dirty="0"/>
              <a:t>Each of the values is returned as a list of 2 elements (one each before and after the split character)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CA" sz="19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titanic[</a:t>
            </a:r>
            <a:r>
              <a:rPr lang="en-CA" sz="1900" b="0" i="0" dirty="0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"Surname"</a:t>
            </a:r>
            <a:r>
              <a:rPr lang="en-CA" sz="19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CA" sz="1900" b="0" i="0" dirty="0">
                <a:solidFill>
                  <a:srgbClr val="222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900" b="0" i="0" dirty="0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CA" sz="1900" b="0" i="0" dirty="0">
                <a:solidFill>
                  <a:srgbClr val="22283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9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titanic[</a:t>
            </a:r>
            <a:r>
              <a:rPr lang="en-CA" sz="1900" b="0" i="0" dirty="0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"Name"</a:t>
            </a:r>
            <a:r>
              <a:rPr lang="en-CA" sz="19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CA" sz="1900" b="0" i="0" dirty="0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CA" sz="1900" b="0" i="0" dirty="0" err="1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CA" sz="1900" b="0" i="0" dirty="0" err="1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CA" sz="1900" b="0" i="0" dirty="0" err="1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split</a:t>
            </a:r>
            <a:r>
              <a:rPr lang="en-CA" sz="19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900" b="0" i="0" dirty="0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en-CA" sz="19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CA" sz="1900" b="0" i="0" dirty="0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CA" sz="1900" b="0" i="0" dirty="0" err="1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CA" sz="1900" b="0" i="0" dirty="0" err="1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CA" sz="1900" b="0" i="0" dirty="0" err="1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CA" sz="19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900" b="0" i="0" dirty="0">
                <a:solidFill>
                  <a:srgbClr val="7F47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CA" sz="19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CA" sz="1900" b="0" i="0" dirty="0">
              <a:solidFill>
                <a:srgbClr val="222832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buNone/>
            </a:pPr>
            <a:r>
              <a:rPr lang="en-CA" sz="19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titanic[</a:t>
            </a:r>
            <a:r>
              <a:rPr lang="en-CA" sz="1900" b="0" i="0" dirty="0">
                <a:solidFill>
                  <a:srgbClr val="00622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"Surname"</a:t>
            </a:r>
            <a:r>
              <a:rPr lang="en-CA" sz="1900" b="0" i="0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CA" sz="1900" b="0" i="0" dirty="0">
              <a:solidFill>
                <a:srgbClr val="222832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747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F966E-C922-46DB-D624-85261B4B6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- manipulating textual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AEFF-C729-FF7F-B584-0ABD85B59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Other methods:</a:t>
            </a:r>
          </a:p>
          <a:p>
            <a:pPr lvl="1"/>
            <a:r>
              <a:rPr lang="en-US" dirty="0" err="1"/>
              <a:t>str.contains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str.len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str.replace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.replace()</a:t>
            </a:r>
          </a:p>
          <a:p>
            <a:pPr lvl="2"/>
            <a:r>
              <a:rPr lang="en-US" dirty="0"/>
              <a:t>To use a dictionary of pairs</a:t>
            </a:r>
          </a:p>
          <a:p>
            <a:endParaRPr lang="en-US" dirty="0"/>
          </a:p>
          <a:p>
            <a:r>
              <a:rPr lang="en-US" dirty="0"/>
              <a:t>Saving and exporting data</a:t>
            </a:r>
          </a:p>
          <a:p>
            <a:pPr lvl="1"/>
            <a:r>
              <a:rPr lang="en-US" dirty="0" err="1"/>
              <a:t>to_csv</a:t>
            </a:r>
            <a:endParaRPr lang="en-US" dirty="0"/>
          </a:p>
          <a:p>
            <a:pPr lvl="1"/>
            <a:r>
              <a:rPr lang="en-US" dirty="0" err="1"/>
              <a:t>to_excel</a:t>
            </a:r>
            <a:endParaRPr lang="en-US" dirty="0"/>
          </a:p>
          <a:p>
            <a:pPr lvl="1"/>
            <a:r>
              <a:rPr lang="en-US" dirty="0" err="1"/>
              <a:t>to_markdown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434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Jeopardy! - Syndicated Game Show - Where To Watch">
            <a:extLst>
              <a:ext uri="{FF2B5EF4-FFF2-40B4-BE49-F238E27FC236}">
                <a16:creationId xmlns:a16="http://schemas.microsoft.com/office/drawing/2014/main" id="{547A4979-C732-A2CD-E26B-33ED77A9E1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42F457-3583-55A4-4304-669B1AB39A22}"/>
              </a:ext>
            </a:extLst>
          </p:cNvPr>
          <p:cNvSpPr txBox="1"/>
          <p:nvPr/>
        </p:nvSpPr>
        <p:spPr>
          <a:xfrm>
            <a:off x="838200" y="1122362"/>
            <a:ext cx="105156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Let’s make a jeopardy game!</a:t>
            </a:r>
          </a:p>
        </p:txBody>
      </p:sp>
    </p:spTree>
    <p:extLst>
      <p:ext uri="{BB962C8B-B14F-4D97-AF65-F5344CB8AC3E}">
        <p14:creationId xmlns:p14="http://schemas.microsoft.com/office/powerpoint/2010/main" val="3184767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CAAC-09A0-2619-2167-4573195E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6B6E8-7315-654A-5C61-B4C096C55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2"/>
              </a:rPr>
              <a:t>https://swcarpentry.github.io/python-novice-inflammation/02-numpy.html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https://swcarpentry.github.io/python-novice-gapminder/07-reading-tabular.html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https://www.w3schools.com/python/numpy/default.asp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https://pandas.pydata.org/docs/getting_started/intro_tutorials/10_text_data.html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878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4413</TotalTime>
  <Words>2032</Words>
  <Application>Microsoft Macintosh PowerPoint</Application>
  <PresentationFormat>Widescreen</PresentationFormat>
  <Paragraphs>233</Paragraphs>
  <Slides>32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Consolas</vt:lpstr>
      <vt:lpstr>Courier New</vt:lpstr>
      <vt:lpstr>inherit</vt:lpstr>
      <vt:lpstr>Nunito</vt:lpstr>
      <vt:lpstr>Roboto Mono</vt:lpstr>
      <vt:lpstr>Source Code Pro</vt:lpstr>
      <vt:lpstr>Office Theme</vt:lpstr>
      <vt:lpstr>Data Handling and Analysis in Python</vt:lpstr>
      <vt:lpstr>Handling data</vt:lpstr>
      <vt:lpstr>Dictionaries</vt:lpstr>
      <vt:lpstr>Dictionaries</vt:lpstr>
      <vt:lpstr>Dictionaries</vt:lpstr>
      <vt:lpstr>Dictionaries</vt:lpstr>
      <vt:lpstr>Numpy</vt:lpstr>
      <vt:lpstr>Numpy arrays</vt:lpstr>
      <vt:lpstr>Other methods</vt:lpstr>
      <vt:lpstr>Iterating through arrays</vt:lpstr>
      <vt:lpstr>Indexing and masking</vt:lpstr>
      <vt:lpstr>Other ways of indexing</vt:lpstr>
      <vt:lpstr>Numpy</vt:lpstr>
      <vt:lpstr>Multi-dimensional numpy arrays</vt:lpstr>
      <vt:lpstr>Statistics using numpy</vt:lpstr>
      <vt:lpstr>Numpy random</vt:lpstr>
      <vt:lpstr>Numpy</vt:lpstr>
      <vt:lpstr>Pandas</vt:lpstr>
      <vt:lpstr>Pandas</vt:lpstr>
      <vt:lpstr>Pandas - Series</vt:lpstr>
      <vt:lpstr>Panda - data cleaning</vt:lpstr>
      <vt:lpstr>Panda - data cleaning</vt:lpstr>
      <vt:lpstr>Pandas - apply</vt:lpstr>
      <vt:lpstr>Pandas - DataFrame</vt:lpstr>
      <vt:lpstr>Pandas - DataFrame</vt:lpstr>
      <vt:lpstr>Pandas - DataFrame indexing</vt:lpstr>
      <vt:lpstr>DataFrames - groupby</vt:lpstr>
      <vt:lpstr>Pandas - manipulating textual data</vt:lpstr>
      <vt:lpstr>Pandas - manipulating textual data</vt:lpstr>
      <vt:lpstr>Pandas - manipulating textual data</vt:lpstr>
      <vt:lpstr>PowerPoint Presentation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Emrich</dc:creator>
  <cp:lastModifiedBy>Stephen Emrich</cp:lastModifiedBy>
  <cp:revision>1</cp:revision>
  <dcterms:created xsi:type="dcterms:W3CDTF">2025-08-18T17:32:48Z</dcterms:created>
  <dcterms:modified xsi:type="dcterms:W3CDTF">2025-11-06T17:07:04Z</dcterms:modified>
</cp:coreProperties>
</file>