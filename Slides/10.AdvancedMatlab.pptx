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64" r:id="rId11"/>
    <p:sldId id="265" r:id="rId12"/>
    <p:sldId id="266" r:id="rId13"/>
    <p:sldId id="267" r:id="rId14"/>
    <p:sldId id="268" r:id="rId15"/>
    <p:sldId id="272" r:id="rId16"/>
    <p:sldId id="275" r:id="rId17"/>
    <p:sldId id="273" r:id="rId18"/>
    <p:sldId id="269" r:id="rId19"/>
    <p:sldId id="270" r:id="rId20"/>
    <p:sldId id="271" r:id="rId21"/>
    <p:sldId id="289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90" r:id="rId31"/>
    <p:sldId id="284" r:id="rId32"/>
    <p:sldId id="285" r:id="rId33"/>
    <p:sldId id="286" r:id="rId34"/>
    <p:sldId id="287" r:id="rId35"/>
    <p:sldId id="28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7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318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63D8E8-865A-6F4F-88D7-B3823F7BEA6C}" v="6" dt="2025-11-18T21:32:54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10"/>
  </p:normalViewPr>
  <p:slideViewPr>
    <p:cSldViewPr snapToGrid="0">
      <p:cViewPr varScale="1">
        <p:scale>
          <a:sx n="111" d="100"/>
          <a:sy n="111" d="100"/>
        </p:scale>
        <p:origin x="3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Emrich" userId="e6abd74e-3da0-4635-b6e2-0dc330156f74" providerId="ADAL" clId="{E6D15754-9A9E-5308-9947-0AAFEAAF9F3D}"/>
    <pc:docChg chg="modSld">
      <pc:chgData name="Stephen Emrich" userId="e6abd74e-3da0-4635-b6e2-0dc330156f74" providerId="ADAL" clId="{E6D15754-9A9E-5308-9947-0AAFEAAF9F3D}" dt="2025-11-27T17:48:11.453" v="0" actId="12"/>
      <pc:docMkLst>
        <pc:docMk/>
      </pc:docMkLst>
      <pc:sldChg chg="modSp mod">
        <pc:chgData name="Stephen Emrich" userId="e6abd74e-3da0-4635-b6e2-0dc330156f74" providerId="ADAL" clId="{E6D15754-9A9E-5308-9947-0AAFEAAF9F3D}" dt="2025-11-27T17:48:11.453" v="0" actId="12"/>
        <pc:sldMkLst>
          <pc:docMk/>
          <pc:sldMk cId="2787585329" sldId="311"/>
        </pc:sldMkLst>
        <pc:spChg chg="mod">
          <ac:chgData name="Stephen Emrich" userId="e6abd74e-3da0-4635-b6e2-0dc330156f74" providerId="ADAL" clId="{E6D15754-9A9E-5308-9947-0AAFEAAF9F3D}" dt="2025-11-27T17:48:11.453" v="0" actId="12"/>
          <ac:spMkLst>
            <pc:docMk/>
            <pc:sldMk cId="2787585329" sldId="31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2488-2E28-7E00-BCC1-F1072216A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6C225-3FDE-877D-F93F-31B9D3F35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9F89A-FA41-E35A-0C31-C1CB3E0C4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03BB1-01E6-DA81-2632-54D27F9A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1B8E4-0BFA-8944-5EA1-53154602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06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77ECE-B824-E68B-CFD4-5CDAEAAB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C663B-F149-6F99-9B80-F01697AB3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E8353-8A63-EB9B-73E3-CE64D7A3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70C40-BC48-F6A1-B85A-4608424B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9306E-9798-E7C8-16F4-72F2BFF5F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1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E8B6-9E77-58C2-CFEA-68A13F14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3B195-C15D-EF58-71B6-BE965E766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D22CC-ABC8-F200-60B9-A9526194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056CA-D904-EAAB-8D28-5AB43888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B415C-5BE3-D7CB-F0F9-19C8D417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77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D98D1-9A37-0920-8358-34DE892D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BA19C-653E-84EE-1A16-4E6F6FC48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D0F2F-0F26-4068-E4F2-D293E66B4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0B392-C739-3998-C809-457A69D9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B1F7A-A29F-A6E6-36C1-D01B0230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C82D0-4EFF-63D7-AA94-D2EFD930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3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365B-17F1-CE69-E2DC-F458942F4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F00FB-EF14-52C6-0946-0811B8DA3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ABDDA-D35A-AB15-EE20-3B212C0EE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0256F-16A7-10DE-E440-FD27878E3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90065-84D9-33FC-7B68-ECC1DFBC2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8F43D-31B8-4CA7-F323-9320C5DF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2ADBFE-B16D-F52C-80B5-12A578CA3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44F93-6E1D-182B-DCEF-652365D7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4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8785-8EFB-3217-E485-A0A7FBF5F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DA0AA-F414-BA8A-B970-9204379DA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A5EDE-A62E-4B31-7DF5-5B666E2F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FD495-194B-DF53-1C73-FBAEAE9DD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18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9759B5-1078-364C-0BE7-2ECD4E9A0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4BA19A-5302-C52F-E348-B6635DEA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F882A-53CC-ABC2-371D-7E2D20D3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1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AF3F-9647-B48A-3B63-F116F6A7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48B81-6039-CC20-C3D2-CB5B9CAE8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8D201-6351-DD76-ACEB-6684586DC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4A643-C956-85BD-DD07-B98601E65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23BC2-E258-F89A-73B9-17E85FD91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AC617-27D4-8716-B15B-6A08C7144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5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12C9-01C5-9499-5FEA-6D3B03303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72900-D9AA-FA6E-1CFA-BCBB3F127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243EB-4E99-AD66-06A4-3A44F985B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12EA8-1CEA-0A0B-42FA-D19C76E94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22E90-6E59-A028-4B79-B766D3E0C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0131E-8936-82A5-4BE1-9815C6F9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1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4F99-837F-79A7-B900-C42A75FB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F672E3-5F20-71A1-EC0D-5407B7863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F5F12-C45F-4DA3-240D-38CF5CC8C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36435-24D2-8F56-7AC4-B56142A3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65D70-39E4-581A-2744-5818A9C5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69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E962E-F9C0-25DF-2480-FFEAED03B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57ACB-77B6-72A8-FB20-8ED10D58E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928B3-6AD2-00FD-26FD-C492C7D10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2BACD-A517-42A2-0FAA-DD8059BEC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A9A0F-CC4B-827C-0280-56FF8BC9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62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9B8A7-6A45-1C63-56D2-F60E7AB72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1D44F-C89A-321D-A99A-BF1EDEAF9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9DE3E-6CB0-D71C-9633-F32BF4FCB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0E214-BCD7-124B-A1EF-84A10FC1CEA5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0CA69-12F3-EC43-9D09-3FAADCC62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F6CCA-8999-0C89-12D8-010951D08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66993-5601-F54A-8DD9-B6902BE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5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E132-7902-7D4E-EF1E-3B4033E620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9. Advanced MATLAB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EA22E-30C4-888B-11C8-43921D8DC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PSYC 5V46</a:t>
            </a:r>
          </a:p>
          <a:p>
            <a:r>
              <a:rPr lang="en-US" dirty="0"/>
              <a:t>Intro to Programming for Experimental Psychology</a:t>
            </a:r>
          </a:p>
          <a:p>
            <a:r>
              <a:rPr lang="en-US" dirty="0"/>
              <a:t>Stephen Emrich</a:t>
            </a:r>
          </a:p>
          <a:p>
            <a:r>
              <a:rPr lang="en-US" dirty="0"/>
              <a:t>Brock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10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3B9327-9E41-1FA4-6DDC-0BE81866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Logicals</a:t>
            </a:r>
            <a:r>
              <a:rPr lang="en-US" dirty="0"/>
              <a:t> and Ifs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522E7-FF74-DCAD-6BE2-2C51F3EAD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84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order to perform many functions in a computer language, you must  make use of logical operators</a:t>
            </a:r>
          </a:p>
          <a:p>
            <a:endParaRPr lang="en-US" dirty="0"/>
          </a:p>
          <a:p>
            <a:r>
              <a:rPr lang="en-US" dirty="0"/>
              <a:t>Most of these should be familiar from math, but take a particular syntax in MATLAB:</a:t>
            </a:r>
          </a:p>
          <a:p>
            <a:pPr lvl="1"/>
            <a:r>
              <a:rPr lang="en-US" dirty="0"/>
              <a:t>Equals (is equal to): ==</a:t>
            </a:r>
          </a:p>
          <a:p>
            <a:pPr lvl="1"/>
            <a:r>
              <a:rPr lang="en-US" dirty="0"/>
              <a:t>Greater than: &gt;</a:t>
            </a:r>
          </a:p>
          <a:p>
            <a:pPr lvl="1"/>
            <a:r>
              <a:rPr lang="en-US" dirty="0"/>
              <a:t>Less than: &lt;</a:t>
            </a:r>
          </a:p>
          <a:p>
            <a:pPr lvl="1"/>
            <a:r>
              <a:rPr lang="en-US" dirty="0"/>
              <a:t>Greater than or equal to: &gt;=</a:t>
            </a:r>
          </a:p>
          <a:p>
            <a:pPr lvl="1"/>
            <a:r>
              <a:rPr lang="en-US" dirty="0"/>
              <a:t>Less than or equal to: &lt;=</a:t>
            </a:r>
          </a:p>
          <a:p>
            <a:pPr lvl="1"/>
            <a:r>
              <a:rPr lang="en-US" dirty="0"/>
              <a:t>Not equal to: ~=</a:t>
            </a:r>
          </a:p>
          <a:p>
            <a:pPr lvl="1"/>
            <a:r>
              <a:rPr lang="en-US" dirty="0"/>
              <a:t>OR: |</a:t>
            </a:r>
          </a:p>
          <a:p>
            <a:pPr lvl="1"/>
            <a:r>
              <a:rPr lang="en-US" dirty="0"/>
              <a:t>AND: &amp;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916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result of a logical operation will be a BOOLEAN (true/false)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1 == 0 </a:t>
            </a:r>
            <a:r>
              <a:rPr lang="en-US" dirty="0">
                <a:cs typeface="Courier New"/>
              </a:rPr>
              <a:t>returns 0 (false)</a:t>
            </a:r>
          </a:p>
          <a:p>
            <a:pPr lvl="1">
              <a:buFont typeface="Lucida Grande"/>
              <a:buChar char="&gt;"/>
            </a:pPr>
            <a:endParaRPr lang="en-US" b="1" dirty="0"/>
          </a:p>
          <a:p>
            <a:r>
              <a:rPr lang="en-US" b="1" dirty="0"/>
              <a:t>NOTE:</a:t>
            </a:r>
            <a:r>
              <a:rPr lang="en-US" dirty="0"/>
              <a:t> That = and == are two very different things in MATLAB</a:t>
            </a:r>
          </a:p>
          <a:p>
            <a:pPr lvl="1"/>
            <a:r>
              <a:rPr lang="en-US" dirty="0"/>
              <a:t>“</a:t>
            </a:r>
            <a:r>
              <a:rPr lang="en-US" b="1" dirty="0"/>
              <a:t>SET</a:t>
            </a:r>
            <a:r>
              <a:rPr lang="en-US" dirty="0"/>
              <a:t> equal to”: =</a:t>
            </a:r>
          </a:p>
          <a:p>
            <a:pPr lvl="1"/>
            <a:r>
              <a:rPr lang="en-US" dirty="0"/>
              <a:t>“</a:t>
            </a:r>
            <a:r>
              <a:rPr lang="en-US" b="1" dirty="0"/>
              <a:t>IS</a:t>
            </a:r>
            <a:r>
              <a:rPr lang="en-US" dirty="0"/>
              <a:t> equal to”: ==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9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statements (conditionals)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Using those logical operations we can start building IF statements</a:t>
            </a:r>
          </a:p>
          <a:p>
            <a:endParaRPr lang="en-US" dirty="0"/>
          </a:p>
          <a:p>
            <a:r>
              <a:rPr lang="en-US" dirty="0"/>
              <a:t>In MATLAB the syntax for an IF statement is :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if… (expression)</a:t>
            </a:r>
          </a:p>
          <a:p>
            <a:pPr marL="914400" lvl="2" indent="0">
              <a:buNone/>
            </a:pPr>
            <a:r>
              <a:rPr lang="en-US" dirty="0">
                <a:latin typeface="Courier New"/>
                <a:cs typeface="Courier New"/>
              </a:rPr>
              <a:t>…</a:t>
            </a:r>
          </a:p>
          <a:p>
            <a:pPr marL="914400" lvl="2" indent="0">
              <a:buNone/>
            </a:pPr>
            <a:r>
              <a:rPr lang="en-US" dirty="0">
                <a:latin typeface="Courier New"/>
                <a:cs typeface="Courier New"/>
              </a:rPr>
              <a:t>…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end;</a:t>
            </a:r>
          </a:p>
          <a:p>
            <a:endParaRPr lang="en-US" dirty="0">
              <a:cs typeface="Courier New"/>
            </a:endParaRPr>
          </a:p>
          <a:p>
            <a:r>
              <a:rPr lang="en-US" dirty="0">
                <a:cs typeface="Courier New"/>
              </a:rPr>
              <a:t>Use to perform selected operations between the IF and END if the conditions within the expression are met</a:t>
            </a:r>
          </a:p>
          <a:p>
            <a:endParaRPr lang="en-US" dirty="0">
              <a:cs typeface="Courier New"/>
            </a:endParaRPr>
          </a:p>
          <a:p>
            <a:r>
              <a:rPr lang="en-US" dirty="0">
                <a:cs typeface="Courier New"/>
              </a:rPr>
              <a:t>Also makes use of the </a:t>
            </a:r>
            <a:r>
              <a:rPr lang="en-US" dirty="0">
                <a:latin typeface="Courier New"/>
                <a:cs typeface="Courier New"/>
              </a:rPr>
              <a:t>else</a:t>
            </a:r>
            <a:r>
              <a:rPr lang="en-US" dirty="0">
                <a:cs typeface="Courier New"/>
              </a:rPr>
              <a:t> and </a:t>
            </a:r>
            <a:r>
              <a:rPr lang="en-US" dirty="0" err="1">
                <a:latin typeface="Courier New"/>
                <a:cs typeface="Courier New"/>
              </a:rPr>
              <a:t>elseif</a:t>
            </a:r>
            <a:r>
              <a:rPr lang="en-US" dirty="0">
                <a:cs typeface="Courier New"/>
              </a:rPr>
              <a:t> expressions </a:t>
            </a:r>
          </a:p>
          <a:p>
            <a:pPr lvl="1"/>
            <a:r>
              <a:rPr lang="en-US" dirty="0">
                <a:cs typeface="Courier New"/>
              </a:rPr>
              <a:t>Must be contained within an if. Only one </a:t>
            </a:r>
            <a:r>
              <a:rPr lang="en-US" dirty="0">
                <a:latin typeface="Courier New"/>
                <a:cs typeface="Courier New"/>
              </a:rPr>
              <a:t>else</a:t>
            </a:r>
            <a:r>
              <a:rPr lang="en-US" dirty="0">
                <a:cs typeface="Courier New"/>
              </a:rPr>
              <a:t> statement allowed</a:t>
            </a:r>
          </a:p>
        </p:txBody>
      </p:sp>
    </p:spTree>
    <p:extLst>
      <p:ext uri="{BB962C8B-B14F-4D97-AF65-F5344CB8AC3E}">
        <p14:creationId xmlns:p14="http://schemas.microsoft.com/office/powerpoint/2010/main" val="3508342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Indentation isn’t a requirement in MATLAB syntax (unlike say Python), but it’s good practice to indent the contents between the IF and END statements</a:t>
            </a:r>
          </a:p>
          <a:p>
            <a:endParaRPr lang="en-US" dirty="0"/>
          </a:p>
          <a:p>
            <a:pPr lvl="1"/>
            <a:r>
              <a:rPr lang="en-US" dirty="0"/>
              <a:t>Ctrl + ] will indent selected text</a:t>
            </a:r>
          </a:p>
          <a:p>
            <a:pPr lvl="1"/>
            <a:r>
              <a:rPr lang="en-US" dirty="0"/>
              <a:t>Ctrl + [ will decrease indent of selected text</a:t>
            </a:r>
          </a:p>
          <a:p>
            <a:pPr lvl="1"/>
            <a:r>
              <a:rPr lang="en-US" dirty="0"/>
              <a:t>Ctrl + I will smart-intent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Remember: can combine expressions using the OR (|) or AND (&amp;) operators to make your if statement meet more specific conditions</a:t>
            </a:r>
          </a:p>
          <a:p>
            <a:endParaRPr lang="en-US" dirty="0"/>
          </a:p>
          <a:p>
            <a:r>
              <a:rPr lang="en-US" dirty="0"/>
              <a:t>#exercise </a:t>
            </a:r>
          </a:p>
        </p:txBody>
      </p:sp>
    </p:spTree>
    <p:extLst>
      <p:ext uri="{BB962C8B-B14F-4D97-AF65-F5344CB8AC3E}">
        <p14:creationId xmlns:p14="http://schemas.microsoft.com/office/powerpoint/2010/main" val="97661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Can also use the switch and case expressions</a:t>
            </a:r>
          </a:p>
          <a:p>
            <a:endParaRPr lang="en-US" dirty="0"/>
          </a:p>
          <a:p>
            <a:r>
              <a:rPr lang="en-US" b="1" dirty="0"/>
              <a:t>Can’t use logical operators</a:t>
            </a:r>
          </a:p>
          <a:p>
            <a:endParaRPr lang="en-US" dirty="0"/>
          </a:p>
          <a:p>
            <a:r>
              <a:rPr lang="en-US" dirty="0"/>
              <a:t>The variable that you are checking is defined in the first expression:</a:t>
            </a:r>
          </a:p>
          <a:p>
            <a:pPr marL="457200" lvl="1" indent="0">
              <a:buNone/>
            </a:pPr>
            <a:r>
              <a:rPr lang="en-US" sz="1900" dirty="0">
                <a:latin typeface="Courier New"/>
                <a:cs typeface="Courier New"/>
              </a:rPr>
              <a:t>Instrument = ‘cello’;</a:t>
            </a:r>
          </a:p>
          <a:p>
            <a:pPr marL="457200" lvl="1" indent="0">
              <a:buNone/>
            </a:pPr>
            <a:r>
              <a:rPr lang="en-US" sz="1900" dirty="0">
                <a:latin typeface="Courier New"/>
                <a:cs typeface="Courier New"/>
              </a:rPr>
              <a:t>section = [];</a:t>
            </a:r>
            <a:endParaRPr lang="en-US" sz="1900" dirty="0"/>
          </a:p>
          <a:p>
            <a:pPr marL="457200" lvl="1" indent="0">
              <a:buNone/>
            </a:pPr>
            <a:r>
              <a:rPr lang="en-US" sz="1900" dirty="0">
                <a:latin typeface="Courier New"/>
                <a:cs typeface="Courier New"/>
              </a:rPr>
              <a:t>switch Instrument</a:t>
            </a:r>
          </a:p>
          <a:p>
            <a:pPr marL="914400" lvl="2" indent="0">
              <a:buNone/>
            </a:pPr>
            <a:r>
              <a:rPr lang="en-US" sz="1900" dirty="0">
                <a:latin typeface="Courier New"/>
                <a:cs typeface="Courier New"/>
              </a:rPr>
              <a:t>case {‘</a:t>
            </a:r>
            <a:r>
              <a:rPr lang="en-US" sz="1900" dirty="0" err="1">
                <a:latin typeface="Courier New"/>
                <a:cs typeface="Courier New"/>
              </a:rPr>
              <a:t>oboe’,’flute</a:t>
            </a:r>
            <a:r>
              <a:rPr lang="en-US" sz="1900" dirty="0">
                <a:latin typeface="Courier New"/>
                <a:cs typeface="Courier New"/>
              </a:rPr>
              <a:t>’}</a:t>
            </a:r>
          </a:p>
          <a:p>
            <a:pPr marL="1371600" lvl="3" indent="0">
              <a:buNone/>
            </a:pPr>
            <a:r>
              <a:rPr lang="en-US" sz="1900" dirty="0">
                <a:latin typeface="Courier New"/>
                <a:cs typeface="Courier New"/>
              </a:rPr>
              <a:t>section = ’wind’;</a:t>
            </a:r>
          </a:p>
          <a:p>
            <a:pPr marL="914400" lvl="2" indent="0">
              <a:buNone/>
            </a:pPr>
            <a:r>
              <a:rPr lang="en-US" sz="1900" dirty="0">
                <a:latin typeface="Courier New"/>
                <a:cs typeface="Courier New"/>
              </a:rPr>
              <a:t>case ‘trumpet’</a:t>
            </a:r>
          </a:p>
          <a:p>
            <a:pPr marL="1371600" lvl="3" indent="0">
              <a:buNone/>
            </a:pPr>
            <a:r>
              <a:rPr lang="en-US" sz="1900" dirty="0">
                <a:latin typeface="Courier New"/>
                <a:cs typeface="Courier New"/>
              </a:rPr>
              <a:t>section = ‘horn’;</a:t>
            </a:r>
          </a:p>
          <a:p>
            <a:pPr marL="914400" lvl="2" indent="0">
              <a:buNone/>
            </a:pPr>
            <a:r>
              <a:rPr lang="en-US" sz="1900" dirty="0">
                <a:latin typeface="Courier New"/>
                <a:cs typeface="Courier New"/>
              </a:rPr>
              <a:t>otherwise</a:t>
            </a:r>
          </a:p>
          <a:p>
            <a:pPr marL="1371600" lvl="3" indent="0">
              <a:buNone/>
            </a:pPr>
            <a:r>
              <a:rPr lang="en-US" sz="1900" dirty="0">
                <a:latin typeface="Courier New"/>
                <a:cs typeface="Courier New"/>
              </a:rPr>
              <a:t>group = ‘other’</a:t>
            </a:r>
          </a:p>
          <a:p>
            <a:pPr marL="914400" lvl="2" indent="0">
              <a:buNone/>
            </a:pPr>
            <a:r>
              <a:rPr lang="en-US" sz="2300" dirty="0">
                <a:latin typeface="Courier New"/>
                <a:cs typeface="Courier New"/>
              </a:rPr>
              <a:t>end;</a:t>
            </a:r>
          </a:p>
          <a:p>
            <a:pPr marL="457200" lvl="1" indent="0">
              <a:buNone/>
            </a:pPr>
            <a:endParaRPr lang="en-US" sz="1900" dirty="0">
              <a:latin typeface="Courier New"/>
              <a:cs typeface="Courier New"/>
            </a:endParaRPr>
          </a:p>
          <a:p>
            <a:pPr marL="457200" lvl="1" indent="0">
              <a:buNone/>
            </a:pPr>
            <a:endParaRPr lang="en-US" sz="1900" dirty="0">
              <a:latin typeface="Courier New"/>
              <a:cs typeface="Courier New"/>
            </a:endParaRPr>
          </a:p>
          <a:p>
            <a:r>
              <a:rPr lang="en-US" sz="2300" dirty="0">
                <a:cs typeface="Courier New"/>
              </a:rPr>
              <a:t>#exercise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96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7F9B-FB4B-D97D-AC95-BE790C32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C9EE0-3D77-85E1-C1C1-8E93785F7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05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many experimental settings, you will want to perform the same operations over and over again</a:t>
            </a:r>
          </a:p>
          <a:p>
            <a:pPr lvl="1"/>
            <a:r>
              <a:rPr lang="en-US" dirty="0"/>
              <a:t>E.g., subjects, trials, stimuli, conditions, etc.</a:t>
            </a:r>
          </a:p>
          <a:p>
            <a:endParaRPr lang="en-US" dirty="0"/>
          </a:p>
          <a:p>
            <a:r>
              <a:rPr lang="en-US" dirty="0"/>
              <a:t>Thus, the biggest advantage of programming is the ability to embed computations within </a:t>
            </a:r>
            <a:r>
              <a:rPr lang="en-US" b="1" dirty="0"/>
              <a:t>loops</a:t>
            </a:r>
            <a:endParaRPr lang="en-US" dirty="0"/>
          </a:p>
          <a:p>
            <a:endParaRPr lang="en-US" dirty="0"/>
          </a:p>
          <a:p>
            <a:r>
              <a:rPr lang="en-US" dirty="0"/>
              <a:t>By embedding loops within loops and adding conditions (IF/SWITCH) can accomplish a lot</a:t>
            </a:r>
          </a:p>
          <a:p>
            <a:endParaRPr lang="en-US" dirty="0"/>
          </a:p>
          <a:p>
            <a:r>
              <a:rPr lang="en-US" dirty="0"/>
              <a:t>Two kinds of loops: </a:t>
            </a:r>
            <a:r>
              <a:rPr lang="en-US" dirty="0">
                <a:latin typeface="Courier New"/>
                <a:cs typeface="Courier New"/>
              </a:rPr>
              <a:t>for</a:t>
            </a:r>
            <a:r>
              <a:rPr lang="en-US" dirty="0"/>
              <a:t> and </a:t>
            </a:r>
            <a:r>
              <a:rPr lang="en-US" dirty="0">
                <a:latin typeface="Courier New"/>
                <a:cs typeface="Courier New"/>
              </a:rPr>
              <a:t>while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70564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loop will loop through the contents a pre-specified number of times. </a:t>
            </a:r>
          </a:p>
          <a:p>
            <a:pPr marL="457200" lvl="1" indent="0">
              <a:buNone/>
            </a:pPr>
            <a:r>
              <a:rPr lang="en-US" sz="2000" dirty="0">
                <a:latin typeface="Courier New"/>
                <a:cs typeface="Courier New"/>
              </a:rPr>
              <a:t>a = 2; </a:t>
            </a:r>
          </a:p>
          <a:p>
            <a:pPr marL="457200" lvl="1" indent="0">
              <a:buNone/>
            </a:pPr>
            <a:r>
              <a:rPr lang="en-US" sz="2000" dirty="0">
                <a:latin typeface="Courier New"/>
                <a:cs typeface="Courier New"/>
              </a:rPr>
              <a:t>for </a:t>
            </a:r>
            <a:r>
              <a:rPr lang="en-US" sz="2000" dirty="0" err="1">
                <a:latin typeface="Courier New"/>
                <a:cs typeface="Courier New"/>
              </a:rPr>
              <a:t>i</a:t>
            </a:r>
            <a:r>
              <a:rPr lang="en-US" sz="2000" dirty="0">
                <a:latin typeface="Courier New"/>
                <a:cs typeface="Courier New"/>
              </a:rPr>
              <a:t> = 1:10 %loop 10 times</a:t>
            </a:r>
          </a:p>
          <a:p>
            <a:pPr marL="914400" lvl="2" indent="0">
              <a:buNone/>
            </a:pPr>
            <a:r>
              <a:rPr lang="en-US" dirty="0">
                <a:latin typeface="Courier New"/>
                <a:cs typeface="Courier New"/>
              </a:rPr>
              <a:t>a = a * </a:t>
            </a:r>
            <a:r>
              <a:rPr lang="en-US" dirty="0" err="1">
                <a:latin typeface="Courier New"/>
                <a:cs typeface="Courier New"/>
              </a:rPr>
              <a:t>i</a:t>
            </a:r>
            <a:endParaRPr lang="en-US" dirty="0">
              <a:latin typeface="Courier New"/>
              <a:cs typeface="Courier New"/>
            </a:endParaRPr>
          </a:p>
          <a:p>
            <a:pPr marL="457200" lvl="1" indent="0">
              <a:buNone/>
            </a:pPr>
            <a:r>
              <a:rPr lang="en-US" sz="2000" dirty="0">
                <a:latin typeface="Courier New"/>
                <a:cs typeface="Courier New"/>
              </a:rPr>
              <a:t>end;</a:t>
            </a:r>
          </a:p>
          <a:p>
            <a:pPr marL="457200" lvl="1" indent="0">
              <a:buNone/>
            </a:pPr>
            <a:endParaRPr lang="en-US" sz="2000" dirty="0">
              <a:latin typeface="Courier New"/>
              <a:cs typeface="Courier New"/>
            </a:endParaRPr>
          </a:p>
          <a:p>
            <a:r>
              <a:rPr lang="en-US" dirty="0">
                <a:cs typeface="Courier New"/>
              </a:rPr>
              <a:t>Note that much like the IF statement it must be contained within the for…end </a:t>
            </a:r>
          </a:p>
        </p:txBody>
      </p:sp>
    </p:spTree>
    <p:extLst>
      <p:ext uri="{BB962C8B-B14F-4D97-AF65-F5344CB8AC3E}">
        <p14:creationId xmlns:p14="http://schemas.microsoft.com/office/powerpoint/2010/main" val="707141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Emrich’s</a:t>
            </a:r>
            <a:r>
              <a:rPr lang="en-US" b="1" dirty="0"/>
              <a:t> tip: </a:t>
            </a:r>
            <a:r>
              <a:rPr lang="en-US" dirty="0"/>
              <a:t> use the </a:t>
            </a:r>
            <a:r>
              <a:rPr lang="en-US" dirty="0">
                <a:latin typeface="Courier New"/>
                <a:cs typeface="Courier New"/>
              </a:rPr>
              <a:t>length(</a:t>
            </a:r>
            <a:r>
              <a:rPr lang="en-US" dirty="0" err="1">
                <a:latin typeface="Courier New"/>
                <a:cs typeface="Courier New"/>
              </a:rPr>
              <a:t>var</a:t>
            </a:r>
            <a:r>
              <a:rPr lang="en-US" dirty="0">
                <a:latin typeface="Courier New"/>
                <a:cs typeface="Courier New"/>
              </a:rPr>
              <a:t>) </a:t>
            </a:r>
            <a:r>
              <a:rPr lang="en-US" dirty="0"/>
              <a:t>command to define the number of times you want to loop through a task</a:t>
            </a:r>
          </a:p>
          <a:p>
            <a:pPr lvl="1"/>
            <a:r>
              <a:rPr lang="en-US" dirty="0"/>
              <a:t>E.g., if the number of trials, subjects, etc. changes, you haven’t hard-coded the number of loops and so this won’t cause problems.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104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also use the while loop to loop through code an unknown number of times </a:t>
            </a:r>
          </a:p>
          <a:p>
            <a:pPr lvl="1"/>
            <a:r>
              <a:rPr lang="en-US" dirty="0"/>
              <a:t>E.g., want to meet some condition </a:t>
            </a:r>
          </a:p>
          <a:p>
            <a:endParaRPr lang="en-US" dirty="0"/>
          </a:p>
          <a:p>
            <a:r>
              <a:rPr lang="en-US" dirty="0"/>
              <a:t>Dangerous because you can find yourself stuck in an infinite loop</a:t>
            </a:r>
          </a:p>
          <a:p>
            <a:endParaRPr lang="en-US" dirty="0"/>
          </a:p>
          <a:p>
            <a:r>
              <a:rPr lang="en-US" dirty="0"/>
              <a:t>Can use the </a:t>
            </a:r>
            <a:r>
              <a:rPr lang="en-US" dirty="0">
                <a:latin typeface="Courier New"/>
                <a:cs typeface="Courier New"/>
              </a:rPr>
              <a:t>break</a:t>
            </a:r>
            <a:r>
              <a:rPr lang="en-US" dirty="0"/>
              <a:t> command to get out of the loop</a:t>
            </a:r>
          </a:p>
          <a:p>
            <a:endParaRPr lang="en-US" dirty="0"/>
          </a:p>
          <a:p>
            <a:r>
              <a:rPr lang="en-US" dirty="0"/>
              <a:t>#exercise</a:t>
            </a:r>
          </a:p>
        </p:txBody>
      </p:sp>
    </p:spTree>
    <p:extLst>
      <p:ext uri="{BB962C8B-B14F-4D97-AF65-F5344CB8AC3E}">
        <p14:creationId xmlns:p14="http://schemas.microsoft.com/office/powerpoint/2010/main" val="2187456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use loops within loops to control many thing simultaneously</a:t>
            </a:r>
          </a:p>
          <a:p>
            <a:endParaRPr lang="en-US" dirty="0"/>
          </a:p>
          <a:p>
            <a:r>
              <a:rPr lang="en-US" dirty="0"/>
              <a:t>Again, be careful of the number of </a:t>
            </a:r>
            <a:r>
              <a:rPr lang="en-US" dirty="0">
                <a:latin typeface="Courier New"/>
                <a:cs typeface="Courier New"/>
              </a:rPr>
              <a:t>end</a:t>
            </a:r>
            <a:r>
              <a:rPr lang="en-US" dirty="0"/>
              <a:t> statements you have</a:t>
            </a:r>
          </a:p>
          <a:p>
            <a:endParaRPr lang="en-US" dirty="0"/>
          </a:p>
          <a:p>
            <a:r>
              <a:rPr lang="en-US" dirty="0"/>
              <a:t>Useful to keep things properly indented and commented so you know which parts go with which loop</a:t>
            </a:r>
          </a:p>
          <a:p>
            <a:endParaRPr lang="en-US" dirty="0"/>
          </a:p>
          <a:p>
            <a:r>
              <a:rPr lang="en-US" dirty="0">
                <a:latin typeface="Courier New"/>
                <a:cs typeface="Courier New"/>
              </a:rPr>
              <a:t>Continue</a:t>
            </a:r>
            <a:r>
              <a:rPr lang="en-US" dirty="0"/>
              <a:t> can be used to pass control from one loop to the next one</a:t>
            </a:r>
          </a:p>
        </p:txBody>
      </p:sp>
    </p:spTree>
    <p:extLst>
      <p:ext uri="{BB962C8B-B14F-4D97-AF65-F5344CB8AC3E}">
        <p14:creationId xmlns:p14="http://schemas.microsoft.com/office/powerpoint/2010/main" val="1388787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REMEMBER:</a:t>
            </a:r>
            <a:r>
              <a:rPr lang="en-US" dirty="0"/>
              <a:t> Loops are really slow relative to just creating an array (vectoring)</a:t>
            </a:r>
          </a:p>
          <a:p>
            <a:endParaRPr lang="en-US" dirty="0"/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a = 0:0.2:2;</a:t>
            </a:r>
          </a:p>
          <a:p>
            <a:pPr lvl="1"/>
            <a:endParaRPr lang="en-US" b="1" dirty="0"/>
          </a:p>
          <a:p>
            <a:r>
              <a:rPr lang="en-US" dirty="0"/>
              <a:t>Is the same as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for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= 0:20 </a:t>
            </a:r>
          </a:p>
          <a:p>
            <a:pPr marL="914400" lvl="2" indent="0">
              <a:buNone/>
            </a:pPr>
            <a:r>
              <a:rPr lang="en-US" dirty="0">
                <a:latin typeface="Courier New"/>
                <a:cs typeface="Courier New"/>
              </a:rPr>
              <a:t>a(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+ 1) = 0.2 *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– 0.2;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end</a:t>
            </a:r>
          </a:p>
          <a:p>
            <a:endParaRPr lang="en-US" b="1" dirty="0"/>
          </a:p>
          <a:p>
            <a:r>
              <a:rPr lang="en-US" dirty="0"/>
              <a:t>And it takes a lot less time</a:t>
            </a:r>
          </a:p>
          <a:p>
            <a:endParaRPr lang="en-US" dirty="0"/>
          </a:p>
          <a:p>
            <a:r>
              <a:rPr lang="en-US" dirty="0"/>
              <a:t>At minimum, make sure to pre-allocate your variables (zeros)</a:t>
            </a:r>
          </a:p>
          <a:p>
            <a:endParaRPr lang="en-US" dirty="0"/>
          </a:p>
          <a:p>
            <a:r>
              <a:rPr lang="en-US" dirty="0"/>
              <a:t>#exercise</a:t>
            </a:r>
          </a:p>
        </p:txBody>
      </p:sp>
    </p:spTree>
    <p:extLst>
      <p:ext uri="{BB962C8B-B14F-4D97-AF65-F5344CB8AC3E}">
        <p14:creationId xmlns:p14="http://schemas.microsoft.com/office/powerpoint/2010/main" val="713399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1185D-8C16-1C45-8DDB-43D68644B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Parfor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C245F-DDEC-F449-9D5F-E7EF4EA57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have multiple cores, can run jobs in </a:t>
            </a:r>
            <a:r>
              <a:rPr lang="en-US" i="1" dirty="0"/>
              <a:t>parallel</a:t>
            </a:r>
          </a:p>
          <a:p>
            <a:pPr lvl="1"/>
            <a:r>
              <a:rPr lang="en-US" dirty="0"/>
              <a:t> can’t run different lines of code at same time, but can compute different iterations of same code</a:t>
            </a:r>
          </a:p>
          <a:p>
            <a:r>
              <a:rPr lang="en-US" dirty="0"/>
              <a:t>Use </a:t>
            </a:r>
            <a:r>
              <a:rPr lang="en-US" dirty="0" err="1">
                <a:latin typeface="Courier" pitchFamily="2" charset="0"/>
              </a:rPr>
              <a:t>parfor</a:t>
            </a:r>
            <a:r>
              <a:rPr lang="en-US" dirty="0"/>
              <a:t> to run loops in parallel</a:t>
            </a:r>
          </a:p>
          <a:p>
            <a:endParaRPr lang="en-US" dirty="0"/>
          </a:p>
          <a:p>
            <a:r>
              <a:rPr lang="en-US" dirty="0">
                <a:latin typeface="Courier" pitchFamily="2" charset="0"/>
              </a:rPr>
              <a:t>tic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toc</a:t>
            </a:r>
            <a:r>
              <a:rPr lang="en-US" dirty="0"/>
              <a:t> when used in conjunction will provide the amount of time within a bit of code</a:t>
            </a:r>
          </a:p>
        </p:txBody>
      </p:sp>
    </p:spTree>
    <p:extLst>
      <p:ext uri="{BB962C8B-B14F-4D97-AF65-F5344CB8AC3E}">
        <p14:creationId xmlns:p14="http://schemas.microsoft.com/office/powerpoint/2010/main" val="3701553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5013-9202-A9A9-7763-DA125EFDF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2FC4E-34BF-3CEE-BEE7-AA735692D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07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One of the easiest ways to avoid looping (and one of the things you will find yourself doing the most) is to use conditionals to automatically find or </a:t>
            </a:r>
            <a:r>
              <a:rPr lang="en-US" b="1" dirty="0"/>
              <a:t>index</a:t>
            </a:r>
            <a:r>
              <a:rPr lang="en-US" dirty="0"/>
              <a:t> the locations of certain values</a:t>
            </a:r>
          </a:p>
          <a:p>
            <a:endParaRPr lang="en-US" dirty="0"/>
          </a:p>
          <a:p>
            <a:r>
              <a:rPr lang="en-US" dirty="0"/>
              <a:t>i.e., instead of looping through a variable (</a:t>
            </a:r>
            <a:r>
              <a:rPr lang="en-US" dirty="0" err="1"/>
              <a:t>setSize</a:t>
            </a:r>
            <a:r>
              <a:rPr lang="en-US" dirty="0"/>
              <a:t>) and determining whether each cell contains a particular value (4), can just use a conditional expression:</a:t>
            </a:r>
          </a:p>
          <a:p>
            <a:endParaRPr lang="en-US" dirty="0"/>
          </a:p>
          <a:p>
            <a:pPr lvl="1">
              <a:buFont typeface="Lucida Grande"/>
              <a:buChar char="&gt;"/>
            </a:pPr>
            <a:r>
              <a:rPr lang="en-US" dirty="0" err="1">
                <a:latin typeface="Courier New"/>
                <a:cs typeface="Courier New"/>
              </a:rPr>
              <a:t>setSize</a:t>
            </a:r>
            <a:r>
              <a:rPr lang="en-US" dirty="0">
                <a:latin typeface="Courier New"/>
                <a:cs typeface="Courier New"/>
              </a:rPr>
              <a:t> = [2 2 4 4 2 6 6 4 2 6 6 4];</a:t>
            </a:r>
          </a:p>
          <a:p>
            <a:pPr lvl="1">
              <a:buFont typeface="Lucida Grande"/>
              <a:buChar char="&gt;"/>
            </a:pPr>
            <a:r>
              <a:rPr lang="en-US" dirty="0" err="1">
                <a:latin typeface="Courier New"/>
                <a:cs typeface="Courier New"/>
              </a:rPr>
              <a:t>ssFour</a:t>
            </a:r>
            <a:r>
              <a:rPr lang="en-US" dirty="0">
                <a:latin typeface="Courier New"/>
                <a:cs typeface="Courier New"/>
              </a:rPr>
              <a:t> =  (</a:t>
            </a:r>
            <a:r>
              <a:rPr lang="en-US" dirty="0" err="1">
                <a:latin typeface="Courier New"/>
                <a:cs typeface="Courier New"/>
              </a:rPr>
              <a:t>setSize</a:t>
            </a:r>
            <a:r>
              <a:rPr lang="en-US" dirty="0">
                <a:latin typeface="Courier New"/>
                <a:cs typeface="Courier New"/>
              </a:rPr>
              <a:t> == 4)</a:t>
            </a:r>
          </a:p>
          <a:p>
            <a:endParaRPr lang="en-US" dirty="0"/>
          </a:p>
          <a:p>
            <a:r>
              <a:rPr lang="en-US" dirty="0"/>
              <a:t>Returns all the locations where 4 is present within </a:t>
            </a:r>
            <a:r>
              <a:rPr lang="en-US" dirty="0" err="1"/>
              <a:t>setSize</a:t>
            </a:r>
            <a:endParaRPr lang="en-US" dirty="0"/>
          </a:p>
          <a:p>
            <a:endParaRPr lang="en-US" dirty="0"/>
          </a:p>
          <a:p>
            <a:r>
              <a:rPr lang="en-US" dirty="0"/>
              <a:t>#exercise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246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different (and all useful) ways of using this</a:t>
            </a:r>
          </a:p>
          <a:p>
            <a:pPr lvl="1"/>
            <a:r>
              <a:rPr lang="en-US" dirty="0"/>
              <a:t>(x == 10) produces an array of 0s and 1s where 1 are locations where 10 is</a:t>
            </a:r>
          </a:p>
          <a:p>
            <a:pPr lvl="1"/>
            <a:r>
              <a:rPr lang="en-US" dirty="0"/>
              <a:t>x(x == 10) produces the values of the array x where it is equal to 10 (obviously all 10)</a:t>
            </a:r>
          </a:p>
          <a:p>
            <a:pPr lvl="1"/>
            <a:r>
              <a:rPr lang="en-US" dirty="0"/>
              <a:t>find(x==10) provides the cell numbers (the indices) of where x == 10</a:t>
            </a:r>
          </a:p>
          <a:p>
            <a:pPr lvl="1"/>
            <a:endParaRPr lang="en-US" dirty="0"/>
          </a:p>
          <a:p>
            <a:r>
              <a:rPr lang="en-US" dirty="0"/>
              <a:t>The second and third options can call additional variables in the conditionals (just takes an array of 1s and 0s as input</a:t>
            </a:r>
          </a:p>
          <a:p>
            <a:endParaRPr lang="en-US" dirty="0"/>
          </a:p>
          <a:p>
            <a:r>
              <a:rPr lang="en-US" dirty="0"/>
              <a:t>#exercise</a:t>
            </a:r>
          </a:p>
        </p:txBody>
      </p:sp>
    </p:spTree>
    <p:extLst>
      <p:ext uri="{BB962C8B-B14F-4D97-AF65-F5344CB8AC3E}">
        <p14:creationId xmlns:p14="http://schemas.microsoft.com/office/powerpoint/2010/main" val="2763031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also use the commands </a:t>
            </a:r>
            <a:r>
              <a:rPr lang="en-US" dirty="0">
                <a:latin typeface="Courier New"/>
                <a:cs typeface="Courier New"/>
              </a:rPr>
              <a:t>any</a:t>
            </a:r>
            <a:r>
              <a:rPr lang="en-US" dirty="0"/>
              <a:t> and </a:t>
            </a:r>
            <a:r>
              <a:rPr lang="en-US" dirty="0">
                <a:latin typeface="Courier New"/>
                <a:cs typeface="Courier New"/>
              </a:rPr>
              <a:t>all</a:t>
            </a:r>
            <a:r>
              <a:rPr lang="en-US" dirty="0"/>
              <a:t> to determine if any or every value in an array/matrix meets some condition </a:t>
            </a:r>
          </a:p>
          <a:p>
            <a:endParaRPr lang="en-US" dirty="0"/>
          </a:p>
          <a:p>
            <a:r>
              <a:rPr lang="en-US" dirty="0"/>
              <a:t>#exercise</a:t>
            </a:r>
          </a:p>
        </p:txBody>
      </p:sp>
    </p:spTree>
    <p:extLst>
      <p:ext uri="{BB962C8B-B14F-4D97-AF65-F5344CB8AC3E}">
        <p14:creationId xmlns:p14="http://schemas.microsoft.com/office/powerpoint/2010/main" val="579575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Learning how to properly index might be the most important thing when it comes to programming in MATLAB</a:t>
            </a:r>
          </a:p>
          <a:p>
            <a:endParaRPr lang="en-US" dirty="0"/>
          </a:p>
          <a:p>
            <a:r>
              <a:rPr lang="en-US" dirty="0"/>
              <a:t>Saves time computationally</a:t>
            </a:r>
          </a:p>
          <a:p>
            <a:endParaRPr lang="en-US" dirty="0"/>
          </a:p>
          <a:p>
            <a:r>
              <a:rPr lang="en-US" dirty="0"/>
              <a:t>More importantly, solves many problems where you’re looking for certain values that you want to manipulate</a:t>
            </a:r>
          </a:p>
          <a:p>
            <a:endParaRPr lang="en-US" dirty="0"/>
          </a:p>
          <a:p>
            <a:r>
              <a:rPr lang="en-US" dirty="0"/>
              <a:t>Loops, ifs and indexing build on top of each other</a:t>
            </a:r>
          </a:p>
          <a:p>
            <a:pPr lvl="1"/>
            <a:r>
              <a:rPr lang="en-US" dirty="0"/>
              <a:t>E.g., loop through only those trials where some condition is met</a:t>
            </a:r>
          </a:p>
        </p:txBody>
      </p:sp>
    </p:spTree>
    <p:extLst>
      <p:ext uri="{BB962C8B-B14F-4D97-AF65-F5344CB8AC3E}">
        <p14:creationId xmlns:p14="http://schemas.microsoft.com/office/powerpoint/2010/main" val="559321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DDED-490D-D2C1-6A38-1751BAC5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82238-D0D7-150C-B016-14325D1EA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18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Scripts, although useful, are relatively inflexible </a:t>
            </a:r>
          </a:p>
          <a:p>
            <a:pPr lvl="1"/>
            <a:r>
              <a:rPr lang="en-US" dirty="0"/>
              <a:t>Must know the name of variables ahead of time</a:t>
            </a:r>
          </a:p>
          <a:p>
            <a:pPr lvl="1"/>
            <a:r>
              <a:rPr lang="en-US" dirty="0"/>
              <a:t>Can’t really pass information in and out</a:t>
            </a:r>
          </a:p>
          <a:p>
            <a:pPr lvl="2"/>
            <a:r>
              <a:rPr lang="en-US" dirty="0"/>
              <a:t>Although all variables created outside of a function are essentially “global”</a:t>
            </a:r>
          </a:p>
          <a:p>
            <a:r>
              <a:rPr lang="en-US" dirty="0"/>
              <a:t>A more elegant solution is to write </a:t>
            </a:r>
            <a:r>
              <a:rPr lang="en-US" b="1" dirty="0"/>
              <a:t>functions</a:t>
            </a:r>
          </a:p>
          <a:p>
            <a:r>
              <a:rPr lang="en-US" dirty="0"/>
              <a:t>Functions are self-contained pieces of code that take and return </a:t>
            </a:r>
            <a:r>
              <a:rPr lang="en-US" b="1" dirty="0"/>
              <a:t>arguments</a:t>
            </a:r>
          </a:p>
          <a:p>
            <a:r>
              <a:rPr lang="en-US" dirty="0"/>
              <a:t>Becomes highly flexible</a:t>
            </a:r>
          </a:p>
          <a:p>
            <a:pPr lvl="1"/>
            <a:r>
              <a:rPr lang="en-US" dirty="0"/>
              <a:t>You pass it the </a:t>
            </a:r>
            <a:r>
              <a:rPr lang="en-US" b="1" dirty="0"/>
              <a:t>inputs</a:t>
            </a:r>
          </a:p>
          <a:p>
            <a:pPr lvl="1"/>
            <a:r>
              <a:rPr lang="en-US" dirty="0"/>
              <a:t>It returns the </a:t>
            </a:r>
            <a:r>
              <a:rPr lang="en-US" b="1" dirty="0"/>
              <a:t>outputs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9932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US" sz="1800" dirty="0">
                <a:latin typeface="Courier New"/>
                <a:cs typeface="Courier New"/>
              </a:rPr>
              <a:t>function </a:t>
            </a:r>
            <a:r>
              <a:rPr lang="en-US" sz="1800" dirty="0" err="1">
                <a:latin typeface="Courier New"/>
                <a:cs typeface="Courier New"/>
              </a:rPr>
              <a:t>outputArray</a:t>
            </a:r>
            <a:r>
              <a:rPr lang="en-US" sz="1800" dirty="0">
                <a:latin typeface="Courier New"/>
                <a:cs typeface="Courier New"/>
              </a:rPr>
              <a:t> = </a:t>
            </a:r>
            <a:r>
              <a:rPr lang="en-US" sz="1800" dirty="0" err="1">
                <a:latin typeface="Courier New"/>
                <a:cs typeface="Courier New"/>
              </a:rPr>
              <a:t>subtractOne</a:t>
            </a:r>
            <a:r>
              <a:rPr lang="en-US" sz="1800" dirty="0">
                <a:latin typeface="Courier New"/>
                <a:cs typeface="Courier New"/>
              </a:rPr>
              <a:t>(</a:t>
            </a:r>
            <a:r>
              <a:rPr lang="en-US" sz="1800" dirty="0" err="1">
                <a:latin typeface="Courier New"/>
                <a:cs typeface="Courier New"/>
              </a:rPr>
              <a:t>inputArray</a:t>
            </a:r>
            <a:r>
              <a:rPr lang="en-US" sz="1800" dirty="0">
                <a:latin typeface="Courier New"/>
                <a:cs typeface="Courier New"/>
              </a:rPr>
              <a:t>)</a:t>
            </a:r>
          </a:p>
          <a:p>
            <a:pPr marL="857250" lvl="2" indent="0">
              <a:buNone/>
            </a:pPr>
            <a:r>
              <a:rPr lang="en-US" sz="1800" dirty="0" err="1">
                <a:latin typeface="Courier New"/>
                <a:cs typeface="Courier New"/>
              </a:rPr>
              <a:t>outputArray</a:t>
            </a:r>
            <a:r>
              <a:rPr lang="en-US" sz="1800" dirty="0">
                <a:latin typeface="Courier New"/>
                <a:cs typeface="Courier New"/>
              </a:rPr>
              <a:t> = </a:t>
            </a:r>
            <a:r>
              <a:rPr lang="en-US" sz="1800" dirty="0" err="1">
                <a:latin typeface="Courier New"/>
                <a:cs typeface="Courier New"/>
              </a:rPr>
              <a:t>inputArray</a:t>
            </a:r>
            <a:r>
              <a:rPr lang="en-US" sz="1800" dirty="0">
                <a:latin typeface="Courier New"/>
                <a:cs typeface="Courier New"/>
              </a:rPr>
              <a:t> – 1;</a:t>
            </a:r>
          </a:p>
          <a:p>
            <a:pPr marL="400050" lvl="1" indent="0">
              <a:buNone/>
            </a:pPr>
            <a:r>
              <a:rPr lang="en-US" sz="1800" dirty="0">
                <a:latin typeface="Courier New"/>
                <a:cs typeface="Courier New"/>
              </a:rPr>
              <a:t>end;</a:t>
            </a:r>
          </a:p>
          <a:p>
            <a:endParaRPr lang="en-US" dirty="0"/>
          </a:p>
          <a:p>
            <a:r>
              <a:rPr lang="en-US" dirty="0"/>
              <a:t>Note a few things: </a:t>
            </a:r>
          </a:p>
          <a:p>
            <a:pPr lvl="1"/>
            <a:r>
              <a:rPr lang="en-US" dirty="0"/>
              <a:t>Contained between a </a:t>
            </a:r>
            <a:r>
              <a:rPr lang="en-US" dirty="0">
                <a:latin typeface="Courier New"/>
                <a:cs typeface="Courier New"/>
              </a:rPr>
              <a:t>function</a:t>
            </a:r>
            <a:r>
              <a:rPr lang="en-US" dirty="0"/>
              <a:t> and an </a:t>
            </a:r>
            <a:r>
              <a:rPr lang="en-US" dirty="0">
                <a:latin typeface="Courier New"/>
                <a:cs typeface="Courier New"/>
              </a:rPr>
              <a:t>end</a:t>
            </a:r>
          </a:p>
          <a:p>
            <a:pPr lvl="2"/>
            <a:r>
              <a:rPr lang="en-US" dirty="0"/>
              <a:t>Keep track of which end belongs to function, loop, if, etc…</a:t>
            </a:r>
          </a:p>
          <a:p>
            <a:pPr lvl="1"/>
            <a:r>
              <a:rPr lang="en-US" dirty="0"/>
              <a:t>Has an output argument (to the left of the equal sign) and an input argument (inside the brackets)</a:t>
            </a:r>
          </a:p>
          <a:p>
            <a:pPr lvl="1"/>
            <a:r>
              <a:rPr lang="en-US" dirty="0"/>
              <a:t>The input and output arrays take the name defined by the functions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352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Copy the text from the previous slide and paste it into the editing window in a new file</a:t>
            </a:r>
          </a:p>
          <a:p>
            <a:endParaRPr lang="en-US" dirty="0"/>
          </a:p>
          <a:p>
            <a:r>
              <a:rPr lang="en-US" dirty="0"/>
              <a:t>Click ‘save’</a:t>
            </a:r>
          </a:p>
          <a:p>
            <a:pPr lvl="1"/>
            <a:r>
              <a:rPr lang="en-US" dirty="0"/>
              <a:t>Note that MATLAB automatically knows that you want to call this file </a:t>
            </a:r>
            <a:r>
              <a:rPr lang="en-US" dirty="0" err="1"/>
              <a:t>subtractOne.m</a:t>
            </a:r>
            <a:endParaRPr lang="en-US" dirty="0"/>
          </a:p>
          <a:p>
            <a:pPr lvl="2"/>
            <a:r>
              <a:rPr lang="en-US" dirty="0"/>
              <a:t>Otherwise your function won’t work properly</a:t>
            </a:r>
          </a:p>
          <a:p>
            <a:endParaRPr lang="en-US" dirty="0"/>
          </a:p>
          <a:p>
            <a:r>
              <a:rPr lang="en-US" dirty="0"/>
              <a:t>To call the function simply type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bar = 1:10;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foo = </a:t>
            </a:r>
            <a:r>
              <a:rPr lang="en-US" dirty="0" err="1">
                <a:latin typeface="Courier New"/>
                <a:cs typeface="Courier New"/>
              </a:rPr>
              <a:t>subtractOne</a:t>
            </a:r>
            <a:r>
              <a:rPr lang="en-US" dirty="0">
                <a:latin typeface="Courier New"/>
                <a:cs typeface="Courier New"/>
              </a:rPr>
              <a:t>(bar); </a:t>
            </a:r>
          </a:p>
        </p:txBody>
      </p:sp>
    </p:spTree>
    <p:extLst>
      <p:ext uri="{BB962C8B-B14F-4D97-AF65-F5344CB8AC3E}">
        <p14:creationId xmlns:p14="http://schemas.microsoft.com/office/powerpoint/2010/main" val="3270384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Can pass (and receive) multiple variables within a function</a:t>
            </a:r>
          </a:p>
          <a:p>
            <a:endParaRPr lang="en-US" dirty="0"/>
          </a:p>
          <a:p>
            <a:r>
              <a:rPr lang="en-US" dirty="0"/>
              <a:t>Also note </a:t>
            </a:r>
            <a:r>
              <a:rPr lang="en-US" dirty="0">
                <a:latin typeface="Courier New"/>
                <a:cs typeface="Courier New"/>
              </a:rPr>
              <a:t>return</a:t>
            </a:r>
            <a:r>
              <a:rPr lang="en-US" dirty="0"/>
              <a:t> can end the function early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function [</a:t>
            </a:r>
            <a:r>
              <a:rPr lang="en-US" dirty="0" err="1">
                <a:latin typeface="Courier New"/>
                <a:cs typeface="Courier New"/>
              </a:rPr>
              <a:t>nTrials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stimType</a:t>
            </a:r>
            <a:r>
              <a:rPr lang="en-US" dirty="0">
                <a:latin typeface="Courier New"/>
                <a:cs typeface="Courier New"/>
              </a:rPr>
              <a:t>] = </a:t>
            </a:r>
            <a:r>
              <a:rPr lang="en-US" dirty="0" err="1">
                <a:latin typeface="Courier New"/>
                <a:cs typeface="Courier New"/>
              </a:rPr>
              <a:t>defineTrials</a:t>
            </a:r>
            <a:r>
              <a:rPr lang="en-US" dirty="0">
                <a:latin typeface="Courier New"/>
                <a:cs typeface="Courier New"/>
              </a:rPr>
              <a:t>(subject, condition)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If subject == 999 | condition = 0</a:t>
            </a:r>
          </a:p>
          <a:p>
            <a:pPr marL="914400" lvl="2" indent="0">
              <a:buNone/>
            </a:pPr>
            <a:r>
              <a:rPr lang="en-US" dirty="0" err="1">
                <a:latin typeface="Courier New"/>
                <a:cs typeface="Courier New"/>
              </a:rPr>
              <a:t>nTrials</a:t>
            </a:r>
            <a:r>
              <a:rPr lang="en-US" dirty="0">
                <a:latin typeface="Courier New"/>
                <a:cs typeface="Courier New"/>
              </a:rPr>
              <a:t> = 10;</a:t>
            </a:r>
          </a:p>
          <a:p>
            <a:pPr marL="914400" lvl="2" indent="0">
              <a:buNone/>
            </a:pPr>
            <a:r>
              <a:rPr lang="en-US" dirty="0" err="1">
                <a:latin typeface="Courier New"/>
                <a:cs typeface="Courier New"/>
              </a:rPr>
              <a:t>stimType</a:t>
            </a:r>
            <a:r>
              <a:rPr lang="en-US" dirty="0">
                <a:latin typeface="Courier New"/>
                <a:cs typeface="Courier New"/>
              </a:rPr>
              <a:t> = 0;</a:t>
            </a:r>
          </a:p>
          <a:p>
            <a:pPr marL="914400" lvl="2" indent="0">
              <a:buNone/>
            </a:pPr>
            <a:r>
              <a:rPr lang="en-US" dirty="0">
                <a:latin typeface="Courier New"/>
                <a:cs typeface="Courier New"/>
              </a:rPr>
              <a:t>return;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nTrials</a:t>
            </a:r>
            <a:r>
              <a:rPr lang="en-US" dirty="0">
                <a:latin typeface="Courier New"/>
                <a:cs typeface="Courier New"/>
              </a:rPr>
              <a:t> = 100;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stimType</a:t>
            </a:r>
            <a:r>
              <a:rPr lang="en-US" dirty="0">
                <a:latin typeface="Courier New"/>
                <a:cs typeface="Courier New"/>
              </a:rPr>
              <a:t>(1:nTrials./2) = 1;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stimType</a:t>
            </a:r>
            <a:r>
              <a:rPr lang="en-US" dirty="0">
                <a:latin typeface="Courier New"/>
                <a:cs typeface="Courier New"/>
              </a:rPr>
              <a:t>(</a:t>
            </a:r>
            <a:r>
              <a:rPr lang="en-US" dirty="0" err="1">
                <a:latin typeface="Courier New"/>
                <a:cs typeface="Courier New"/>
              </a:rPr>
              <a:t>nTrials</a:t>
            </a:r>
            <a:r>
              <a:rPr lang="en-US" dirty="0">
                <a:latin typeface="Courier New"/>
                <a:cs typeface="Courier New"/>
              </a:rPr>
              <a:t>./2 + 1:max(</a:t>
            </a:r>
            <a:r>
              <a:rPr lang="en-US" dirty="0" err="1">
                <a:latin typeface="Courier New"/>
                <a:cs typeface="Courier New"/>
              </a:rPr>
              <a:t>nTrials</a:t>
            </a:r>
            <a:r>
              <a:rPr lang="en-US" dirty="0">
                <a:latin typeface="Courier New"/>
                <a:cs typeface="Courier New"/>
              </a:rPr>
              <a:t>)=2;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uselessVariable</a:t>
            </a:r>
            <a:r>
              <a:rPr lang="en-US" dirty="0">
                <a:latin typeface="Courier New"/>
                <a:cs typeface="Courier New"/>
              </a:rPr>
              <a:t> = 100 * 100;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end</a:t>
            </a:r>
          </a:p>
          <a:p>
            <a:pPr marL="0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cs typeface="Courier New"/>
              </a:rPr>
              <a:t> #exercise: Take a look at </a:t>
            </a:r>
            <a:r>
              <a:rPr lang="en-US" dirty="0" err="1">
                <a:cs typeface="Courier New"/>
              </a:rPr>
              <a:t>defineTrials.m</a:t>
            </a:r>
            <a:r>
              <a:rPr lang="en-US" dirty="0">
                <a:cs typeface="Courier New"/>
              </a:rPr>
              <a:t> and try running it with different parameters. </a:t>
            </a:r>
            <a:endParaRPr lang="en-US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91924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of the important things about functions (as opposed to scripts) is that the variables are </a:t>
            </a:r>
            <a:r>
              <a:rPr lang="en-US" b="1" i="1" dirty="0"/>
              <a:t>local</a:t>
            </a:r>
            <a:r>
              <a:rPr lang="en-US" dirty="0"/>
              <a:t> (as opposed to </a:t>
            </a:r>
            <a:r>
              <a:rPr lang="en-US" b="1" i="1" dirty="0"/>
              <a:t>global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In the previous example, a number of variables were created, but only the values that were passed as outputs remain</a:t>
            </a:r>
          </a:p>
          <a:p>
            <a:endParaRPr lang="en-US" dirty="0"/>
          </a:p>
          <a:p>
            <a:r>
              <a:rPr lang="en-US" dirty="0"/>
              <a:t>It’s also important to note that the names of those passed (output) variables are arbitrary within the function</a:t>
            </a:r>
          </a:p>
          <a:p>
            <a:pPr lvl="1"/>
            <a:r>
              <a:rPr lang="en-US" dirty="0"/>
              <a:t>They will take whatever name you assign them when called</a:t>
            </a:r>
          </a:p>
        </p:txBody>
      </p:sp>
    </p:spTree>
    <p:extLst>
      <p:ext uri="{BB962C8B-B14F-4D97-AF65-F5344CB8AC3E}">
        <p14:creationId xmlns:p14="http://schemas.microsoft.com/office/powerpoint/2010/main" val="1351754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Another important thing to note is that you can have “local” functions</a:t>
            </a:r>
          </a:p>
          <a:p>
            <a:pPr lvl="1"/>
            <a:r>
              <a:rPr lang="en-US" dirty="0"/>
              <a:t>These can’t be called directly from other scripts</a:t>
            </a:r>
          </a:p>
          <a:p>
            <a:pPr lvl="1"/>
            <a:r>
              <a:rPr lang="en-US" dirty="0"/>
              <a:t>Can only be called by the main function</a:t>
            </a:r>
          </a:p>
          <a:p>
            <a:endParaRPr lang="en-US" dirty="0"/>
          </a:p>
          <a:p>
            <a:r>
              <a:rPr lang="en-US" dirty="0"/>
              <a:t>The first function (with the name of the .m-file) is the “main” function</a:t>
            </a:r>
          </a:p>
          <a:p>
            <a:endParaRPr lang="en-US" dirty="0"/>
          </a:p>
          <a:p>
            <a:r>
              <a:rPr lang="en-US" dirty="0"/>
              <a:t>All subsequent functions are the local functions.</a:t>
            </a:r>
          </a:p>
          <a:p>
            <a:endParaRPr lang="en-US" dirty="0"/>
          </a:p>
          <a:p>
            <a:r>
              <a:rPr lang="en-US" dirty="0"/>
              <a:t>Can also create local “nested” functions within a function</a:t>
            </a:r>
          </a:p>
          <a:p>
            <a:endParaRPr lang="en-US" dirty="0"/>
          </a:p>
          <a:p>
            <a:r>
              <a:rPr lang="en-US" dirty="0"/>
              <a:t>Remember, everything within the nested function will be invisible to the main program </a:t>
            </a:r>
          </a:p>
        </p:txBody>
      </p:sp>
    </p:spTree>
    <p:extLst>
      <p:ext uri="{BB962C8B-B14F-4D97-AF65-F5344CB8AC3E}">
        <p14:creationId xmlns:p14="http://schemas.microsoft.com/office/powerpoint/2010/main" val="79077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can actually be recursive</a:t>
            </a:r>
          </a:p>
          <a:p>
            <a:pPr lvl="1"/>
            <a:r>
              <a:rPr lang="en-US" dirty="0"/>
              <a:t>i.e., a function can call itself</a:t>
            </a:r>
          </a:p>
          <a:p>
            <a:endParaRPr lang="en-US" dirty="0"/>
          </a:p>
          <a:p>
            <a:r>
              <a:rPr lang="en-US" dirty="0"/>
              <a:t>Can be used to replace a bunch of for loops</a:t>
            </a:r>
          </a:p>
          <a:p>
            <a:endParaRPr lang="en-US" dirty="0"/>
          </a:p>
          <a:p>
            <a:r>
              <a:rPr lang="en-US" dirty="0"/>
              <a:t>This strikes me as dangerous but the option is there. </a:t>
            </a:r>
          </a:p>
        </p:txBody>
      </p:sp>
    </p:spTree>
    <p:extLst>
      <p:ext uri="{BB962C8B-B14F-4D97-AF65-F5344CB8AC3E}">
        <p14:creationId xmlns:p14="http://schemas.microsoft.com/office/powerpoint/2010/main" val="2602843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some functions you may want it to run even if not all arguments are present when the function is called</a:t>
            </a:r>
          </a:p>
          <a:p>
            <a:endParaRPr lang="en-US" dirty="0"/>
          </a:p>
          <a:p>
            <a:r>
              <a:rPr lang="en-US" dirty="0"/>
              <a:t>The easiest way to take care of this is to set default values using if statements and the </a:t>
            </a:r>
            <a:r>
              <a:rPr lang="en-US" dirty="0" err="1">
                <a:latin typeface="Courier New"/>
                <a:cs typeface="Courier New"/>
              </a:rPr>
              <a:t>nargin</a:t>
            </a:r>
            <a:r>
              <a:rPr lang="en-US" dirty="0"/>
              <a:t> command: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function </a:t>
            </a:r>
            <a:r>
              <a:rPr lang="en-US" dirty="0" err="1">
                <a:latin typeface="Courier New"/>
                <a:cs typeface="Courier New"/>
              </a:rPr>
              <a:t>myfcn</a:t>
            </a:r>
            <a:r>
              <a:rPr lang="en-US" dirty="0">
                <a:latin typeface="Courier New"/>
                <a:cs typeface="Courier New"/>
              </a:rPr>
              <a:t>(arg1,arg2,arg3)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if </a:t>
            </a:r>
            <a:r>
              <a:rPr lang="en-US" dirty="0" err="1">
                <a:latin typeface="Courier New"/>
                <a:cs typeface="Courier New"/>
              </a:rPr>
              <a:t>nargin</a:t>
            </a:r>
            <a:r>
              <a:rPr lang="en-US" dirty="0">
                <a:latin typeface="Courier New"/>
                <a:cs typeface="Courier New"/>
              </a:rPr>
              <a:t> &lt; 3</a:t>
            </a:r>
          </a:p>
          <a:p>
            <a:pPr marL="914400" lvl="2" indent="0">
              <a:buNone/>
            </a:pPr>
            <a:r>
              <a:rPr lang="en-US" dirty="0">
                <a:latin typeface="Courier New"/>
                <a:cs typeface="Courier New"/>
              </a:rPr>
              <a:t>arg3 = </a:t>
            </a:r>
            <a:r>
              <a:rPr lang="en-US" dirty="0" err="1">
                <a:latin typeface="Courier New"/>
                <a:cs typeface="Courier New"/>
              </a:rPr>
              <a:t>some_value</a:t>
            </a:r>
            <a:r>
              <a:rPr lang="en-US" dirty="0">
                <a:latin typeface="Courier New"/>
                <a:cs typeface="Courier New"/>
              </a:rPr>
              <a:t>;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end;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if </a:t>
            </a:r>
            <a:r>
              <a:rPr lang="en-US" dirty="0" err="1">
                <a:latin typeface="Courier New"/>
                <a:cs typeface="Courier New"/>
              </a:rPr>
              <a:t>nargin</a:t>
            </a:r>
            <a:r>
              <a:rPr lang="en-US" dirty="0">
                <a:latin typeface="Courier New"/>
                <a:cs typeface="Courier New"/>
              </a:rPr>
              <a:t> &lt; 2</a:t>
            </a:r>
          </a:p>
          <a:p>
            <a:pPr marL="914400" lvl="2" indent="0">
              <a:buNone/>
            </a:pPr>
            <a:r>
              <a:rPr lang="en-US" dirty="0">
                <a:latin typeface="Courier New"/>
                <a:cs typeface="Courier New"/>
              </a:rPr>
              <a:t>arg2 = </a:t>
            </a:r>
            <a:r>
              <a:rPr lang="en-US" dirty="0" err="1">
                <a:latin typeface="Courier New"/>
                <a:cs typeface="Courier New"/>
              </a:rPr>
              <a:t>some_other_value</a:t>
            </a:r>
            <a:r>
              <a:rPr lang="en-US" dirty="0">
                <a:latin typeface="Courier New"/>
                <a:cs typeface="Courier New"/>
              </a:rPr>
              <a:t>;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end;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end;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cs typeface="Courier New"/>
              </a:rPr>
              <a:t>Note that arguments must be called in order – can’t exclude 2 but include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851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04F1-7407-35E6-636E-57FA008A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7FB09-5DC4-B406-88F8-B6AE15436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49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All default functions in MATLAB (and pretty much any function that you get from a package) contain help files</a:t>
            </a:r>
          </a:p>
          <a:p>
            <a:endParaRPr lang="en-US" dirty="0"/>
          </a:p>
          <a:p>
            <a:r>
              <a:rPr lang="en-US" dirty="0"/>
              <a:t>To access the help file simply type help in front of the function name</a:t>
            </a:r>
          </a:p>
          <a:p>
            <a:endParaRPr lang="en-US" dirty="0"/>
          </a:p>
          <a:p>
            <a:r>
              <a:rPr lang="en-US" dirty="0"/>
              <a:t>Can create a help file for your function by simply adding a block of commented text: 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Function c = </a:t>
            </a:r>
            <a:r>
              <a:rPr lang="en-US" dirty="0" err="1">
                <a:latin typeface="Courier New"/>
                <a:cs typeface="Courier New"/>
              </a:rPr>
              <a:t>addme</a:t>
            </a:r>
            <a:r>
              <a:rPr lang="en-US" dirty="0">
                <a:latin typeface="Courier New"/>
                <a:cs typeface="Courier New"/>
              </a:rPr>
              <a:t>(</a:t>
            </a:r>
            <a:r>
              <a:rPr lang="en-US" dirty="0" err="1">
                <a:latin typeface="Courier New"/>
                <a:cs typeface="Courier New"/>
              </a:rPr>
              <a:t>a,b</a:t>
            </a:r>
            <a:r>
              <a:rPr lang="en-US" dirty="0">
                <a:latin typeface="Courier New"/>
                <a:cs typeface="Courier New"/>
              </a:rPr>
              <a:t>)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% ADDME Add two values together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%      C = ADDME(A) adds A to itself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%      C = ADDME(A,B) adds A and B together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%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%       See also SUM, PLUS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2574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Interacting with Functions and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are a number of things you can add into your scripts and functions to interact with them dynamically </a:t>
            </a:r>
          </a:p>
          <a:p>
            <a:endParaRPr lang="en-US" dirty="0"/>
          </a:p>
          <a:p>
            <a:r>
              <a:rPr lang="en-US" dirty="0"/>
              <a:t>E.g., you may want to get input from the user (you) at the beginning of the program or after certain things have been accomplished</a:t>
            </a:r>
          </a:p>
          <a:p>
            <a:endParaRPr lang="en-US" dirty="0"/>
          </a:p>
          <a:p>
            <a:r>
              <a:rPr lang="en-US" dirty="0"/>
              <a:t>To do this, specify an output argument for the text to be entered in the command window, and use the </a:t>
            </a:r>
            <a:r>
              <a:rPr lang="en-US" dirty="0">
                <a:latin typeface="Courier New"/>
                <a:cs typeface="Courier New"/>
              </a:rPr>
              <a:t>input</a:t>
            </a:r>
            <a:r>
              <a:rPr lang="en-US" dirty="0"/>
              <a:t> command:</a:t>
            </a:r>
          </a:p>
          <a:p>
            <a:endParaRPr lang="en-US" dirty="0"/>
          </a:p>
          <a:p>
            <a:pPr lvl="1">
              <a:buFont typeface="Lucida Grande"/>
              <a:buChar char="&gt;"/>
            </a:pPr>
            <a:r>
              <a:rPr lang="en-US" dirty="0" err="1">
                <a:latin typeface="Courier New"/>
                <a:cs typeface="Courier New"/>
              </a:rPr>
              <a:t>subjNumber</a:t>
            </a:r>
            <a:r>
              <a:rPr lang="en-US" dirty="0">
                <a:latin typeface="Courier New"/>
                <a:cs typeface="Courier New"/>
              </a:rPr>
              <a:t> = input(‘Please enter the subject number for this participant’);</a:t>
            </a:r>
          </a:p>
          <a:p>
            <a:pPr lvl="1">
              <a:buFont typeface="Lucida Grande"/>
              <a:buChar char="&gt;"/>
            </a:pPr>
            <a:endParaRPr lang="en-US" dirty="0">
              <a:latin typeface="Courier New"/>
              <a:cs typeface="Courier New"/>
            </a:endParaRPr>
          </a:p>
          <a:p>
            <a:pPr lvl="1"/>
            <a:endParaRPr lang="en-US" dirty="0">
              <a:latin typeface="Courier New"/>
              <a:cs typeface="Courier New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6139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Idiot-Proof Your Inputs!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of the things you will need to think about as a programmer is controlling for incorrect input from the user (e.g., you, RA, supervisor, etc.)</a:t>
            </a:r>
          </a:p>
          <a:p>
            <a:endParaRPr lang="en-US" dirty="0"/>
          </a:p>
          <a:p>
            <a:r>
              <a:rPr lang="en-US" dirty="0"/>
              <a:t>E.g., if you want them to input numbers, you need to ensure they are entering numbers and not letters. </a:t>
            </a:r>
          </a:p>
          <a:p>
            <a:endParaRPr lang="en-US" dirty="0"/>
          </a:p>
          <a:p>
            <a:r>
              <a:rPr lang="en-US" dirty="0"/>
              <a:t>Perfect example of where to use the while loops (“while waiting for the proper input…”)</a:t>
            </a:r>
          </a:p>
        </p:txBody>
      </p:sp>
    </p:spTree>
    <p:extLst>
      <p:ext uri="{BB962C8B-B14F-4D97-AF65-F5344CB8AC3E}">
        <p14:creationId xmlns:p14="http://schemas.microsoft.com/office/powerpoint/2010/main" val="4221859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– Catch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other function you can use both in your functions and when dealing with input is the try catch statements:</a:t>
            </a:r>
          </a:p>
          <a:p>
            <a:endParaRPr lang="en-US" dirty="0"/>
          </a:p>
          <a:p>
            <a:r>
              <a:rPr lang="en-US" dirty="0"/>
              <a:t>Will execute the commands within ‘try’ until it returns an error, then it will execute the catch commands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try</a:t>
            </a:r>
          </a:p>
          <a:p>
            <a:pPr marL="914400" lvl="2" indent="0">
              <a:buNone/>
            </a:pPr>
            <a:r>
              <a:rPr lang="en-US" dirty="0">
                <a:latin typeface="Courier New"/>
                <a:cs typeface="Courier New"/>
              </a:rPr>
              <a:t>Some commands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catch</a:t>
            </a:r>
          </a:p>
          <a:p>
            <a:pPr marL="914400" lvl="2" indent="0">
              <a:buNone/>
            </a:pPr>
            <a:r>
              <a:rPr lang="en-US" dirty="0">
                <a:latin typeface="Courier New"/>
                <a:cs typeface="Courier New"/>
              </a:rPr>
              <a:t>Some other commands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end %The ubiquitous end</a:t>
            </a:r>
          </a:p>
        </p:txBody>
      </p:sp>
    </p:spTree>
    <p:extLst>
      <p:ext uri="{BB962C8B-B14F-4D97-AF65-F5344CB8AC3E}">
        <p14:creationId xmlns:p14="http://schemas.microsoft.com/office/powerpoint/2010/main" val="181131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other things you can do with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/>
                <a:cs typeface="Courier New"/>
              </a:rPr>
              <a:t>\n: </a:t>
            </a:r>
            <a:r>
              <a:rPr lang="en-US" dirty="0">
                <a:cs typeface="Courier New"/>
              </a:rPr>
              <a:t>including this special character at the end of your input text will move the input to the next line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pause()</a:t>
            </a:r>
            <a:r>
              <a:rPr lang="en-US" dirty="0"/>
              <a:t>: stops the code until you press a key. </a:t>
            </a:r>
            <a:r>
              <a:rPr lang="en-US" dirty="0">
                <a:latin typeface="Courier New"/>
                <a:cs typeface="Courier New"/>
              </a:rPr>
              <a:t>pause(x)</a:t>
            </a:r>
            <a:r>
              <a:rPr lang="en-US" dirty="0"/>
              <a:t> will pause for x seconds. </a:t>
            </a:r>
          </a:p>
          <a:p>
            <a:endParaRPr lang="en-US" dirty="0"/>
          </a:p>
          <a:p>
            <a:r>
              <a:rPr lang="en-US" dirty="0" err="1">
                <a:latin typeface="Courier New"/>
                <a:cs typeface="Courier New"/>
              </a:rPr>
              <a:t>commandwindow</a:t>
            </a:r>
            <a:r>
              <a:rPr lang="en-US" dirty="0"/>
              <a:t>: opens the command window or focuses to the command window</a:t>
            </a:r>
          </a:p>
          <a:p>
            <a:endParaRPr lang="en-US" dirty="0"/>
          </a:p>
          <a:p>
            <a:r>
              <a:rPr lang="en-US" dirty="0">
                <a:latin typeface="Courier New"/>
                <a:cs typeface="Courier New"/>
              </a:rPr>
              <a:t>keyboard</a:t>
            </a:r>
            <a:r>
              <a:rPr lang="en-US" dirty="0"/>
              <a:t>: gives control to the keyboard mid function</a:t>
            </a:r>
          </a:p>
          <a:p>
            <a:endParaRPr lang="en-US" dirty="0"/>
          </a:p>
          <a:p>
            <a:r>
              <a:rPr lang="en-US" dirty="0" err="1">
                <a:latin typeface="Courier New"/>
                <a:cs typeface="Courier New"/>
              </a:rPr>
              <a:t>disp</a:t>
            </a:r>
            <a:r>
              <a:rPr lang="en-US" dirty="0">
                <a:latin typeface="Courier New"/>
                <a:cs typeface="Courier New"/>
              </a:rPr>
              <a:t>(‘string’)</a:t>
            </a:r>
            <a:r>
              <a:rPr lang="en-US" dirty="0"/>
              <a:t>: displays the text ‘string’ on the terminal window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325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F261F-9F6C-B00B-6A58-3A6E3E3AC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7537B-B599-7E5D-F6B4-BED8CDAE4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122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obviously behaves differently than numbers, so requires slightly different commands to deal with </a:t>
            </a:r>
          </a:p>
          <a:p>
            <a:endParaRPr lang="en-US" dirty="0"/>
          </a:p>
          <a:p>
            <a:r>
              <a:rPr lang="en-US" dirty="0"/>
              <a:t>Can obtain the </a:t>
            </a:r>
            <a:r>
              <a:rPr lang="en-US" dirty="0" err="1"/>
              <a:t>ascii</a:t>
            </a:r>
            <a:r>
              <a:rPr lang="en-US" dirty="0"/>
              <a:t> values of any text simply by converting it to double: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double(‘this is some text’)</a:t>
            </a:r>
          </a:p>
          <a:p>
            <a:endParaRPr lang="en-US" dirty="0"/>
          </a:p>
          <a:p>
            <a:r>
              <a:rPr lang="en-US" dirty="0"/>
              <a:t>Can change back to characters using </a:t>
            </a:r>
            <a:r>
              <a:rPr lang="en-US" dirty="0">
                <a:latin typeface="Courier New"/>
                <a:cs typeface="Courier New"/>
              </a:rPr>
              <a:t>char()</a:t>
            </a:r>
          </a:p>
        </p:txBody>
      </p:sp>
    </p:spTree>
    <p:extLst>
      <p:ext uri="{BB962C8B-B14F-4D97-AF65-F5344CB8AC3E}">
        <p14:creationId xmlns:p14="http://schemas.microsoft.com/office/powerpoint/2010/main" val="829224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and Modifying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You can compare two groups of strings using the </a:t>
            </a:r>
            <a:r>
              <a:rPr lang="en-US" dirty="0" err="1"/>
              <a:t>strcomp</a:t>
            </a:r>
            <a:r>
              <a:rPr lang="en-US" dirty="0"/>
              <a:t> command: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‘apples’ == ‘oranges’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strcmp</a:t>
            </a:r>
            <a:r>
              <a:rPr lang="en-US" dirty="0">
                <a:latin typeface="Courier New"/>
                <a:cs typeface="Courier New"/>
              </a:rPr>
              <a:t>(‘apples’, ‘oranges’)</a:t>
            </a:r>
          </a:p>
          <a:p>
            <a:endParaRPr lang="en-US" dirty="0"/>
          </a:p>
          <a:p>
            <a:r>
              <a:rPr lang="en-US" dirty="0"/>
              <a:t>Can ignore case by using </a:t>
            </a:r>
            <a:r>
              <a:rPr lang="en-US" dirty="0" err="1">
                <a:latin typeface="Courier New"/>
                <a:cs typeface="Courier New"/>
              </a:rPr>
              <a:t>strcmpi</a:t>
            </a:r>
            <a:endParaRPr lang="en-US" dirty="0">
              <a:latin typeface="Courier New"/>
              <a:cs typeface="Courier New"/>
            </a:endParaRPr>
          </a:p>
          <a:p>
            <a:endParaRPr lang="en-US" dirty="0"/>
          </a:p>
          <a:p>
            <a:r>
              <a:rPr lang="en-US" dirty="0" err="1"/>
              <a:t>strfind</a:t>
            </a:r>
            <a:r>
              <a:rPr lang="en-US" dirty="0"/>
              <a:t> will find return the first character in the first string where the second string occurs</a:t>
            </a:r>
          </a:p>
          <a:p>
            <a:endParaRPr lang="en-US" dirty="0"/>
          </a:p>
          <a:p>
            <a:pPr lvl="1"/>
            <a:r>
              <a:rPr lang="en-US" dirty="0" err="1">
                <a:latin typeface="Courier New"/>
                <a:cs typeface="Courier New"/>
              </a:rPr>
              <a:t>Strfind</a:t>
            </a:r>
            <a:r>
              <a:rPr lang="en-US" dirty="0"/>
              <a:t>( ‘where in the world is </a:t>
            </a:r>
            <a:r>
              <a:rPr lang="en-US" dirty="0" err="1"/>
              <a:t>carmen</a:t>
            </a:r>
            <a:r>
              <a:rPr lang="en-US" dirty="0"/>
              <a:t> </a:t>
            </a:r>
            <a:r>
              <a:rPr lang="en-US" dirty="0" err="1"/>
              <a:t>sandiego</a:t>
            </a:r>
            <a:r>
              <a:rPr lang="en-US" dirty="0"/>
              <a:t>’, ‘</a:t>
            </a:r>
            <a:r>
              <a:rPr lang="en-US" dirty="0" err="1"/>
              <a:t>carmen</a:t>
            </a:r>
            <a:r>
              <a:rPr lang="en-US" dirty="0"/>
              <a:t> </a:t>
            </a:r>
            <a:r>
              <a:rPr lang="en-US" dirty="0" err="1"/>
              <a:t>sandiego</a:t>
            </a:r>
            <a:r>
              <a:rPr lang="en-US" dirty="0"/>
              <a:t>’)</a:t>
            </a:r>
          </a:p>
          <a:p>
            <a:endParaRPr lang="en-US" dirty="0"/>
          </a:p>
          <a:p>
            <a:r>
              <a:rPr lang="en-US" dirty="0" err="1">
                <a:latin typeface="Courier New"/>
                <a:cs typeface="Courier New"/>
              </a:rPr>
              <a:t>strrep</a:t>
            </a:r>
            <a:r>
              <a:rPr lang="en-US" dirty="0"/>
              <a:t> replaces text B -&gt; A in the first string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strrep</a:t>
            </a:r>
            <a:r>
              <a:rPr lang="en-US" dirty="0">
                <a:latin typeface="Courier New"/>
                <a:cs typeface="Courier New"/>
              </a:rPr>
              <a:t>(‘a a a a ‘, ‘ ‘, [])</a:t>
            </a:r>
          </a:p>
        </p:txBody>
      </p:sp>
    </p:spTree>
    <p:extLst>
      <p:ext uri="{BB962C8B-B14F-4D97-AF65-F5344CB8AC3E}">
        <p14:creationId xmlns:p14="http://schemas.microsoft.com/office/powerpoint/2010/main" val="3773806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084AB-3C45-4943-ADC1-9CEBE90E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Concatenating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51507-C320-F740-BD92-2757E0649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Vectorizing strings will combine strings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[‘some text’ ‘some 	more text’]</a:t>
            </a:r>
          </a:p>
          <a:p>
            <a:endParaRPr lang="en-US" dirty="0"/>
          </a:p>
          <a:p>
            <a:r>
              <a:rPr lang="en-US" dirty="0"/>
              <a:t>Can be useful for dealing with variables: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‘hello’;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&gt; myString2 = [‘I would like to 	say ‘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‘to you’] </a:t>
            </a:r>
          </a:p>
        </p:txBody>
      </p:sp>
    </p:spTree>
    <p:extLst>
      <p:ext uri="{BB962C8B-B14F-4D97-AF65-F5344CB8AC3E}">
        <p14:creationId xmlns:p14="http://schemas.microsoft.com/office/powerpoint/2010/main" val="22992954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the last lesson, we used the ‘s’ in the input command to indicate that the response should be interpreted as a string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		</a:t>
            </a:r>
            <a:r>
              <a:rPr lang="en-US" dirty="0" err="1">
                <a:latin typeface="Courier New"/>
                <a:cs typeface="Courier New"/>
              </a:rPr>
              <a:t>inputText</a:t>
            </a:r>
            <a:r>
              <a:rPr lang="en-US" dirty="0">
                <a:latin typeface="Courier New"/>
                <a:cs typeface="Courier New"/>
              </a:rPr>
              <a:t> = input(‘Please enter some text 		here’, ‘s’)</a:t>
            </a:r>
          </a:p>
          <a:p>
            <a:endParaRPr lang="en-US" dirty="0"/>
          </a:p>
          <a:p>
            <a:r>
              <a:rPr lang="en-US" dirty="0"/>
              <a:t>There are other times where it’s necessary to format inputs or outputs:</a:t>
            </a:r>
          </a:p>
          <a:p>
            <a:pPr lvl="1"/>
            <a:r>
              <a:rPr lang="en-US" dirty="0"/>
              <a:t>%s : string</a:t>
            </a:r>
          </a:p>
          <a:p>
            <a:pPr lvl="1"/>
            <a:r>
              <a:rPr lang="en-US" dirty="0"/>
              <a:t>%d : double</a:t>
            </a:r>
          </a:p>
          <a:p>
            <a:pPr lvl="1"/>
            <a:r>
              <a:rPr lang="en-US" dirty="0"/>
              <a:t>%e : scientific notation</a:t>
            </a:r>
          </a:p>
          <a:p>
            <a:pPr lvl="1"/>
            <a:r>
              <a:rPr lang="en-US" dirty="0"/>
              <a:t>%f : decimal (floating point)</a:t>
            </a:r>
          </a:p>
          <a:p>
            <a:endParaRPr lang="en-US" dirty="0"/>
          </a:p>
          <a:p>
            <a:r>
              <a:rPr lang="en-US" dirty="0"/>
              <a:t>Other special characters as well: </a:t>
            </a:r>
          </a:p>
          <a:p>
            <a:pPr lvl="1"/>
            <a:r>
              <a:rPr lang="en-US" dirty="0"/>
              <a:t>\t : tab</a:t>
            </a:r>
          </a:p>
          <a:p>
            <a:pPr lvl="1"/>
            <a:r>
              <a:rPr lang="en-US" dirty="0"/>
              <a:t>\n: new 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23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These characters can be useful to control inputs/outputs</a:t>
            </a:r>
          </a:p>
          <a:p>
            <a:endParaRPr lang="en-US" dirty="0"/>
          </a:p>
          <a:p>
            <a:r>
              <a:rPr lang="en-US" dirty="0"/>
              <a:t>To do so, use the </a:t>
            </a:r>
            <a:r>
              <a:rPr lang="en-US" dirty="0" err="1">
                <a:latin typeface="Courier New"/>
                <a:cs typeface="Courier New"/>
              </a:rPr>
              <a:t>sprintf</a:t>
            </a:r>
            <a:r>
              <a:rPr lang="en-US" dirty="0"/>
              <a:t> command (string print format)</a:t>
            </a:r>
          </a:p>
          <a:p>
            <a:endParaRPr lang="en-US" dirty="0"/>
          </a:p>
          <a:p>
            <a:r>
              <a:rPr lang="en-US" dirty="0"/>
              <a:t>Format the text by telling it what the input variable is: 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name = input(‘What is your name?’, ‘s’)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greeting = </a:t>
            </a:r>
            <a:r>
              <a:rPr lang="en-US" dirty="0" err="1">
                <a:latin typeface="Courier New"/>
                <a:cs typeface="Courier New"/>
              </a:rPr>
              <a:t>sprintf</a:t>
            </a:r>
            <a:r>
              <a:rPr lang="en-US" dirty="0">
                <a:latin typeface="Courier New"/>
                <a:cs typeface="Courier New"/>
              </a:rPr>
              <a:t>(‘Hello, %s, welcome to your program.’, name)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greeting</a:t>
            </a:r>
          </a:p>
          <a:p>
            <a:endParaRPr lang="en-US" dirty="0"/>
          </a:p>
          <a:p>
            <a:r>
              <a:rPr lang="en-US" dirty="0"/>
              <a:t>In this version the first occurrence of the %s indicates the kind of variable that will be passed by the variable after the string of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2735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 you have more than one variable, they are passed in sequence:</a:t>
            </a:r>
          </a:p>
          <a:p>
            <a:endParaRPr lang="en-US" dirty="0"/>
          </a:p>
          <a:p>
            <a:pPr lvl="1"/>
            <a:r>
              <a:rPr lang="en-US" dirty="0">
                <a:latin typeface="Courier New"/>
                <a:cs typeface="Courier New"/>
              </a:rPr>
              <a:t>condition = ‘random’;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blocks = 5;</a:t>
            </a:r>
          </a:p>
          <a:p>
            <a:pPr lvl="1"/>
            <a:r>
              <a:rPr lang="en-US" dirty="0" err="1">
                <a:latin typeface="Courier New"/>
                <a:cs typeface="Courier New"/>
              </a:rPr>
              <a:t>sprintf</a:t>
            </a:r>
            <a:r>
              <a:rPr lang="en-US" dirty="0">
                <a:latin typeface="Courier New"/>
                <a:cs typeface="Courier New"/>
              </a:rPr>
              <a:t>(‘the condition you are running is %s and the number of blocks you are running is %d’, condition, blocks);</a:t>
            </a:r>
          </a:p>
          <a:p>
            <a:endParaRPr lang="en-US" dirty="0"/>
          </a:p>
          <a:p>
            <a:r>
              <a:rPr lang="en-US" dirty="0"/>
              <a:t>If you place \t or \n in the next it will be read as a new line or a tab</a:t>
            </a:r>
          </a:p>
          <a:p>
            <a:endParaRPr lang="en-US" dirty="0"/>
          </a:p>
          <a:p>
            <a:pPr lvl="1"/>
            <a:r>
              <a:rPr lang="en-US" dirty="0" err="1">
                <a:latin typeface="Courier New"/>
                <a:cs typeface="Courier New"/>
              </a:rPr>
              <a:t>sprintf</a:t>
            </a:r>
            <a:r>
              <a:rPr lang="en-US" dirty="0">
                <a:latin typeface="Courier New"/>
                <a:cs typeface="Courier New"/>
              </a:rPr>
              <a:t>(‘Here is a line./n/n/</a:t>
            </a:r>
            <a:r>
              <a:rPr lang="en-US" dirty="0" err="1">
                <a:latin typeface="Courier New"/>
                <a:cs typeface="Courier New"/>
              </a:rPr>
              <a:t>tHere</a:t>
            </a:r>
            <a:r>
              <a:rPr lang="en-US" dirty="0">
                <a:latin typeface="Courier New"/>
                <a:cs typeface="Courier New"/>
              </a:rPr>
              <a:t> is a line that is moved over.’)</a:t>
            </a:r>
          </a:p>
        </p:txBody>
      </p:sp>
    </p:spTree>
    <p:extLst>
      <p:ext uri="{BB962C8B-B14F-4D97-AF65-F5344CB8AC3E}">
        <p14:creationId xmlns:p14="http://schemas.microsoft.com/office/powerpoint/2010/main" val="16908236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include % or ‘ characters, you need to just use %% or ‘’</a:t>
            </a:r>
          </a:p>
          <a:p>
            <a:endParaRPr lang="en-US" dirty="0"/>
          </a:p>
          <a:p>
            <a:r>
              <a:rPr lang="en-US" dirty="0"/>
              <a:t>Useful for those tricky filenames</a:t>
            </a:r>
          </a:p>
          <a:p>
            <a:endParaRPr lang="en-US" dirty="0"/>
          </a:p>
          <a:p>
            <a:r>
              <a:rPr lang="en-US" dirty="0">
                <a:latin typeface="Courier New"/>
                <a:cs typeface="Courier New"/>
              </a:rPr>
              <a:t>filename = </a:t>
            </a:r>
            <a:r>
              <a:rPr lang="en-US" dirty="0" err="1">
                <a:latin typeface="Courier New"/>
                <a:cs typeface="Courier New"/>
              </a:rPr>
              <a:t>sprintf</a:t>
            </a:r>
            <a:r>
              <a:rPr lang="en-US" dirty="0">
                <a:latin typeface="Courier New"/>
                <a:cs typeface="Courier New"/>
              </a:rPr>
              <a:t>(‘100%% condition ‘’);</a:t>
            </a:r>
          </a:p>
        </p:txBody>
      </p:sp>
    </p:spTree>
    <p:extLst>
      <p:ext uri="{BB962C8B-B14F-4D97-AF65-F5344CB8AC3E}">
        <p14:creationId xmlns:p14="http://schemas.microsoft.com/office/powerpoint/2010/main" val="5076035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fprintf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fprintf</a:t>
            </a:r>
            <a:r>
              <a:rPr lang="en-US" dirty="0"/>
              <a:t> (file print format) lets you format the way your data are presented</a:t>
            </a:r>
          </a:p>
          <a:p>
            <a:endParaRPr lang="en-US" dirty="0"/>
          </a:p>
          <a:p>
            <a:r>
              <a:rPr lang="en-US" dirty="0"/>
              <a:t>Although you will be using this to create files, the ‘file print format’ doesn’t only need to be used to create files</a:t>
            </a:r>
          </a:p>
          <a:p>
            <a:endParaRPr lang="en-US" dirty="0"/>
          </a:p>
          <a:p>
            <a:r>
              <a:rPr lang="en-US" dirty="0"/>
              <a:t>The first argument specifies the format of the text, as well as special characters, the second argument contains the text</a:t>
            </a:r>
          </a:p>
          <a:p>
            <a:endParaRPr lang="en-US" dirty="0"/>
          </a:p>
          <a:p>
            <a:r>
              <a:rPr lang="en-US" dirty="0"/>
              <a:t>As with </a:t>
            </a:r>
            <a:r>
              <a:rPr lang="en-US" dirty="0" err="1"/>
              <a:t>sprintf</a:t>
            </a:r>
            <a:r>
              <a:rPr lang="en-US" dirty="0"/>
              <a:t> the ‘text’ passed to it can be numbers, just has to be specified</a:t>
            </a:r>
          </a:p>
        </p:txBody>
      </p:sp>
    </p:spTree>
    <p:extLst>
      <p:ext uri="{BB962C8B-B14F-4D97-AF65-F5344CB8AC3E}">
        <p14:creationId xmlns:p14="http://schemas.microsoft.com/office/powerpoint/2010/main" val="19192567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fprintf</a:t>
            </a:r>
            <a:r>
              <a:rPr lang="en-US" dirty="0"/>
              <a:t> examples: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('%s\n', '</a:t>
            </a:r>
            <a:r>
              <a:rPr lang="en-US" dirty="0" err="1">
                <a:latin typeface="Courier New"/>
                <a:cs typeface="Courier New"/>
              </a:rPr>
              <a:t>Here''s</a:t>
            </a:r>
            <a:r>
              <a:rPr lang="en-US" dirty="0">
                <a:latin typeface="Courier New"/>
                <a:cs typeface="Courier New"/>
              </a:rPr>
              <a:t> some text, followed by a new line.’)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('%d\n', [1:10])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('%d\t', [1:10])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(‘%f\n’, [1:10])</a:t>
            </a:r>
          </a:p>
          <a:p>
            <a:endParaRPr lang="en-US" dirty="0"/>
          </a:p>
          <a:p>
            <a:r>
              <a:rPr lang="en-US" dirty="0"/>
              <a:t>You can also change the format of numbers by specifying the length and number of decimals:</a:t>
            </a:r>
          </a:p>
          <a:p>
            <a:r>
              <a:rPr lang="en-US" dirty="0"/>
              <a:t>%6.2f = 6 characters, 2 decimals </a:t>
            </a:r>
          </a:p>
          <a:p>
            <a:endParaRPr lang="en-US" dirty="0"/>
          </a:p>
          <a:p>
            <a:pPr marL="400050" lvl="2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(‘%6.2f\n’, [1:10])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9231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fprintf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\t character is the ‘tab’ character, which you can use to create tab-delimited files for SPSS or Excel: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(‘%6.2f\t’,[1:10])</a:t>
            </a:r>
          </a:p>
          <a:p>
            <a:endParaRPr lang="en-US" dirty="0"/>
          </a:p>
          <a:p>
            <a:r>
              <a:rPr lang="en-US" dirty="0"/>
              <a:t>However, if you have to specify different formats in a line (row) they need to be done so separately: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A = [1:2:5];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text = ‘condition name’;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(‘%6d\t’, A)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(‘%s\t’, text);</a:t>
            </a:r>
          </a:p>
          <a:p>
            <a:pPr lvl="1"/>
            <a:endParaRPr lang="en-US" dirty="0"/>
          </a:p>
          <a:p>
            <a:r>
              <a:rPr lang="en-US" dirty="0"/>
              <a:t>Better way: </a:t>
            </a:r>
          </a:p>
          <a:p>
            <a:pPr marL="457200" lvl="1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(‘%6d\</a:t>
            </a:r>
            <a:r>
              <a:rPr lang="en-US" dirty="0" err="1">
                <a:latin typeface="Courier New"/>
                <a:cs typeface="Courier New"/>
              </a:rPr>
              <a:t>t%s</a:t>
            </a:r>
            <a:r>
              <a:rPr lang="en-US" dirty="0">
                <a:latin typeface="Courier New"/>
                <a:cs typeface="Courier New"/>
              </a:rPr>
              <a:t>\t’, A, text);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4102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to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use </a:t>
            </a:r>
            <a:r>
              <a:rPr lang="en-US" dirty="0" err="1"/>
              <a:t>fprintf</a:t>
            </a:r>
            <a:r>
              <a:rPr lang="en-US" dirty="0"/>
              <a:t> to write data to a file using these steps: </a:t>
            </a:r>
          </a:p>
          <a:p>
            <a:endParaRPr lang="en-US" dirty="0"/>
          </a:p>
          <a:p>
            <a:pPr lvl="1"/>
            <a:r>
              <a:rPr lang="en-US" dirty="0"/>
              <a:t>First have to open the file using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fopen</a:t>
            </a:r>
            <a:r>
              <a:rPr lang="en-US" dirty="0"/>
              <a:t> command</a:t>
            </a:r>
          </a:p>
          <a:p>
            <a:pPr lvl="1"/>
            <a:r>
              <a:rPr lang="en-US" dirty="0"/>
              <a:t>Second, have to enable writing of the file, by passing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Third, pass the file ID (‘fid’) to the </a:t>
            </a:r>
            <a:r>
              <a:rPr lang="en-US" dirty="0" err="1"/>
              <a:t>fprintf</a:t>
            </a:r>
            <a:r>
              <a:rPr lang="en-US" dirty="0"/>
              <a:t> command</a:t>
            </a:r>
          </a:p>
          <a:p>
            <a:pPr lvl="1"/>
            <a:r>
              <a:rPr lang="en-US" dirty="0"/>
              <a:t>Fourth, close the file</a:t>
            </a:r>
          </a:p>
        </p:txBody>
      </p:sp>
    </p:spTree>
    <p:extLst>
      <p:ext uri="{BB962C8B-B14F-4D97-AF65-F5344CB8AC3E}">
        <p14:creationId xmlns:p14="http://schemas.microsoft.com/office/powerpoint/2010/main" val="5803766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to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fid = </a:t>
            </a:r>
            <a:r>
              <a:rPr lang="en-US" dirty="0" err="1">
                <a:latin typeface="Courier New"/>
                <a:cs typeface="Courier New"/>
              </a:rPr>
              <a:t>fopen</a:t>
            </a:r>
            <a:r>
              <a:rPr lang="en-US" dirty="0">
                <a:latin typeface="Courier New"/>
                <a:cs typeface="Courier New"/>
              </a:rPr>
              <a:t>(‘</a:t>
            </a:r>
            <a:r>
              <a:rPr lang="en-US" dirty="0" err="1">
                <a:latin typeface="Courier New"/>
                <a:cs typeface="Courier New"/>
              </a:rPr>
              <a:t>myFile.txt</a:t>
            </a:r>
            <a:r>
              <a:rPr lang="en-US" dirty="0">
                <a:latin typeface="Courier New"/>
                <a:cs typeface="Courier New"/>
              </a:rPr>
              <a:t>’, ‘</a:t>
            </a:r>
            <a:r>
              <a:rPr lang="en-US" dirty="0" err="1">
                <a:latin typeface="Courier New"/>
                <a:cs typeface="Courier New"/>
              </a:rPr>
              <a:t>wt</a:t>
            </a:r>
            <a:r>
              <a:rPr lang="en-US" dirty="0">
                <a:latin typeface="Courier New"/>
                <a:cs typeface="Courier New"/>
              </a:rPr>
              <a:t>’);</a:t>
            </a:r>
          </a:p>
          <a:p>
            <a:pPr marL="0" indent="0">
              <a:buNone/>
            </a:pPr>
            <a:r>
              <a:rPr lang="en-US" dirty="0" err="1">
                <a:latin typeface="Courier New"/>
                <a:cs typeface="Courier New"/>
              </a:rPr>
              <a:t>rr</a:t>
            </a:r>
            <a:r>
              <a:rPr lang="en-US" dirty="0">
                <a:latin typeface="Courier New"/>
                <a:cs typeface="Courier New"/>
              </a:rPr>
              <a:t> = [1.1:5.1];</a:t>
            </a:r>
          </a:p>
          <a:p>
            <a:pPr marL="0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(fid,’%3.2f\t’,</a:t>
            </a:r>
            <a:r>
              <a:rPr lang="en-US" dirty="0" err="1">
                <a:latin typeface="Courier New"/>
                <a:cs typeface="Courier New"/>
              </a:rPr>
              <a:t>rr</a:t>
            </a:r>
            <a:r>
              <a:rPr lang="en-US" dirty="0">
                <a:latin typeface="Courier New"/>
                <a:cs typeface="Courier New"/>
              </a:rPr>
              <a:t>);</a:t>
            </a:r>
          </a:p>
          <a:p>
            <a:pPr marL="0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(fid,’\n’);</a:t>
            </a:r>
          </a:p>
          <a:p>
            <a:pPr marL="0" indent="0">
              <a:buNone/>
            </a:pPr>
            <a:r>
              <a:rPr lang="en-US" dirty="0" err="1">
                <a:latin typeface="Courier New"/>
                <a:cs typeface="Courier New"/>
              </a:rPr>
              <a:t>fprintf</a:t>
            </a:r>
            <a:r>
              <a:rPr lang="en-US" dirty="0">
                <a:latin typeface="Courier New"/>
                <a:cs typeface="Courier New"/>
              </a:rPr>
              <a:t>(fid,’%3.2f\t’,</a:t>
            </a:r>
            <a:r>
              <a:rPr lang="en-US" dirty="0" err="1">
                <a:latin typeface="Courier New"/>
                <a:cs typeface="Courier New"/>
              </a:rPr>
              <a:t>rr</a:t>
            </a:r>
            <a:r>
              <a:rPr lang="en-US" dirty="0">
                <a:latin typeface="Courier New"/>
                <a:cs typeface="Courier New"/>
              </a:rPr>
              <a:t> + 2);</a:t>
            </a:r>
          </a:p>
          <a:p>
            <a:pPr marL="0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dirty="0" err="1">
                <a:latin typeface="Courier New"/>
                <a:cs typeface="Courier New"/>
              </a:rPr>
              <a:t>fclose</a:t>
            </a:r>
            <a:r>
              <a:rPr lang="en-US" dirty="0">
                <a:latin typeface="Courier New"/>
                <a:cs typeface="Courier New"/>
              </a:rPr>
              <a:t>(fid);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5853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dlmwrite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Often you can simplify things for writing to excel or SPSS files (or for saving data for other purposes) by using the </a:t>
            </a:r>
            <a:r>
              <a:rPr lang="en-US" dirty="0" err="1"/>
              <a:t>dlmwrite</a:t>
            </a:r>
            <a:r>
              <a:rPr lang="en-US" dirty="0"/>
              <a:t> command</a:t>
            </a:r>
          </a:p>
          <a:p>
            <a:endParaRPr lang="en-US" dirty="0"/>
          </a:p>
          <a:p>
            <a:r>
              <a:rPr lang="en-US" dirty="0"/>
              <a:t>Writes a delimited </a:t>
            </a:r>
            <a:r>
              <a:rPr lang="en-US" dirty="0" err="1"/>
              <a:t>ascii</a:t>
            </a:r>
            <a:r>
              <a:rPr lang="en-US" dirty="0"/>
              <a:t> file</a:t>
            </a:r>
          </a:p>
          <a:p>
            <a:endParaRPr lang="en-US" dirty="0"/>
          </a:p>
          <a:p>
            <a:r>
              <a:rPr lang="en-US" dirty="0"/>
              <a:t>Default is to use the comma as the character (comma delimited file)</a:t>
            </a:r>
          </a:p>
          <a:p>
            <a:endParaRPr lang="en-US" dirty="0"/>
          </a:p>
          <a:p>
            <a:r>
              <a:rPr lang="en-US" dirty="0"/>
              <a:t>Can specify it as well</a:t>
            </a:r>
          </a:p>
          <a:p>
            <a:endParaRPr lang="en-US" dirty="0"/>
          </a:p>
          <a:p>
            <a:pPr lvl="1"/>
            <a:r>
              <a:rPr lang="en-US" dirty="0" err="1"/>
              <a:t>dlmwrite</a:t>
            </a:r>
            <a:r>
              <a:rPr lang="en-US" dirty="0"/>
              <a:t>(‘</a:t>
            </a:r>
            <a:r>
              <a:rPr lang="en-US" dirty="0" err="1"/>
              <a:t>mydata.dat</a:t>
            </a:r>
            <a:r>
              <a:rPr lang="en-US" dirty="0"/>
              <a:t>’, </a:t>
            </a:r>
            <a:r>
              <a:rPr lang="en-US" dirty="0" err="1"/>
              <a:t>myMatrix</a:t>
            </a:r>
            <a:r>
              <a:rPr lang="en-US" dirty="0"/>
              <a:t>, ‘\t’);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4976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B0133-20FE-2B4C-9C4A-81521138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67C81-4743-244F-AC3E-9FA5C979C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easiest way to import is to copy and paste (try it!)</a:t>
            </a:r>
          </a:p>
          <a:p>
            <a:endParaRPr lang="en-US" dirty="0"/>
          </a:p>
          <a:p>
            <a:r>
              <a:rPr lang="en-US" dirty="0"/>
              <a:t>Definitely will catch flack from “real” programmers</a:t>
            </a:r>
          </a:p>
          <a:p>
            <a:endParaRPr lang="en-US" dirty="0"/>
          </a:p>
          <a:p>
            <a:r>
              <a:rPr lang="en-US" dirty="0"/>
              <a:t>There is also an “import data” tool in the main window</a:t>
            </a:r>
          </a:p>
          <a:p>
            <a:pPr lvl="1"/>
            <a:r>
              <a:rPr lang="en-US" dirty="0"/>
              <a:t>Will produce code for you</a:t>
            </a:r>
          </a:p>
        </p:txBody>
      </p:sp>
    </p:spTree>
    <p:extLst>
      <p:ext uri="{BB962C8B-B14F-4D97-AF65-F5344CB8AC3E}">
        <p14:creationId xmlns:p14="http://schemas.microsoft.com/office/powerpoint/2010/main" val="34439369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 can read files in a number of different ways:</a:t>
            </a:r>
          </a:p>
          <a:p>
            <a:endParaRPr lang="en-US" dirty="0"/>
          </a:p>
          <a:p>
            <a:r>
              <a:rPr lang="en-US" dirty="0">
                <a:latin typeface="Courier New"/>
                <a:cs typeface="Courier New"/>
              </a:rPr>
              <a:t>read() </a:t>
            </a:r>
            <a:r>
              <a:rPr lang="en-US" dirty="0"/>
              <a:t>can be used to read simple text files</a:t>
            </a:r>
          </a:p>
          <a:p>
            <a:endParaRPr lang="en-US" dirty="0"/>
          </a:p>
          <a:p>
            <a:r>
              <a:rPr lang="en-US" dirty="0"/>
              <a:t>Can also use </a:t>
            </a:r>
            <a:r>
              <a:rPr lang="en-US" dirty="0" err="1">
                <a:latin typeface="Courier New"/>
                <a:cs typeface="Courier New"/>
              </a:rPr>
              <a:t>fopen</a:t>
            </a:r>
            <a:r>
              <a:rPr lang="en-US" dirty="0"/>
              <a:t> in combination with </a:t>
            </a:r>
            <a:r>
              <a:rPr lang="en-US" dirty="0" err="1">
                <a:latin typeface="Courier New"/>
                <a:cs typeface="Courier New"/>
              </a:rPr>
              <a:t>fgetl</a:t>
            </a:r>
            <a:r>
              <a:rPr lang="en-US" dirty="0">
                <a:latin typeface="Courier New"/>
                <a:cs typeface="Courier New"/>
              </a:rPr>
              <a:t>() </a:t>
            </a:r>
            <a:r>
              <a:rPr lang="en-US" dirty="0"/>
              <a:t>to read a file line by line</a:t>
            </a:r>
          </a:p>
          <a:p>
            <a:endParaRPr lang="en-US" dirty="0"/>
          </a:p>
          <a:p>
            <a:r>
              <a:rPr lang="en-US" dirty="0" err="1">
                <a:latin typeface="Courier New"/>
                <a:cs typeface="Courier New"/>
              </a:rPr>
              <a:t>dlmread</a:t>
            </a:r>
            <a:r>
              <a:rPr lang="en-US" dirty="0">
                <a:latin typeface="Courier New"/>
                <a:cs typeface="Courier New"/>
              </a:rPr>
              <a:t>() </a:t>
            </a:r>
            <a:r>
              <a:rPr lang="en-US" dirty="0"/>
              <a:t>can be used to read delimited files</a:t>
            </a:r>
          </a:p>
          <a:p>
            <a:pPr lvl="1"/>
            <a:r>
              <a:rPr lang="en-US" dirty="0"/>
              <a:t>As with </a:t>
            </a:r>
            <a:r>
              <a:rPr lang="en-US" dirty="0" err="1"/>
              <a:t>dlmwrite</a:t>
            </a:r>
            <a:r>
              <a:rPr lang="en-US" dirty="0"/>
              <a:t>, can specify the delimiter character, but can also specify a row + column offset (to get rid of headers or extra text)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result = </a:t>
            </a:r>
            <a:r>
              <a:rPr lang="en-US" dirty="0" err="1">
                <a:latin typeface="Courier New"/>
                <a:cs typeface="Courier New"/>
              </a:rPr>
              <a:t>dlmread</a:t>
            </a:r>
            <a:r>
              <a:rPr lang="en-US" dirty="0">
                <a:latin typeface="Courier New"/>
                <a:cs typeface="Courier New"/>
              </a:rPr>
              <a:t>(‘filename.dat’,’,’,1,0)</a:t>
            </a:r>
          </a:p>
        </p:txBody>
      </p:sp>
    </p:spTree>
    <p:extLst>
      <p:ext uri="{BB962C8B-B14F-4D97-AF65-F5344CB8AC3E}">
        <p14:creationId xmlns:p14="http://schemas.microsoft.com/office/powerpoint/2010/main" val="18120716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DC31-5DCB-5947-B1D1-E38315120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7EBFC-D8E8-FF43-974F-5702F829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‘</a:t>
            </a:r>
            <a:r>
              <a:rPr lang="en-US" dirty="0" err="1"/>
              <a:t>Eval</a:t>
            </a:r>
            <a:r>
              <a:rPr lang="en-US" dirty="0"/>
              <a:t>’ can be called to execute functions within text</a:t>
            </a:r>
          </a:p>
          <a:p>
            <a:endParaRPr lang="en-US" dirty="0"/>
          </a:p>
          <a:p>
            <a:r>
              <a:rPr lang="en-US" b="1" dirty="0"/>
              <a:t>Often NOT recommended</a:t>
            </a:r>
            <a:endParaRPr lang="en-US" dirty="0"/>
          </a:p>
          <a:p>
            <a:pPr lvl="1"/>
            <a:r>
              <a:rPr lang="en-US" dirty="0"/>
              <a:t>but can still be useful: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numArrays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= 10; 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 = cell(numArrays,1);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for n = 1:numArrays 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	A{n} = magic(n); 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marL="0" indent="0"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A{5}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Vs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([‘A’, int2str(n), ‘ = magic(n)’]);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6559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2ADD1-673C-A413-B28B-9B02FA40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and cells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A5089-769E-543C-219C-16F2F0EE3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739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have already seen how text behaves poorly when using simple char variables: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char1 = [‘oranges’; ‘bananas’]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char2 = [‘apples’; ‘bananas’]</a:t>
            </a:r>
          </a:p>
          <a:p>
            <a:endParaRPr lang="en-US" dirty="0"/>
          </a:p>
          <a:p>
            <a:r>
              <a:rPr lang="en-US" dirty="0"/>
              <a:t>To avoid this problem, can use cells, which are created using curly brackets: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cell1 = {‘apples’; ‘oranges’}</a:t>
            </a:r>
          </a:p>
          <a:p>
            <a:pPr lvl="1">
              <a:buFont typeface="Lucida Grande"/>
              <a:buChar char="&gt;"/>
            </a:pPr>
            <a:r>
              <a:rPr lang="en-US" dirty="0">
                <a:latin typeface="Courier New"/>
                <a:cs typeface="Courier New"/>
              </a:rPr>
              <a:t>cell2 = {‘apples’, ‘oranges’}</a:t>
            </a:r>
          </a:p>
          <a:p>
            <a:endParaRPr lang="en-US" dirty="0"/>
          </a:p>
          <a:p>
            <a:r>
              <a:rPr lang="en-US" dirty="0"/>
              <a:t>Type ‘</a:t>
            </a:r>
            <a:r>
              <a:rPr lang="en-US" dirty="0" err="1">
                <a:latin typeface="Courier New"/>
                <a:cs typeface="Courier New"/>
              </a:rPr>
              <a:t>whos</a:t>
            </a:r>
            <a:r>
              <a:rPr lang="en-US" dirty="0"/>
              <a:t>’ and notice that cells behave similarly to matrices, but now the text is contained within a single dimension</a:t>
            </a:r>
          </a:p>
        </p:txBody>
      </p:sp>
    </p:spTree>
    <p:extLst>
      <p:ext uri="{BB962C8B-B14F-4D97-AF65-F5344CB8AC3E}">
        <p14:creationId xmlns:p14="http://schemas.microsoft.com/office/powerpoint/2010/main" val="15044476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great feature of cells is that they can contain different data types</a:t>
            </a:r>
          </a:p>
          <a:p>
            <a:endParaRPr lang="en-US" dirty="0"/>
          </a:p>
          <a:p>
            <a:r>
              <a:rPr lang="en-US" dirty="0"/>
              <a:t>#exercise</a:t>
            </a:r>
          </a:p>
          <a:p>
            <a:endParaRPr lang="en-US" dirty="0"/>
          </a:p>
          <a:p>
            <a:r>
              <a:rPr lang="en-US" dirty="0"/>
              <a:t>To access a particular cell, use the </a:t>
            </a:r>
            <a:r>
              <a:rPr lang="en-US" dirty="0" err="1"/>
              <a:t>var</a:t>
            </a:r>
            <a:r>
              <a:rPr lang="en-US" dirty="0"/>
              <a:t>{} format:</a:t>
            </a:r>
          </a:p>
          <a:p>
            <a:pPr lvl="1"/>
            <a:r>
              <a:rPr lang="en-US" dirty="0" err="1"/>
              <a:t>largeCell</a:t>
            </a:r>
            <a:r>
              <a:rPr lang="en-US" dirty="0"/>
              <a:t>{3}</a:t>
            </a:r>
          </a:p>
          <a:p>
            <a:pPr lvl="1"/>
            <a:endParaRPr lang="en-US" dirty="0"/>
          </a:p>
          <a:p>
            <a:r>
              <a:rPr lang="en-US" dirty="0"/>
              <a:t>Can also access elements of a cell by adding round brackets:</a:t>
            </a:r>
          </a:p>
          <a:p>
            <a:pPr lvl="1"/>
            <a:r>
              <a:rPr lang="en-US" dirty="0" err="1"/>
              <a:t>largeCell</a:t>
            </a:r>
            <a:r>
              <a:rPr lang="en-US" dirty="0"/>
              <a:t>{4} ([7 8])</a:t>
            </a:r>
          </a:p>
          <a:p>
            <a:endParaRPr lang="en-US" dirty="0"/>
          </a:p>
          <a:p>
            <a:r>
              <a:rPr lang="en-US" b="1" dirty="0"/>
              <a:t>Note</a:t>
            </a:r>
            <a:r>
              <a:rPr lang="en-US" dirty="0"/>
              <a:t>: can specify different cells on different lines when using a script/function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977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Cells can have m * n dimensions:</a:t>
            </a:r>
          </a:p>
          <a:p>
            <a:endParaRPr lang="en-US" dirty="0"/>
          </a:p>
          <a:p>
            <a:pPr lvl="1"/>
            <a:r>
              <a:rPr lang="en-US" dirty="0"/>
              <a:t>Take a look at ‘data1’ in the exercise 8.3: </a:t>
            </a:r>
          </a:p>
          <a:p>
            <a:endParaRPr lang="en-US" dirty="0"/>
          </a:p>
          <a:p>
            <a:r>
              <a:rPr lang="en-US" dirty="0"/>
              <a:t>Can access different dimensions in the same way you would a matrix, e.g., data1{1,2}</a:t>
            </a:r>
          </a:p>
          <a:p>
            <a:endParaRPr lang="en-US" dirty="0"/>
          </a:p>
          <a:p>
            <a:r>
              <a:rPr lang="en-US" dirty="0"/>
              <a:t>Note, you can also have arrays as a single dimension in a cell</a:t>
            </a:r>
          </a:p>
          <a:p>
            <a:pPr lvl="1"/>
            <a:r>
              <a:rPr lang="en-US" dirty="0"/>
              <a:t>Could use for an entire set of trials/data points/subjects etc.  </a:t>
            </a:r>
          </a:p>
          <a:p>
            <a:endParaRPr lang="en-US" dirty="0"/>
          </a:p>
          <a:p>
            <a:r>
              <a:rPr lang="en-US" dirty="0"/>
              <a:t>To access individual values you can use the cell2mat command</a:t>
            </a:r>
          </a:p>
          <a:p>
            <a:pPr lvl="1"/>
            <a:r>
              <a:rPr lang="en-US" dirty="0"/>
              <a:t>Takes a row, column input </a:t>
            </a:r>
          </a:p>
          <a:p>
            <a:pPr lvl="1"/>
            <a:r>
              <a:rPr lang="en-US" dirty="0"/>
              <a:t>#exercise</a:t>
            </a:r>
          </a:p>
          <a:p>
            <a:endParaRPr lang="en-US" dirty="0"/>
          </a:p>
          <a:p>
            <a:r>
              <a:rPr lang="en-US" dirty="0"/>
              <a:t>Can also use cells to create loops or switch lists</a:t>
            </a:r>
          </a:p>
          <a:p>
            <a:pPr lvl="1"/>
            <a:r>
              <a:rPr lang="en-US" dirty="0"/>
              <a:t>#exercise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61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Structures are like cells, but you can give names to different variables</a:t>
            </a:r>
          </a:p>
          <a:p>
            <a:endParaRPr lang="en-US" dirty="0"/>
          </a:p>
          <a:p>
            <a:pPr lvl="1"/>
            <a:r>
              <a:rPr lang="en-US" dirty="0"/>
              <a:t>data2.subject = ‘SME’;</a:t>
            </a:r>
          </a:p>
          <a:p>
            <a:pPr lvl="1"/>
            <a:r>
              <a:rPr lang="en-US" dirty="0"/>
              <a:t>data2.RTs = [.9 1.2];</a:t>
            </a:r>
          </a:p>
          <a:p>
            <a:endParaRPr lang="en-US" dirty="0"/>
          </a:p>
          <a:p>
            <a:r>
              <a:rPr lang="en-US" dirty="0"/>
              <a:t>Each element you add into the structure data2 will contain the variables:</a:t>
            </a:r>
          </a:p>
          <a:p>
            <a:pPr lvl="1"/>
            <a:r>
              <a:rPr lang="en-US" dirty="0"/>
              <a:t>data2(2).subject = ‘CM’;</a:t>
            </a:r>
          </a:p>
          <a:p>
            <a:pPr lvl="1"/>
            <a:endParaRPr lang="en-US" dirty="0"/>
          </a:p>
          <a:p>
            <a:r>
              <a:rPr lang="en-US" dirty="0"/>
              <a:t>Can access an entire part of the structure:</a:t>
            </a:r>
          </a:p>
          <a:p>
            <a:pPr lvl="1"/>
            <a:r>
              <a:rPr lang="en-US" dirty="0"/>
              <a:t>s1 = data2(1)</a:t>
            </a:r>
          </a:p>
          <a:p>
            <a:pPr lvl="1"/>
            <a:endParaRPr lang="en-US" dirty="0"/>
          </a:p>
          <a:p>
            <a:r>
              <a:rPr lang="en-US" dirty="0"/>
              <a:t>To access all the elements within a variable you have to </a:t>
            </a:r>
            <a:r>
              <a:rPr lang="en-US" dirty="0" err="1"/>
              <a:t>vectorize</a:t>
            </a:r>
            <a:r>
              <a:rPr lang="en-US" dirty="0"/>
              <a:t> the input</a:t>
            </a:r>
          </a:p>
          <a:p>
            <a:pPr lvl="1"/>
            <a:r>
              <a:rPr lang="en-US" dirty="0"/>
              <a:t>subjects = data2(</a:t>
            </a:r>
            <a:r>
              <a:rPr lang="en-US" dirty="0">
                <a:sym typeface="Wingdings"/>
              </a:rPr>
              <a:t>:).subject 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5936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and Deal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You can fill structures using the deal command</a:t>
            </a:r>
          </a:p>
          <a:p>
            <a:endParaRPr lang="en-US" dirty="0"/>
          </a:p>
          <a:p>
            <a:r>
              <a:rPr lang="en-US" dirty="0"/>
              <a:t>Note the syntax is a bit odd here. Left assignment must be contained within a bracket</a:t>
            </a:r>
          </a:p>
          <a:p>
            <a:endParaRPr lang="en-US" dirty="0"/>
          </a:p>
          <a:p>
            <a:r>
              <a:rPr lang="en-US" dirty="0"/>
              <a:t>Deal can also be used to read out structures</a:t>
            </a:r>
          </a:p>
          <a:p>
            <a:endParaRPr lang="en-US" dirty="0"/>
          </a:p>
          <a:p>
            <a:r>
              <a:rPr lang="en-US" dirty="0"/>
              <a:t>Also cannot fill the structure with a vector directly</a:t>
            </a:r>
          </a:p>
          <a:p>
            <a:endParaRPr lang="en-US" dirty="0"/>
          </a:p>
          <a:p>
            <a:r>
              <a:rPr lang="en-US" dirty="0"/>
              <a:t>Round about way to do so: </a:t>
            </a:r>
            <a:r>
              <a:rPr lang="en-US" b="1" dirty="0"/>
              <a:t>convert to a cell first, then deal</a:t>
            </a:r>
          </a:p>
          <a:p>
            <a:endParaRPr lang="en-US" dirty="0"/>
          </a:p>
          <a:p>
            <a:r>
              <a:rPr lang="en-US" dirty="0"/>
              <a:t>#exercise 8.6</a:t>
            </a:r>
          </a:p>
        </p:txBody>
      </p:sp>
    </p:spTree>
    <p:extLst>
      <p:ext uri="{BB962C8B-B14F-4D97-AF65-F5344CB8AC3E}">
        <p14:creationId xmlns:p14="http://schemas.microsoft.com/office/powerpoint/2010/main" val="4072328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things that can do to make structures useful is that you can have multiple levels of embedded values</a:t>
            </a:r>
          </a:p>
          <a:p>
            <a:endParaRPr lang="en-US" dirty="0"/>
          </a:p>
          <a:p>
            <a:r>
              <a:rPr lang="en-US" dirty="0"/>
              <a:t>E.g., </a:t>
            </a:r>
            <a:r>
              <a:rPr lang="en-US" dirty="0" err="1"/>
              <a:t>data.subject</a:t>
            </a:r>
            <a:r>
              <a:rPr lang="en-US" dirty="0"/>
              <a:t>(1).block(2).trial(50).RT</a:t>
            </a:r>
          </a:p>
          <a:p>
            <a:endParaRPr lang="en-US" dirty="0"/>
          </a:p>
          <a:p>
            <a:r>
              <a:rPr lang="en-US" dirty="0"/>
              <a:t>Requires some practice handling structures but easy to read and deal with down the road. </a:t>
            </a:r>
          </a:p>
        </p:txBody>
      </p:sp>
    </p:spTree>
    <p:extLst>
      <p:ext uri="{BB962C8B-B14F-4D97-AF65-F5344CB8AC3E}">
        <p14:creationId xmlns:p14="http://schemas.microsoft.com/office/powerpoint/2010/main" val="18567859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final type of data that you may find useful is the dataset type</a:t>
            </a:r>
          </a:p>
          <a:p>
            <a:endParaRPr lang="en-US" dirty="0"/>
          </a:p>
          <a:p>
            <a:r>
              <a:rPr lang="en-US" dirty="0"/>
              <a:t>Dataset arrays are probably most similar to how you think about data in Excel or SPSS</a:t>
            </a:r>
          </a:p>
          <a:p>
            <a:endParaRPr lang="en-US" dirty="0"/>
          </a:p>
          <a:p>
            <a:r>
              <a:rPr lang="en-US" dirty="0"/>
              <a:t>Can easily create from any kind of value:</a:t>
            </a:r>
          </a:p>
          <a:p>
            <a:pPr lvl="1"/>
            <a:r>
              <a:rPr lang="en-US" dirty="0"/>
              <a:t>mat2dataset, cell2dataset, struct2dataset</a:t>
            </a:r>
          </a:p>
          <a:p>
            <a:endParaRPr lang="en-US" dirty="0"/>
          </a:p>
          <a:p>
            <a:r>
              <a:rPr lang="en-US" dirty="0"/>
              <a:t>Can also easily read in from Excel or delimited files</a:t>
            </a:r>
          </a:p>
          <a:p>
            <a:endParaRPr lang="en-US" dirty="0"/>
          </a:p>
          <a:p>
            <a:r>
              <a:rPr lang="en-US" dirty="0"/>
              <a:t>#exercise</a:t>
            </a:r>
          </a:p>
        </p:txBody>
      </p:sp>
    </p:spTree>
    <p:extLst>
      <p:ext uri="{BB962C8B-B14F-4D97-AF65-F5344CB8AC3E}">
        <p14:creationId xmlns:p14="http://schemas.microsoft.com/office/powerpoint/2010/main" val="23752090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B6CE-9EC9-24C5-5715-56D77CD1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1E1D1-EF52-78DF-D596-DD2F0AD8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97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2367</TotalTime>
  <Words>3726</Words>
  <Application>Microsoft Macintosh PowerPoint</Application>
  <PresentationFormat>Widescreen</PresentationFormat>
  <Paragraphs>549</Paragraphs>
  <Slides>61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Aptos</vt:lpstr>
      <vt:lpstr>Aptos Display</vt:lpstr>
      <vt:lpstr>Arial</vt:lpstr>
      <vt:lpstr>Courier</vt:lpstr>
      <vt:lpstr>Courier New</vt:lpstr>
      <vt:lpstr>Lucida Grande</vt:lpstr>
      <vt:lpstr>Wingdings</vt:lpstr>
      <vt:lpstr>Office Theme</vt:lpstr>
      <vt:lpstr>9. Advanced MATLAB</vt:lpstr>
      <vt:lpstr>Logicals and Ifs</vt:lpstr>
      <vt:lpstr>Logical operations</vt:lpstr>
      <vt:lpstr>Logical operations</vt:lpstr>
      <vt:lpstr>If statements (conditionals)</vt:lpstr>
      <vt:lpstr>If Statements</vt:lpstr>
      <vt:lpstr>Conditionals </vt:lpstr>
      <vt:lpstr>Loops</vt:lpstr>
      <vt:lpstr>Loops</vt:lpstr>
      <vt:lpstr>For loop</vt:lpstr>
      <vt:lpstr>Loops</vt:lpstr>
      <vt:lpstr>While Loop</vt:lpstr>
      <vt:lpstr>Loops</vt:lpstr>
      <vt:lpstr>Loops</vt:lpstr>
      <vt:lpstr>Parfor</vt:lpstr>
      <vt:lpstr>Indexing</vt:lpstr>
      <vt:lpstr>Indexing</vt:lpstr>
      <vt:lpstr>Indexing </vt:lpstr>
      <vt:lpstr>Indexing</vt:lpstr>
      <vt:lpstr>Indexing</vt:lpstr>
      <vt:lpstr>Functions </vt:lpstr>
      <vt:lpstr>Functions</vt:lpstr>
      <vt:lpstr>Example function</vt:lpstr>
      <vt:lpstr>Function</vt:lpstr>
      <vt:lpstr>Functions</vt:lpstr>
      <vt:lpstr>Functions</vt:lpstr>
      <vt:lpstr>Functions</vt:lpstr>
      <vt:lpstr>Recursive Functions</vt:lpstr>
      <vt:lpstr>Optional Arguments</vt:lpstr>
      <vt:lpstr>Help Files</vt:lpstr>
      <vt:lpstr>Help Files</vt:lpstr>
      <vt:lpstr>Interacting with Functions and Programs</vt:lpstr>
      <vt:lpstr>Idiot-Proof Your Inputs!</vt:lpstr>
      <vt:lpstr>Try – Catch </vt:lpstr>
      <vt:lpstr>Some other things you can do with input</vt:lpstr>
      <vt:lpstr>Text</vt:lpstr>
      <vt:lpstr>Dealing with text</vt:lpstr>
      <vt:lpstr>Comparing and Modifying Text</vt:lpstr>
      <vt:lpstr>Concatenating Text</vt:lpstr>
      <vt:lpstr>Formatting Text</vt:lpstr>
      <vt:lpstr>Formatting Text</vt:lpstr>
      <vt:lpstr>Formatting Text</vt:lpstr>
      <vt:lpstr>Formatting text</vt:lpstr>
      <vt:lpstr>fprintf</vt:lpstr>
      <vt:lpstr>fprintf examples:</vt:lpstr>
      <vt:lpstr>fprintf</vt:lpstr>
      <vt:lpstr>Writing to Files</vt:lpstr>
      <vt:lpstr>Writing to file</vt:lpstr>
      <vt:lpstr>dlmwrite</vt:lpstr>
      <vt:lpstr>Reading data </vt:lpstr>
      <vt:lpstr>Reading Files</vt:lpstr>
      <vt:lpstr>Eval</vt:lpstr>
      <vt:lpstr>Structures and cells</vt:lpstr>
      <vt:lpstr>Cells</vt:lpstr>
      <vt:lpstr>Cells</vt:lpstr>
      <vt:lpstr>Cells</vt:lpstr>
      <vt:lpstr>Structures</vt:lpstr>
      <vt:lpstr>Structures and Deal</vt:lpstr>
      <vt:lpstr>Structures</vt:lpstr>
      <vt:lpstr>Datasets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Emrich</dc:creator>
  <cp:lastModifiedBy>Stephen Emrich</cp:lastModifiedBy>
  <cp:revision>1</cp:revision>
  <dcterms:created xsi:type="dcterms:W3CDTF">2025-11-18T21:16:56Z</dcterms:created>
  <dcterms:modified xsi:type="dcterms:W3CDTF">2025-11-27T17:48:21Z</dcterms:modified>
</cp:coreProperties>
</file>